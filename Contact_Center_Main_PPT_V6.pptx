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66" r:id="rId3"/>
    <p:sldId id="291" r:id="rId4"/>
    <p:sldId id="306" r:id="rId5"/>
    <p:sldId id="307" r:id="rId6"/>
    <p:sldId id="258" r:id="rId7"/>
    <p:sldId id="286" r:id="rId8"/>
    <p:sldId id="293" r:id="rId9"/>
    <p:sldId id="292" r:id="rId10"/>
    <p:sldId id="294" r:id="rId11"/>
    <p:sldId id="297" r:id="rId12"/>
    <p:sldId id="298" r:id="rId13"/>
    <p:sldId id="296" r:id="rId14"/>
    <p:sldId id="274" r:id="rId15"/>
    <p:sldId id="269" r:id="rId16"/>
    <p:sldId id="300" r:id="rId17"/>
    <p:sldId id="301" r:id="rId18"/>
    <p:sldId id="303" r:id="rId19"/>
    <p:sldId id="304" r:id="rId20"/>
    <p:sldId id="262" r:id="rId21"/>
    <p:sldId id="308" r:id="rId2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4"/>
    </p:embeddedFont>
    <p:embeddedFont>
      <p:font typeface="Maven Pro" panose="020B0604020202020204" charset="0"/>
      <p:regular r:id="rId25"/>
      <p:bold r:id="rId26"/>
    </p:embeddedFont>
    <p:embeddedFont>
      <p:font typeface="Nunito Light" pitchFamily="2" charset="-52"/>
      <p:regular r:id="rId27"/>
      <p:italic r:id="rId28"/>
    </p:embeddedFont>
    <p:embeddedFont>
      <p:font typeface="Share Tech" panose="020B0604020202020204" charset="0"/>
      <p:regular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D8BD86"/>
    <a:srgbClr val="E4D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AA7EAD-770A-4BA6-A570-980CF8E8E115}">
  <a:tblStyle styleId="{6CAA7EAD-770A-4BA6-A570-980CF8E8E1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0" autoAdjust="0"/>
    <p:restoredTop sz="90268" autoAdjust="0"/>
  </p:normalViewPr>
  <p:slideViewPr>
    <p:cSldViewPr snapToGrid="0">
      <p:cViewPr varScale="1">
        <p:scale>
          <a:sx n="143" d="100"/>
          <a:sy n="143" d="100"/>
        </p:scale>
        <p:origin x="64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b16c18d1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b16c18d1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b16c18d105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1b16c18d105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b16c18d105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b16c18d105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1b16c18d105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1b16c18d105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649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1b16c18d105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1b16c18d105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967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1b16c18d105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b16c18d105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08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41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0844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022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5731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496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b16c18d105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b16c18d105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b16c18d10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b16c18d10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285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b16c18d10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b16c18d10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1853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b16c18d10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b16c18d10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763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b16c18d105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b16c18d105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5100"/>
            <a:ext cx="4242900" cy="237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2600"/>
            <a:ext cx="4242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781344" y="24003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756292" y="1085276"/>
            <a:ext cx="188650" cy="2468354"/>
            <a:chOff x="250617" y="2402301"/>
            <a:chExt cx="188650" cy="2468354"/>
          </a:xfrm>
        </p:grpSpPr>
        <p:sp>
          <p:nvSpPr>
            <p:cNvPr id="13" name="Google Shape;13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139298" y="21446"/>
            <a:ext cx="98059" cy="1906193"/>
            <a:chOff x="139298" y="21446"/>
            <a:chExt cx="98059" cy="1906193"/>
          </a:xfrm>
        </p:grpSpPr>
        <p:sp>
          <p:nvSpPr>
            <p:cNvPr id="18" name="Google Shape;18;p2"/>
            <p:cNvSpPr/>
            <p:nvPr/>
          </p:nvSpPr>
          <p:spPr>
            <a:xfrm>
              <a:off x="139298" y="1829345"/>
              <a:ext cx="98059" cy="98295"/>
            </a:xfrm>
            <a:custGeom>
              <a:avLst/>
              <a:gdLst/>
              <a:ahLst/>
              <a:cxnLst/>
              <a:rect l="l" t="t" r="r" b="b"/>
              <a:pathLst>
                <a:path w="3742" h="3751" fill="none" extrusionOk="0">
                  <a:moveTo>
                    <a:pt x="1" y="0"/>
                  </a:moveTo>
                  <a:lnTo>
                    <a:pt x="3742" y="0"/>
                  </a:lnTo>
                  <a:lnTo>
                    <a:pt x="3742" y="3750"/>
                  </a:lnTo>
                  <a:lnTo>
                    <a:pt x="1" y="3750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4088" y="21446"/>
              <a:ext cx="8464" cy="1689069"/>
            </a:xfrm>
            <a:custGeom>
              <a:avLst/>
              <a:gdLst/>
              <a:ahLst/>
              <a:cxnLst/>
              <a:rect l="l" t="t" r="r" b="b"/>
              <a:pathLst>
                <a:path w="323" h="64456" extrusionOk="0">
                  <a:moveTo>
                    <a:pt x="166" y="0"/>
                  </a:moveTo>
                  <a:lnTo>
                    <a:pt x="1" y="64456"/>
                  </a:lnTo>
                  <a:lnTo>
                    <a:pt x="322" y="6445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414454" y="1881556"/>
            <a:ext cx="121434" cy="2043400"/>
            <a:chOff x="414454" y="1881556"/>
            <a:chExt cx="121434" cy="2043400"/>
          </a:xfrm>
        </p:grpSpPr>
        <p:sp>
          <p:nvSpPr>
            <p:cNvPr id="21" name="Google Shape;21;p2"/>
            <p:cNvSpPr/>
            <p:nvPr/>
          </p:nvSpPr>
          <p:spPr>
            <a:xfrm>
              <a:off x="470939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14454" y="3618720"/>
              <a:ext cx="121434" cy="121434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34936" y="3844499"/>
              <a:ext cx="80469" cy="80458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>
            <a:off x="6004644" y="4796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4767909" y="144286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1373850" y="1992131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>
            <a:off x="6441451" y="1992131"/>
            <a:ext cx="1328700" cy="841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1373850" y="2760613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>
            <a:off x="8566507" y="188009"/>
            <a:ext cx="188886" cy="1181531"/>
            <a:chOff x="2877432" y="975334"/>
            <a:chExt cx="188886" cy="1181531"/>
          </a:xfrm>
        </p:grpSpPr>
        <p:sp>
          <p:nvSpPr>
            <p:cNvPr id="31" name="Google Shape;31;p3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3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3"/>
          <p:cNvGrpSpPr/>
          <p:nvPr/>
        </p:nvGrpSpPr>
        <p:grpSpPr>
          <a:xfrm>
            <a:off x="329496" y="1091548"/>
            <a:ext cx="199001" cy="2139769"/>
            <a:chOff x="8008096" y="2108910"/>
            <a:chExt cx="199001" cy="2139769"/>
          </a:xfrm>
        </p:grpSpPr>
        <p:sp>
          <p:nvSpPr>
            <p:cNvPr id="36" name="Google Shape;36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5055284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1583300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5055275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1583300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71" name="Google Shape;71;p5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8612763" y="86777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642025" y="4851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854450" y="195025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152210" y="4753911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891288" y="716085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202425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62900" y="47539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" name="Google Shape;89;p7"/>
          <p:cNvGrpSpPr/>
          <p:nvPr/>
        </p:nvGrpSpPr>
        <p:grpSpPr>
          <a:xfrm>
            <a:off x="8812359" y="617388"/>
            <a:ext cx="121172" cy="760495"/>
            <a:chOff x="5245196" y="3136513"/>
            <a:chExt cx="121172" cy="760495"/>
          </a:xfrm>
        </p:grpSpPr>
        <p:sp>
          <p:nvSpPr>
            <p:cNvPr id="90" name="Google Shape;90;p7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7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97;p8"/>
          <p:cNvGrpSpPr/>
          <p:nvPr/>
        </p:nvGrpSpPr>
        <p:grpSpPr>
          <a:xfrm>
            <a:off x="8702532" y="-474266"/>
            <a:ext cx="188886" cy="1181531"/>
            <a:chOff x="2877432" y="975334"/>
            <a:chExt cx="188886" cy="1181531"/>
          </a:xfrm>
        </p:grpSpPr>
        <p:sp>
          <p:nvSpPr>
            <p:cNvPr id="98" name="Google Shape;98;p8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8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" name="Google Shape;102;p8"/>
          <p:cNvGrpSpPr/>
          <p:nvPr/>
        </p:nvGrpSpPr>
        <p:grpSpPr>
          <a:xfrm>
            <a:off x="3090746" y="-661332"/>
            <a:ext cx="98059" cy="1147596"/>
            <a:chOff x="3347921" y="16006"/>
            <a:chExt cx="98059" cy="1147596"/>
          </a:xfrm>
        </p:grpSpPr>
        <p:sp>
          <p:nvSpPr>
            <p:cNvPr id="103" name="Google Shape;103;p8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8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06" name="Google Shape;106;p8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" name="Google Shape;108;p8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09" name="Google Shape;109;p8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8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8026047" y="145861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7698906" y="31180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7090153" y="1163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996506" y="22403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1347572" y="289486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6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1786653" y="1454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" name="Google Shape;123;p9"/>
          <p:cNvGrpSpPr/>
          <p:nvPr/>
        </p:nvGrpSpPr>
        <p:grpSpPr>
          <a:xfrm>
            <a:off x="8566507" y="188009"/>
            <a:ext cx="188886" cy="1181531"/>
            <a:chOff x="2877432" y="975334"/>
            <a:chExt cx="188886" cy="1181531"/>
          </a:xfrm>
        </p:grpSpPr>
        <p:sp>
          <p:nvSpPr>
            <p:cNvPr id="124" name="Google Shape;124;p9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9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9"/>
          <p:cNvGrpSpPr/>
          <p:nvPr/>
        </p:nvGrpSpPr>
        <p:grpSpPr>
          <a:xfrm>
            <a:off x="278798" y="1881556"/>
            <a:ext cx="191952" cy="1929123"/>
            <a:chOff x="278798" y="1881556"/>
            <a:chExt cx="191952" cy="1929123"/>
          </a:xfrm>
        </p:grpSpPr>
        <p:sp>
          <p:nvSpPr>
            <p:cNvPr id="129" name="Google Shape;129;p9"/>
            <p:cNvSpPr/>
            <p:nvPr/>
          </p:nvSpPr>
          <p:spPr>
            <a:xfrm>
              <a:off x="370541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278798" y="3618728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250"/>
            <a:ext cx="6576000" cy="19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5" name="Google Shape;135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6" name="Google Shape;136;p11"/>
          <p:cNvGrpSpPr/>
          <p:nvPr/>
        </p:nvGrpSpPr>
        <p:grpSpPr>
          <a:xfrm>
            <a:off x="278798" y="1881556"/>
            <a:ext cx="191952" cy="1929123"/>
            <a:chOff x="278798" y="1881556"/>
            <a:chExt cx="191952" cy="1929123"/>
          </a:xfrm>
        </p:grpSpPr>
        <p:sp>
          <p:nvSpPr>
            <p:cNvPr id="137" name="Google Shape;137;p11"/>
            <p:cNvSpPr/>
            <p:nvPr/>
          </p:nvSpPr>
          <p:spPr>
            <a:xfrm>
              <a:off x="370541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278798" y="3618728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" name="Google Shape;139;p11"/>
          <p:cNvGrpSpPr/>
          <p:nvPr/>
        </p:nvGrpSpPr>
        <p:grpSpPr>
          <a:xfrm>
            <a:off x="8518310" y="1117301"/>
            <a:ext cx="191952" cy="1289053"/>
            <a:chOff x="8518310" y="1117301"/>
            <a:chExt cx="191952" cy="1289053"/>
          </a:xfrm>
        </p:grpSpPr>
        <p:sp>
          <p:nvSpPr>
            <p:cNvPr id="140" name="Google Shape;140;p11"/>
            <p:cNvSpPr/>
            <p:nvPr/>
          </p:nvSpPr>
          <p:spPr>
            <a:xfrm>
              <a:off x="8610060" y="1117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8518310" y="2214403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11"/>
          <p:cNvGrpSpPr/>
          <p:nvPr/>
        </p:nvGrpSpPr>
        <p:grpSpPr>
          <a:xfrm>
            <a:off x="8786190" y="2702371"/>
            <a:ext cx="121446" cy="1966926"/>
            <a:chOff x="8786190" y="2702371"/>
            <a:chExt cx="121446" cy="1966926"/>
          </a:xfrm>
        </p:grpSpPr>
        <p:sp>
          <p:nvSpPr>
            <p:cNvPr id="143" name="Google Shape;143;p11"/>
            <p:cNvSpPr/>
            <p:nvPr/>
          </p:nvSpPr>
          <p:spPr>
            <a:xfrm>
              <a:off x="8842675" y="2702371"/>
              <a:ext cx="8464" cy="1689069"/>
            </a:xfrm>
            <a:custGeom>
              <a:avLst/>
              <a:gdLst/>
              <a:ahLst/>
              <a:cxnLst/>
              <a:rect l="l" t="t" r="r" b="b"/>
              <a:pathLst>
                <a:path w="323" h="64456" extrusionOk="0">
                  <a:moveTo>
                    <a:pt x="166" y="0"/>
                  </a:moveTo>
                  <a:lnTo>
                    <a:pt x="1" y="64456"/>
                  </a:lnTo>
                  <a:lnTo>
                    <a:pt x="322" y="6445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8786190" y="4547851"/>
              <a:ext cx="121446" cy="121446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/>
          <p:nvPr/>
        </p:nvSpPr>
        <p:spPr>
          <a:xfrm>
            <a:off x="4949065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6784265" y="48240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7933240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1297019" y="478008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3.png"/><Relationship Id="rId7" Type="http://schemas.openxmlformats.org/officeDocument/2006/relationships/image" Target="../media/image3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41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11" Type="http://schemas.openxmlformats.org/officeDocument/2006/relationships/image" Target="../media/image26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19.png"/><Relationship Id="rId9" Type="http://schemas.openxmlformats.org/officeDocument/2006/relationships/image" Target="../media/image51.png"/><Relationship Id="rId1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3688231" y="67654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6829234" y="3495813"/>
            <a:ext cx="133275" cy="133275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8055557" y="134431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5969504" y="3118803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4229517" y="4248683"/>
            <a:ext cx="119993" cy="119993"/>
          </a:xfrm>
          <a:custGeom>
            <a:avLst/>
            <a:gdLst/>
            <a:ahLst/>
            <a:cxnLst/>
            <a:rect l="l" t="t" r="r" b="b"/>
            <a:pathLst>
              <a:path w="4579" h="4579" extrusionOk="0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4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165" name="Google Shape;165;p14"/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14"/>
          <p:cNvGrpSpPr/>
          <p:nvPr/>
        </p:nvGrpSpPr>
        <p:grpSpPr>
          <a:xfrm>
            <a:off x="6608011" y="1054827"/>
            <a:ext cx="133252" cy="1952377"/>
            <a:chOff x="6780548" y="337714"/>
            <a:chExt cx="133252" cy="1952377"/>
          </a:xfrm>
        </p:grpSpPr>
        <p:sp>
          <p:nvSpPr>
            <p:cNvPr id="168" name="Google Shape;168;p14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" name="Google Shape;170;p14"/>
          <p:cNvGrpSpPr/>
          <p:nvPr/>
        </p:nvGrpSpPr>
        <p:grpSpPr>
          <a:xfrm>
            <a:off x="7142605" y="260834"/>
            <a:ext cx="199237" cy="2828935"/>
            <a:chOff x="1608717" y="1280046"/>
            <a:chExt cx="199237" cy="2828935"/>
          </a:xfrm>
        </p:grpSpPr>
        <p:sp>
          <p:nvSpPr>
            <p:cNvPr id="171" name="Google Shape;171;p14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14"/>
          <p:cNvGrpSpPr/>
          <p:nvPr/>
        </p:nvGrpSpPr>
        <p:grpSpPr>
          <a:xfrm>
            <a:off x="5260692" y="676553"/>
            <a:ext cx="80476" cy="2708957"/>
            <a:chOff x="5260692" y="676553"/>
            <a:chExt cx="80476" cy="2708957"/>
          </a:xfrm>
        </p:grpSpPr>
        <p:sp>
          <p:nvSpPr>
            <p:cNvPr id="175" name="Google Shape;175;p14"/>
            <p:cNvSpPr/>
            <p:nvPr/>
          </p:nvSpPr>
          <p:spPr>
            <a:xfrm>
              <a:off x="5260692" y="3305034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extrusionOk="0">
                  <a:moveTo>
                    <a:pt x="1" y="1"/>
                  </a:moveTo>
                  <a:lnTo>
                    <a:pt x="1" y="3071"/>
                  </a:lnTo>
                  <a:lnTo>
                    <a:pt x="3071" y="3071"/>
                  </a:lnTo>
                  <a:lnTo>
                    <a:pt x="30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5296692" y="676553"/>
              <a:ext cx="8464" cy="2519663"/>
            </a:xfrm>
            <a:custGeom>
              <a:avLst/>
              <a:gdLst/>
              <a:ahLst/>
              <a:cxnLst/>
              <a:rect l="l" t="t" r="r" b="b"/>
              <a:pathLst>
                <a:path w="323" h="96152" extrusionOk="0">
                  <a:moveTo>
                    <a:pt x="166" y="1"/>
                  </a:moveTo>
                  <a:lnTo>
                    <a:pt x="1" y="96151"/>
                  </a:lnTo>
                  <a:lnTo>
                    <a:pt x="322" y="96151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4"/>
          <p:cNvSpPr/>
          <p:nvPr/>
        </p:nvSpPr>
        <p:spPr>
          <a:xfrm>
            <a:off x="7670738" y="2784681"/>
            <a:ext cx="8464" cy="1689096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14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79" name="Google Shape;179;p14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5930000" y="1241705"/>
            <a:ext cx="199001" cy="867198"/>
            <a:chOff x="4475150" y="4052605"/>
            <a:chExt cx="199001" cy="867198"/>
          </a:xfrm>
        </p:grpSpPr>
        <p:sp>
          <p:nvSpPr>
            <p:cNvPr id="182" name="Google Shape;182;p14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" name="Google Shape;185;p14"/>
          <p:cNvSpPr/>
          <p:nvPr/>
        </p:nvSpPr>
        <p:spPr>
          <a:xfrm>
            <a:off x="5545159" y="4115388"/>
            <a:ext cx="133275" cy="133275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4"/>
          <p:cNvSpPr txBox="1">
            <a:spLocks noGrp="1"/>
          </p:cNvSpPr>
          <p:nvPr>
            <p:ph type="ctrTitle"/>
          </p:nvPr>
        </p:nvSpPr>
        <p:spPr>
          <a:xfrm>
            <a:off x="401138" y="8429"/>
            <a:ext cx="5074762" cy="3129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DATA </a:t>
            </a:r>
            <a:r>
              <a:rPr lang="en" sz="4000" dirty="0">
                <a:solidFill>
                  <a:schemeClr val="accent2"/>
                </a:solidFill>
              </a:rPr>
              <a:t>SCIENCE POWERED </a:t>
            </a:r>
            <a:r>
              <a:rPr lang="en" sz="4000" dirty="0">
                <a:solidFill>
                  <a:schemeClr val="tx1"/>
                </a:solidFill>
              </a:rPr>
              <a:t>CONTACT CENTER</a:t>
            </a:r>
            <a:r>
              <a:rPr lang="en" sz="4000" dirty="0">
                <a:solidFill>
                  <a:schemeClr val="accent2"/>
                </a:solidFill>
              </a:rPr>
              <a:t>:</a:t>
            </a:r>
            <a:br>
              <a:rPr lang="en" sz="4000" dirty="0">
                <a:solidFill>
                  <a:schemeClr val="accent2"/>
                </a:solidFill>
              </a:rPr>
            </a:br>
            <a:r>
              <a:rPr lang="en" sz="3500" dirty="0">
                <a:solidFill>
                  <a:schemeClr val="accent2"/>
                </a:solidFill>
              </a:rPr>
              <a:t>Insight for Decision Making</a:t>
            </a:r>
            <a:endParaRPr sz="3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4"/>
          <p:cNvSpPr txBox="1">
            <a:spLocks noGrp="1"/>
          </p:cNvSpPr>
          <p:nvPr>
            <p:ph type="title"/>
          </p:nvPr>
        </p:nvSpPr>
        <p:spPr>
          <a:xfrm>
            <a:off x="788277" y="32890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spc="50" dirty="0">
                <a:solidFill>
                  <a:schemeClr val="tx1"/>
                </a:solidFill>
                <a:latin typeface="Trebuchet MS" panose="020B0603020202020204" pitchFamily="34" charset="0"/>
              </a:rPr>
              <a:t>C</a:t>
            </a:r>
            <a:r>
              <a:rPr lang="en-US" b="1" spc="40" dirty="0">
                <a:solidFill>
                  <a:schemeClr val="tx1"/>
                </a:solidFill>
                <a:latin typeface="Trebuchet MS" panose="020B0603020202020204" pitchFamily="34" charset="0"/>
              </a:rPr>
              <a:t>ustomer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experience</a:t>
            </a:r>
            <a:r>
              <a:rPr lang="en-US" sz="2800" b="1" spc="-120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spc="80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is</a:t>
            </a:r>
            <a:r>
              <a:rPr lang="en-US" sz="2800" b="1" spc="-85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critical</a:t>
            </a:r>
            <a:r>
              <a:rPr lang="en-US" sz="2800" b="1" spc="-110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spc="85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b="1" spc="-95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spc="125" dirty="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growth</a:t>
            </a:r>
            <a:endParaRPr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517" name="Google Shape;517;p24" descr="Timeline background shape"/>
          <p:cNvSpPr/>
          <p:nvPr/>
        </p:nvSpPr>
        <p:spPr>
          <a:xfrm flipH="1">
            <a:off x="3048710" y="1177861"/>
            <a:ext cx="4443600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4" descr="Timeline background shape"/>
          <p:cNvSpPr/>
          <p:nvPr/>
        </p:nvSpPr>
        <p:spPr>
          <a:xfrm flipH="1">
            <a:off x="3034620" y="2109703"/>
            <a:ext cx="4443600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4" descr="Timeline background shape"/>
          <p:cNvSpPr/>
          <p:nvPr/>
        </p:nvSpPr>
        <p:spPr>
          <a:xfrm flipH="1">
            <a:off x="3048710" y="3033797"/>
            <a:ext cx="4443600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0" name="Google Shape;520;p24"/>
          <p:cNvGrpSpPr/>
          <p:nvPr/>
        </p:nvGrpSpPr>
        <p:grpSpPr>
          <a:xfrm>
            <a:off x="3340020" y="3080447"/>
            <a:ext cx="4138200" cy="484500"/>
            <a:chOff x="2649263" y="3948755"/>
            <a:chExt cx="4138200" cy="484500"/>
          </a:xfrm>
        </p:grpSpPr>
        <p:sp>
          <p:nvSpPr>
            <p:cNvPr id="521" name="Google Shape;521;p24"/>
            <p:cNvSpPr txBox="1"/>
            <p:nvPr/>
          </p:nvSpPr>
          <p:spPr>
            <a:xfrm>
              <a:off x="2649263" y="3948755"/>
              <a:ext cx="763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52%</a:t>
              </a:r>
              <a:endParaRPr sz="2400" dirty="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23" name="Google Shape;523;p24"/>
            <p:cNvSpPr txBox="1"/>
            <p:nvPr/>
          </p:nvSpPr>
          <p:spPr>
            <a:xfrm>
              <a:off x="3576576" y="3948755"/>
              <a:ext cx="3210887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Share the story about</a:t>
              </a: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bad experience</a:t>
              </a:r>
            </a:p>
          </p:txBody>
        </p:sp>
      </p:grpSp>
      <p:grpSp>
        <p:nvGrpSpPr>
          <p:cNvPr id="524" name="Google Shape;524;p24"/>
          <p:cNvGrpSpPr/>
          <p:nvPr/>
        </p:nvGrpSpPr>
        <p:grpSpPr>
          <a:xfrm>
            <a:off x="3332974" y="2156353"/>
            <a:ext cx="4138200" cy="484500"/>
            <a:chOff x="3457358" y="2836364"/>
            <a:chExt cx="4138200" cy="484500"/>
          </a:xfrm>
        </p:grpSpPr>
        <p:sp>
          <p:nvSpPr>
            <p:cNvPr id="525" name="Google Shape;525;p24"/>
            <p:cNvSpPr txBox="1"/>
            <p:nvPr/>
          </p:nvSpPr>
          <p:spPr>
            <a:xfrm>
              <a:off x="3457358" y="2836364"/>
              <a:ext cx="763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32%</a:t>
              </a:r>
              <a:endParaRPr sz="2400" dirty="0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27" name="Google Shape;527;p24"/>
            <p:cNvSpPr txBox="1"/>
            <p:nvPr/>
          </p:nvSpPr>
          <p:spPr>
            <a:xfrm>
              <a:off x="4372384" y="2836364"/>
              <a:ext cx="3223174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Churn</a:t>
              </a:r>
              <a:r>
                <a:rPr lang="en-US" spc="-40" dirty="0">
                  <a:solidFill>
                    <a:schemeClr val="tx1"/>
                  </a:solidFill>
                  <a:latin typeface="Trebuchet MS"/>
                  <a:cs typeface="Trebuchet MS"/>
                </a:rPr>
                <a:t> </a:t>
              </a:r>
              <a:r>
                <a:rPr lang="en-US" spc="-10" dirty="0">
                  <a:solidFill>
                    <a:schemeClr val="tx1"/>
                  </a:solidFill>
                  <a:latin typeface="Trebuchet MS"/>
                  <a:cs typeface="Trebuchet MS"/>
                </a:rPr>
                <a:t>after</a:t>
              </a:r>
              <a:r>
                <a:rPr lang="en-US" spc="-45" dirty="0">
                  <a:solidFill>
                    <a:schemeClr val="tx1"/>
                  </a:solidFill>
                  <a:latin typeface="Trebuchet MS"/>
                  <a:cs typeface="Trebuchet MS"/>
                </a:rPr>
                <a:t> </a:t>
              </a:r>
              <a:r>
                <a:rPr lang="en-US" spc="-25" dirty="0">
                  <a:solidFill>
                    <a:schemeClr val="tx1"/>
                  </a:solidFill>
                  <a:latin typeface="Trebuchet MS"/>
                  <a:cs typeface="Trebuchet MS"/>
                </a:rPr>
                <a:t>one  </a:t>
              </a: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bad</a:t>
              </a:r>
              <a:r>
                <a:rPr lang="en-US" spc="40" dirty="0">
                  <a:solidFill>
                    <a:schemeClr val="tx1"/>
                  </a:solidFill>
                  <a:latin typeface="Trebuchet MS"/>
                  <a:cs typeface="Trebuchet MS"/>
                </a:rPr>
                <a:t> </a:t>
              </a:r>
              <a:r>
                <a:rPr lang="en-US" spc="-10" dirty="0">
                  <a:solidFill>
                    <a:schemeClr val="tx1"/>
                  </a:solidFill>
                  <a:latin typeface="Trebuchet MS"/>
                  <a:cs typeface="Trebuchet MS"/>
                </a:rPr>
                <a:t>experience</a:t>
              </a:r>
              <a:endParaRPr lang="en-US" dirty="0">
                <a:solidFill>
                  <a:schemeClr val="tx1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528" name="Google Shape;528;p24"/>
          <p:cNvGrpSpPr/>
          <p:nvPr/>
        </p:nvGrpSpPr>
        <p:grpSpPr>
          <a:xfrm>
            <a:off x="3354108" y="1224511"/>
            <a:ext cx="4138200" cy="484500"/>
            <a:chOff x="4286783" y="1724011"/>
            <a:chExt cx="4138200" cy="484500"/>
          </a:xfrm>
        </p:grpSpPr>
        <p:sp>
          <p:nvSpPr>
            <p:cNvPr id="529" name="Google Shape;529;p24"/>
            <p:cNvSpPr txBox="1"/>
            <p:nvPr/>
          </p:nvSpPr>
          <p:spPr>
            <a:xfrm>
              <a:off x="4286783" y="1724011"/>
              <a:ext cx="763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2"/>
                  </a:solidFill>
                  <a:latin typeface="Share Tech"/>
                  <a:ea typeface="Share Tech"/>
                  <a:cs typeface="Share Tech"/>
                  <a:sym typeface="Share Tech"/>
                </a:rPr>
                <a:t>80%</a:t>
              </a:r>
              <a:endParaRPr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31" name="Google Shape;531;p24"/>
            <p:cNvSpPr txBox="1"/>
            <p:nvPr/>
          </p:nvSpPr>
          <p:spPr>
            <a:xfrm>
              <a:off x="5168962" y="1724011"/>
              <a:ext cx="3256021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CX company provides is as Important as Product or Service</a:t>
              </a:r>
            </a:p>
          </p:txBody>
        </p:sp>
      </p:grpSp>
      <p:cxnSp>
        <p:nvCxnSpPr>
          <p:cNvPr id="532" name="Google Shape;532;p24"/>
          <p:cNvCxnSpPr/>
          <p:nvPr/>
        </p:nvCxnSpPr>
        <p:spPr>
          <a:xfrm>
            <a:off x="4117900" y="1181011"/>
            <a:ext cx="0" cy="5715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24"/>
          <p:cNvCxnSpPr/>
          <p:nvPr/>
        </p:nvCxnSpPr>
        <p:spPr>
          <a:xfrm>
            <a:off x="4094227" y="2109703"/>
            <a:ext cx="0" cy="577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24"/>
          <p:cNvCxnSpPr/>
          <p:nvPr/>
        </p:nvCxnSpPr>
        <p:spPr>
          <a:xfrm>
            <a:off x="4098733" y="3033347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8" name="Google Shape;538;p24"/>
          <p:cNvSpPr/>
          <p:nvPr/>
        </p:nvSpPr>
        <p:spPr>
          <a:xfrm>
            <a:off x="820849" y="2980025"/>
            <a:ext cx="165779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800739" y="2060525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800739" y="1141025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788277" y="1134259"/>
            <a:ext cx="1389773" cy="6888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800739" y="2060525"/>
            <a:ext cx="610050" cy="688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820849" y="2980025"/>
            <a:ext cx="916511" cy="688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519;p24" descr="Timeline background shape">
            <a:extLst>
              <a:ext uri="{FF2B5EF4-FFF2-40B4-BE49-F238E27FC236}">
                <a16:creationId xmlns:a16="http://schemas.microsoft.com/office/drawing/2014/main" id="{80EE23C6-39C2-1B4F-E97D-851AB14715F8}"/>
              </a:ext>
            </a:extLst>
          </p:cNvPr>
          <p:cNvSpPr/>
          <p:nvPr/>
        </p:nvSpPr>
        <p:spPr>
          <a:xfrm flipH="1">
            <a:off x="3048710" y="3953289"/>
            <a:ext cx="4443600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520;p24">
            <a:extLst>
              <a:ext uri="{FF2B5EF4-FFF2-40B4-BE49-F238E27FC236}">
                <a16:creationId xmlns:a16="http://schemas.microsoft.com/office/drawing/2014/main" id="{F51B2046-CD15-459D-6592-7FC06738DE32}"/>
              </a:ext>
            </a:extLst>
          </p:cNvPr>
          <p:cNvGrpSpPr/>
          <p:nvPr/>
        </p:nvGrpSpPr>
        <p:grpSpPr>
          <a:xfrm>
            <a:off x="3340020" y="3999939"/>
            <a:ext cx="4028992" cy="484500"/>
            <a:chOff x="2649263" y="3948755"/>
            <a:chExt cx="4028992" cy="484500"/>
          </a:xfrm>
        </p:grpSpPr>
        <p:sp>
          <p:nvSpPr>
            <p:cNvPr id="4" name="Google Shape;521;p24">
              <a:extLst>
                <a:ext uri="{FF2B5EF4-FFF2-40B4-BE49-F238E27FC236}">
                  <a16:creationId xmlns:a16="http://schemas.microsoft.com/office/drawing/2014/main" id="{18FBE6C0-BAE2-38A3-5C92-75C85718F0E3}"/>
                </a:ext>
              </a:extLst>
            </p:cNvPr>
            <p:cNvSpPr txBox="1"/>
            <p:nvPr/>
          </p:nvSpPr>
          <p:spPr>
            <a:xfrm>
              <a:off x="2649263" y="3948755"/>
              <a:ext cx="763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bg1">
                      <a:lumMod val="25000"/>
                      <a:lumOff val="75000"/>
                    </a:schemeClr>
                  </a:solidFill>
                  <a:latin typeface="Share Tech"/>
                  <a:ea typeface="Share Tech"/>
                  <a:cs typeface="Share Tech"/>
                  <a:sym typeface="Share Tech"/>
                </a:rPr>
                <a:t>89%</a:t>
              </a:r>
              <a:endParaRPr sz="2400" dirty="0">
                <a:solidFill>
                  <a:schemeClr val="bg1">
                    <a:lumMod val="25000"/>
                    <a:lumOff val="75000"/>
                  </a:schemeClr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6" name="Google Shape;523;p24">
              <a:extLst>
                <a:ext uri="{FF2B5EF4-FFF2-40B4-BE49-F238E27FC236}">
                  <a16:creationId xmlns:a16="http://schemas.microsoft.com/office/drawing/2014/main" id="{FE01C773-D1BB-505E-35CC-493B60555851}"/>
                </a:ext>
              </a:extLst>
            </p:cNvPr>
            <p:cNvSpPr txBox="1"/>
            <p:nvPr/>
          </p:nvSpPr>
          <p:spPr>
            <a:xfrm>
              <a:off x="3576576" y="3948755"/>
              <a:ext cx="3101679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dirty="0">
                  <a:solidFill>
                    <a:schemeClr val="tx1"/>
                  </a:solidFill>
                  <a:latin typeface="Trebuchet MS"/>
                  <a:cs typeface="Trebuchet MS"/>
                </a:rPr>
                <a:t>Ready to repeat purchase due to Positive CX</a:t>
              </a:r>
            </a:p>
          </p:txBody>
        </p:sp>
      </p:grpSp>
      <p:cxnSp>
        <p:nvCxnSpPr>
          <p:cNvPr id="7" name="Google Shape;536;p24">
            <a:extLst>
              <a:ext uri="{FF2B5EF4-FFF2-40B4-BE49-F238E27FC236}">
                <a16:creationId xmlns:a16="http://schemas.microsoft.com/office/drawing/2014/main" id="{F1BB7C07-D444-71B5-6CB0-FF5D3678315C}"/>
              </a:ext>
            </a:extLst>
          </p:cNvPr>
          <p:cNvCxnSpPr/>
          <p:nvPr/>
        </p:nvCxnSpPr>
        <p:spPr>
          <a:xfrm>
            <a:off x="4098733" y="3952839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538;p24">
            <a:extLst>
              <a:ext uri="{FF2B5EF4-FFF2-40B4-BE49-F238E27FC236}">
                <a16:creationId xmlns:a16="http://schemas.microsoft.com/office/drawing/2014/main" id="{267EB439-FCA4-9B65-9E18-54A349A66993}"/>
              </a:ext>
            </a:extLst>
          </p:cNvPr>
          <p:cNvSpPr/>
          <p:nvPr/>
        </p:nvSpPr>
        <p:spPr>
          <a:xfrm>
            <a:off x="825104" y="3928000"/>
            <a:ext cx="1653534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3;p24">
            <a:extLst>
              <a:ext uri="{FF2B5EF4-FFF2-40B4-BE49-F238E27FC236}">
                <a16:creationId xmlns:a16="http://schemas.microsoft.com/office/drawing/2014/main" id="{53328E5C-5AE6-A5C2-069C-ED98697BC679}"/>
              </a:ext>
            </a:extLst>
          </p:cNvPr>
          <p:cNvSpPr/>
          <p:nvPr/>
        </p:nvSpPr>
        <p:spPr>
          <a:xfrm>
            <a:off x="825104" y="3928000"/>
            <a:ext cx="1428239" cy="6888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E484500E-EC52-9E69-6307-D8BD88EAF4BC}"/>
              </a:ext>
            </a:extLst>
          </p:cNvPr>
          <p:cNvSpPr txBox="1"/>
          <p:nvPr/>
        </p:nvSpPr>
        <p:spPr>
          <a:xfrm>
            <a:off x="4572000" y="4669505"/>
            <a:ext cx="6356477" cy="6309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https://www.pwc.com/us/en/services/consulting/library/consumer-intelligence-series/future-</a:t>
            </a:r>
            <a:r>
              <a:rPr sz="600" dirty="0">
                <a:solidFill>
                  <a:schemeClr val="tx1"/>
                </a:solidFill>
                <a:latin typeface="Trebuchet MS"/>
                <a:cs typeface="Trebuchet MS"/>
              </a:rPr>
              <a:t>of-customer-</a:t>
            </a:r>
            <a:r>
              <a:rPr sz="600" spc="-10" dirty="0">
                <a:solidFill>
                  <a:schemeClr val="tx1"/>
                </a:solidFill>
                <a:latin typeface="Trebuchet MS"/>
                <a:cs typeface="Trebuchet MS"/>
              </a:rPr>
              <a:t>experience.html</a:t>
            </a:r>
            <a:endParaRPr lang="en-US" sz="600" spc="-1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https://www.salesforce.com/content/dam/web/it_it/www/pdf/connected-customer-report-2020.pdf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https://www.mckinsey.com/capabilities/operations/our-insights/how-advanced-analytics-can-help-contact-centers-put-the-customer-first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https://www.zendesk.com/blog/customer-service-and-lifetime-customer-value/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600" spc="-1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6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"/>
          <p:cNvSpPr txBox="1">
            <a:spLocks noGrp="1"/>
          </p:cNvSpPr>
          <p:nvPr>
            <p:ph type="title"/>
          </p:nvPr>
        </p:nvSpPr>
        <p:spPr>
          <a:xfrm>
            <a:off x="159509" y="226404"/>
            <a:ext cx="8145428" cy="10228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Small and Medium Sized Enterprises (SME)</a:t>
            </a:r>
            <a:r>
              <a:rPr lang="en-US" sz="20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o-MD" sz="3000" dirty="0"/>
              <a:t> </a:t>
            </a:r>
            <a:br>
              <a:rPr lang="en-US" sz="3000" dirty="0"/>
            </a:br>
            <a:r>
              <a:rPr lang="ro-MD" sz="3000" dirty="0"/>
              <a:t>DIGITALI</a:t>
            </a:r>
            <a:r>
              <a:rPr lang="ro-MD" sz="3000" dirty="0">
                <a:solidFill>
                  <a:schemeClr val="accent6"/>
                </a:solidFill>
              </a:rPr>
              <a:t>S</a:t>
            </a:r>
            <a:r>
              <a:rPr lang="ro-MD" sz="3000" dirty="0"/>
              <a:t>ATION</a:t>
            </a:r>
            <a:endParaRPr sz="3000" dirty="0"/>
          </a:p>
        </p:txBody>
      </p:sp>
      <p:sp>
        <p:nvSpPr>
          <p:cNvPr id="549" name="Google Shape;549;p25"/>
          <p:cNvSpPr txBox="1"/>
          <p:nvPr/>
        </p:nvSpPr>
        <p:spPr>
          <a:xfrm>
            <a:off x="2085480" y="1390360"/>
            <a:ext cx="396473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400" b="0" i="0" dirty="0">
                <a:solidFill>
                  <a:schemeClr val="tx1"/>
                </a:solidFill>
                <a:effectLst/>
                <a:latin typeface="Google Sans"/>
              </a:rPr>
              <a:t>Barriers On the Road</a:t>
            </a:r>
            <a:endParaRPr lang="ro-MD" sz="2400" dirty="0">
              <a:solidFill>
                <a:schemeClr val="tx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1047369" y="2181140"/>
            <a:ext cx="907005" cy="822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3599043" y="3039723"/>
            <a:ext cx="905256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6284370" y="2230433"/>
            <a:ext cx="905256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4" name="Google Shape;554;p25"/>
          <p:cNvSpPr/>
          <p:nvPr/>
        </p:nvSpPr>
        <p:spPr>
          <a:xfrm>
            <a:off x="8003279" y="2225048"/>
            <a:ext cx="905515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6" name="Google Shape;556;p25"/>
          <p:cNvSpPr txBox="1"/>
          <p:nvPr/>
        </p:nvSpPr>
        <p:spPr>
          <a:xfrm>
            <a:off x="771944" y="3268849"/>
            <a:ext cx="14538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19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Access to Finance</a:t>
            </a:r>
            <a:endParaRPr sz="19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59" name="Google Shape;559;p25"/>
          <p:cNvSpPr txBox="1"/>
          <p:nvPr/>
        </p:nvSpPr>
        <p:spPr>
          <a:xfrm>
            <a:off x="5678638" y="3545142"/>
            <a:ext cx="207186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Limited collection and/or storage of data</a:t>
            </a:r>
            <a:endParaRPr sz="19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68" name="Google Shape;568;p25"/>
          <p:cNvSpPr txBox="1"/>
          <p:nvPr/>
        </p:nvSpPr>
        <p:spPr>
          <a:xfrm>
            <a:off x="3340947" y="2179328"/>
            <a:ext cx="145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19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Lack of Specialists</a:t>
            </a:r>
            <a:endParaRPr sz="19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570" name="Google Shape;570;p25"/>
          <p:cNvCxnSpPr>
            <a:cxnSpLocks/>
            <a:stCxn id="550" idx="3"/>
            <a:endCxn id="551" idx="0"/>
          </p:cNvCxnSpPr>
          <p:nvPr/>
        </p:nvCxnSpPr>
        <p:spPr>
          <a:xfrm>
            <a:off x="1954374" y="2592620"/>
            <a:ext cx="2097297" cy="447103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71" name="Google Shape;571;p25"/>
          <p:cNvCxnSpPr>
            <a:stCxn id="551" idx="0"/>
            <a:endCxn id="553" idx="1"/>
          </p:cNvCxnSpPr>
          <p:nvPr/>
        </p:nvCxnSpPr>
        <p:spPr>
          <a:xfrm flipV="1">
            <a:off x="4051671" y="2641913"/>
            <a:ext cx="2232699" cy="39781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72" name="Google Shape;572;p25"/>
          <p:cNvCxnSpPr>
            <a:cxnSpLocks/>
            <a:stCxn id="553" idx="3"/>
            <a:endCxn id="554" idx="1"/>
          </p:cNvCxnSpPr>
          <p:nvPr/>
        </p:nvCxnSpPr>
        <p:spPr>
          <a:xfrm flipV="1">
            <a:off x="7189626" y="2636528"/>
            <a:ext cx="813653" cy="538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74" name="Google Shape;574;p25"/>
          <p:cNvCxnSpPr>
            <a:cxnSpLocks/>
            <a:stCxn id="550" idx="1"/>
          </p:cNvCxnSpPr>
          <p:nvPr/>
        </p:nvCxnSpPr>
        <p:spPr>
          <a:xfrm flipH="1">
            <a:off x="-131670" y="2592620"/>
            <a:ext cx="1179039" cy="243502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" name="object 8">
            <a:extLst>
              <a:ext uri="{FF2B5EF4-FFF2-40B4-BE49-F238E27FC236}">
                <a16:creationId xmlns:a16="http://schemas.microsoft.com/office/drawing/2014/main" id="{27403FB9-9033-9455-F9A1-8285334291C6}"/>
              </a:ext>
            </a:extLst>
          </p:cNvPr>
          <p:cNvSpPr txBox="1"/>
          <p:nvPr/>
        </p:nvSpPr>
        <p:spPr>
          <a:xfrm>
            <a:off x="5607957" y="4576987"/>
            <a:ext cx="5148580" cy="420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https://www.oecd-ilibrary.org/economics/data-analytics-in-smes_1de6c6a7-en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spc="-10" dirty="0">
                <a:solidFill>
                  <a:schemeClr val="tx1"/>
                </a:solidFill>
                <a:latin typeface="Trebuchet MS"/>
                <a:cs typeface="Trebuchet MS"/>
              </a:rPr>
              <a:t>https://www.oecd.org/cfe/sme-digitalisation-to-build-back-better-50193089-en.htm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600" spc="-1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6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019E9-F13E-77DE-5788-76E82A2EA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298" y="2300962"/>
            <a:ext cx="560927" cy="5609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B82457-FB96-EA3C-3D16-B51BFDBEF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487" y="3203019"/>
            <a:ext cx="496367" cy="4963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1A6820-7670-0323-82CB-D1101E139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518" y="2351475"/>
            <a:ext cx="570106" cy="570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AB29EE-43A4-D551-E356-7A445FDE1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906" y="2323231"/>
            <a:ext cx="640263" cy="6402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" grpId="0" animBg="1"/>
      <p:bldP spid="551" grpId="0" animBg="1"/>
      <p:bldP spid="553" grpId="0" animBg="1"/>
      <p:bldP spid="556" grpId="0"/>
      <p:bldP spid="559" grpId="0"/>
      <p:bldP spid="5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4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PREREQUISITES FOR ADAPTATION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360" name="Google Shape;1360;p45"/>
          <p:cNvGraphicFramePr/>
          <p:nvPr>
            <p:extLst>
              <p:ext uri="{D42A27DB-BD31-4B8C-83A1-F6EECF244321}">
                <p14:modId xmlns:p14="http://schemas.microsoft.com/office/powerpoint/2010/main" val="484216300"/>
              </p:ext>
            </p:extLst>
          </p:nvPr>
        </p:nvGraphicFramePr>
        <p:xfrm>
          <a:off x="1620911" y="1370692"/>
          <a:ext cx="5556737" cy="3176573"/>
        </p:xfrm>
        <a:graphic>
          <a:graphicData uri="http://schemas.openxmlformats.org/drawingml/2006/table">
            <a:tbl>
              <a:tblPr>
                <a:noFill/>
                <a:tableStyleId>{6CAA7EAD-770A-4BA6-A570-980CF8E8E115}</a:tableStyleId>
              </a:tblPr>
              <a:tblGrid>
                <a:gridCol w="460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accent2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CHECKLIST</a:t>
                      </a:r>
                      <a:endParaRPr sz="2000" dirty="0">
                        <a:solidFill>
                          <a:schemeClr val="accent2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60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" sz="15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Excel is OK</a:t>
                      </a:r>
                      <a:endParaRPr sz="15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97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Managerial</a:t>
                      </a:r>
                      <a:r>
                        <a:rPr lang="en-US" sz="1500" b="1" dirty="0">
                          <a:solidFill>
                            <a:srgbClr val="C81F8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Awareness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5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From 1 to 10 GB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5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ro-MD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On Premise Computing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5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ro-MD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Hire A Data Scientis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Maven Pro"/>
                          <a:cs typeface="Trebuchet MS"/>
                          <a:sym typeface="Arial"/>
                        </a:rPr>
                        <a:t>t</a:t>
                      </a:r>
                      <a:endParaRPr lang="ro-MD" sz="1500" b="0" i="0" u="none" strike="noStrike" cap="none" dirty="0">
                        <a:solidFill>
                          <a:schemeClr val="dk1"/>
                        </a:solidFill>
                        <a:latin typeface="Maven Pro"/>
                        <a:cs typeface="Trebuchet MS"/>
                        <a:sym typeface="A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64" name="Google Shape;1364;p45"/>
          <p:cNvSpPr/>
          <p:nvPr/>
        </p:nvSpPr>
        <p:spPr>
          <a:xfrm>
            <a:off x="5071604" y="1489774"/>
            <a:ext cx="577800" cy="57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5" name="Google Shape;1365;p45"/>
          <p:cNvGrpSpPr/>
          <p:nvPr/>
        </p:nvGrpSpPr>
        <p:grpSpPr>
          <a:xfrm>
            <a:off x="5215442" y="1585904"/>
            <a:ext cx="320022" cy="359778"/>
            <a:chOff x="3567553" y="1499912"/>
            <a:chExt cx="320022" cy="359778"/>
          </a:xfrm>
        </p:grpSpPr>
        <p:sp>
          <p:nvSpPr>
            <p:cNvPr id="1366" name="Google Shape;1366;p45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5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5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5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5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5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0054;p58">
            <a:extLst>
              <a:ext uri="{FF2B5EF4-FFF2-40B4-BE49-F238E27FC236}">
                <a16:creationId xmlns:a16="http://schemas.microsoft.com/office/drawing/2014/main" id="{22E0D604-AB10-2608-7780-0FC7E436317E}"/>
              </a:ext>
            </a:extLst>
          </p:cNvPr>
          <p:cNvGrpSpPr/>
          <p:nvPr/>
        </p:nvGrpSpPr>
        <p:grpSpPr>
          <a:xfrm>
            <a:off x="6529948" y="2807744"/>
            <a:ext cx="356195" cy="265631"/>
            <a:chOff x="5216456" y="3725484"/>
            <a:chExt cx="356195" cy="265631"/>
          </a:xfrm>
        </p:grpSpPr>
        <p:sp>
          <p:nvSpPr>
            <p:cNvPr id="5" name="Google Shape;10055;p58">
              <a:extLst>
                <a:ext uri="{FF2B5EF4-FFF2-40B4-BE49-F238E27FC236}">
                  <a16:creationId xmlns:a16="http://schemas.microsoft.com/office/drawing/2014/main" id="{75E161B2-AF0B-E75B-81FD-237858D88075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056;p58">
              <a:extLst>
                <a:ext uri="{FF2B5EF4-FFF2-40B4-BE49-F238E27FC236}">
                  <a16:creationId xmlns:a16="http://schemas.microsoft.com/office/drawing/2014/main" id="{42D05016-5DCC-A1A2-184A-1507D39BFC91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" name="Google Shape;10054;p58">
            <a:extLst>
              <a:ext uri="{FF2B5EF4-FFF2-40B4-BE49-F238E27FC236}">
                <a16:creationId xmlns:a16="http://schemas.microsoft.com/office/drawing/2014/main" id="{25C4CAA9-4638-80BF-8B7C-172DFD8A4278}"/>
              </a:ext>
            </a:extLst>
          </p:cNvPr>
          <p:cNvGrpSpPr/>
          <p:nvPr/>
        </p:nvGrpSpPr>
        <p:grpSpPr>
          <a:xfrm>
            <a:off x="6529948" y="2306119"/>
            <a:ext cx="356195" cy="265631"/>
            <a:chOff x="5216456" y="3725484"/>
            <a:chExt cx="356195" cy="265631"/>
          </a:xfrm>
        </p:grpSpPr>
        <p:sp>
          <p:nvSpPr>
            <p:cNvPr id="8" name="Google Shape;10055;p58">
              <a:extLst>
                <a:ext uri="{FF2B5EF4-FFF2-40B4-BE49-F238E27FC236}">
                  <a16:creationId xmlns:a16="http://schemas.microsoft.com/office/drawing/2014/main" id="{FAC7B830-3C8E-6C83-72F5-B0FCC83507DD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056;p58">
              <a:extLst>
                <a:ext uri="{FF2B5EF4-FFF2-40B4-BE49-F238E27FC236}">
                  <a16:creationId xmlns:a16="http://schemas.microsoft.com/office/drawing/2014/main" id="{693744B9-307D-CE5D-5221-3348738AFB81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" name="Google Shape;10054;p58">
            <a:extLst>
              <a:ext uri="{FF2B5EF4-FFF2-40B4-BE49-F238E27FC236}">
                <a16:creationId xmlns:a16="http://schemas.microsoft.com/office/drawing/2014/main" id="{93200475-5DB4-A08A-8DF4-B256EB4557D3}"/>
              </a:ext>
            </a:extLst>
          </p:cNvPr>
          <p:cNvGrpSpPr/>
          <p:nvPr/>
        </p:nvGrpSpPr>
        <p:grpSpPr>
          <a:xfrm>
            <a:off x="6529948" y="3265404"/>
            <a:ext cx="356195" cy="265631"/>
            <a:chOff x="5216456" y="3725484"/>
            <a:chExt cx="356195" cy="265631"/>
          </a:xfrm>
        </p:grpSpPr>
        <p:sp>
          <p:nvSpPr>
            <p:cNvPr id="11" name="Google Shape;10055;p58">
              <a:extLst>
                <a:ext uri="{FF2B5EF4-FFF2-40B4-BE49-F238E27FC236}">
                  <a16:creationId xmlns:a16="http://schemas.microsoft.com/office/drawing/2014/main" id="{21A009F3-9445-007B-0F62-16ACE3DB827C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056;p58">
              <a:extLst>
                <a:ext uri="{FF2B5EF4-FFF2-40B4-BE49-F238E27FC236}">
                  <a16:creationId xmlns:a16="http://schemas.microsoft.com/office/drawing/2014/main" id="{9D49B078-2EFE-8F62-B855-5756D609B626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" name="Google Shape;10054;p58">
            <a:extLst>
              <a:ext uri="{FF2B5EF4-FFF2-40B4-BE49-F238E27FC236}">
                <a16:creationId xmlns:a16="http://schemas.microsoft.com/office/drawing/2014/main" id="{687745CA-5700-10AB-5AD7-C489695327CA}"/>
              </a:ext>
            </a:extLst>
          </p:cNvPr>
          <p:cNvGrpSpPr/>
          <p:nvPr/>
        </p:nvGrpSpPr>
        <p:grpSpPr>
          <a:xfrm>
            <a:off x="6529948" y="3726060"/>
            <a:ext cx="356195" cy="265631"/>
            <a:chOff x="5216456" y="3725484"/>
            <a:chExt cx="356195" cy="265631"/>
          </a:xfrm>
        </p:grpSpPr>
        <p:sp>
          <p:nvSpPr>
            <p:cNvPr id="14" name="Google Shape;10055;p58">
              <a:extLst>
                <a:ext uri="{FF2B5EF4-FFF2-40B4-BE49-F238E27FC236}">
                  <a16:creationId xmlns:a16="http://schemas.microsoft.com/office/drawing/2014/main" id="{0EC62FCD-A515-6D45-7906-AC3C70BDAE9F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056;p58">
              <a:extLst>
                <a:ext uri="{FF2B5EF4-FFF2-40B4-BE49-F238E27FC236}">
                  <a16:creationId xmlns:a16="http://schemas.microsoft.com/office/drawing/2014/main" id="{39DCD716-D733-550C-CCE7-9D379E00ABC4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" name="Google Shape;10054;p58">
            <a:extLst>
              <a:ext uri="{FF2B5EF4-FFF2-40B4-BE49-F238E27FC236}">
                <a16:creationId xmlns:a16="http://schemas.microsoft.com/office/drawing/2014/main" id="{7DAE0E63-9EC8-F0CB-6006-72CDC4D13F88}"/>
              </a:ext>
            </a:extLst>
          </p:cNvPr>
          <p:cNvGrpSpPr/>
          <p:nvPr/>
        </p:nvGrpSpPr>
        <p:grpSpPr>
          <a:xfrm>
            <a:off x="6529948" y="4180651"/>
            <a:ext cx="356195" cy="265631"/>
            <a:chOff x="5216456" y="3725484"/>
            <a:chExt cx="356195" cy="265631"/>
          </a:xfrm>
        </p:grpSpPr>
        <p:sp>
          <p:nvSpPr>
            <p:cNvPr id="17" name="Google Shape;10055;p58">
              <a:extLst>
                <a:ext uri="{FF2B5EF4-FFF2-40B4-BE49-F238E27FC236}">
                  <a16:creationId xmlns:a16="http://schemas.microsoft.com/office/drawing/2014/main" id="{7FE8557C-9007-9703-3CBD-B3651FF9337A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056;p58">
              <a:extLst>
                <a:ext uri="{FF2B5EF4-FFF2-40B4-BE49-F238E27FC236}">
                  <a16:creationId xmlns:a16="http://schemas.microsoft.com/office/drawing/2014/main" id="{43B197A5-FD68-0E98-9CB2-BC95F2B0B500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411988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B33E70-5D4F-515F-A964-5BC555C9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076" y="411943"/>
            <a:ext cx="7704000" cy="572700"/>
          </a:xfrm>
        </p:spPr>
        <p:txBody>
          <a:bodyPr/>
          <a:lstStyle/>
          <a:p>
            <a:r>
              <a:rPr lang="en-US" sz="3000" dirty="0"/>
              <a:t>Welcome to Citrus Chat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7654F-8C3D-9C8A-02B3-64CD4C9DA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168" y="259304"/>
            <a:ext cx="982865" cy="879249"/>
          </a:xfrm>
          <a:prstGeom prst="rect">
            <a:avLst/>
          </a:prstGeom>
        </p:spPr>
      </p:pic>
      <p:sp>
        <p:nvSpPr>
          <p:cNvPr id="21" name="Google Shape;474;p27">
            <a:extLst>
              <a:ext uri="{FF2B5EF4-FFF2-40B4-BE49-F238E27FC236}">
                <a16:creationId xmlns:a16="http://schemas.microsoft.com/office/drawing/2014/main" id="{B5D4F0B8-ACCA-9F2B-7220-33D1948B7BCF}"/>
              </a:ext>
            </a:extLst>
          </p:cNvPr>
          <p:cNvSpPr txBox="1">
            <a:spLocks/>
          </p:cNvSpPr>
          <p:nvPr/>
        </p:nvSpPr>
        <p:spPr>
          <a:xfrm>
            <a:off x="3654664" y="3581700"/>
            <a:ext cx="1386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200"/>
            </a:pPr>
            <a:r>
              <a:rPr lang="en-US" sz="1900" dirty="0">
                <a:solidFill>
                  <a:schemeClr val="dk1"/>
                </a:solidFill>
                <a:latin typeface="Share Tech"/>
                <a:sym typeface="Share Tech"/>
              </a:rPr>
              <a:t>COSTS VS BENEFITS</a:t>
            </a:r>
          </a:p>
        </p:txBody>
      </p:sp>
      <p:sp>
        <p:nvSpPr>
          <p:cNvPr id="22" name="Google Shape;475;p27">
            <a:extLst>
              <a:ext uri="{FF2B5EF4-FFF2-40B4-BE49-F238E27FC236}">
                <a16:creationId xmlns:a16="http://schemas.microsoft.com/office/drawing/2014/main" id="{32CF6CDD-131D-E3F4-3637-CBC875BD3592}"/>
              </a:ext>
            </a:extLst>
          </p:cNvPr>
          <p:cNvSpPr txBox="1">
            <a:spLocks/>
          </p:cNvSpPr>
          <p:nvPr/>
        </p:nvSpPr>
        <p:spPr>
          <a:xfrm>
            <a:off x="559100" y="3581700"/>
            <a:ext cx="21525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900" dirty="0">
                <a:sym typeface="Advent Pro SemiBold"/>
              </a:rPr>
              <a:t>UNDERSTAND WORK</a:t>
            </a:r>
            <a:r>
              <a:rPr lang="ro-MD" sz="1900" dirty="0">
                <a:sym typeface="Advent Pro SemiBold"/>
              </a:rPr>
              <a:t>FORCE</a:t>
            </a:r>
            <a:endParaRPr lang="en-US" sz="1900" dirty="0">
              <a:sym typeface="Advent Pro SemiBold"/>
            </a:endParaRPr>
          </a:p>
        </p:txBody>
      </p:sp>
      <p:sp>
        <p:nvSpPr>
          <p:cNvPr id="24" name="Google Shape;477;p27">
            <a:extLst>
              <a:ext uri="{FF2B5EF4-FFF2-40B4-BE49-F238E27FC236}">
                <a16:creationId xmlns:a16="http://schemas.microsoft.com/office/drawing/2014/main" id="{290F95C5-5F6B-5712-2B72-9DE0C5C02945}"/>
              </a:ext>
            </a:extLst>
          </p:cNvPr>
          <p:cNvSpPr txBox="1">
            <a:spLocks/>
          </p:cNvSpPr>
          <p:nvPr/>
        </p:nvSpPr>
        <p:spPr>
          <a:xfrm>
            <a:off x="1223300" y="28307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" sz="4800" dirty="0">
                <a:solidFill>
                  <a:schemeClr val="accent2"/>
                </a:solidFill>
                <a:latin typeface="Share Tech"/>
                <a:sym typeface="Share Tech"/>
              </a:rPr>
              <a:t>01</a:t>
            </a:r>
          </a:p>
        </p:txBody>
      </p:sp>
      <p:sp>
        <p:nvSpPr>
          <p:cNvPr id="26" name="Google Shape;479;p27">
            <a:extLst>
              <a:ext uri="{FF2B5EF4-FFF2-40B4-BE49-F238E27FC236}">
                <a16:creationId xmlns:a16="http://schemas.microsoft.com/office/drawing/2014/main" id="{0322E983-8FE5-DE3C-6B9D-00220DD8B595}"/>
              </a:ext>
            </a:extLst>
          </p:cNvPr>
          <p:cNvSpPr txBox="1">
            <a:spLocks/>
          </p:cNvSpPr>
          <p:nvPr/>
        </p:nvSpPr>
        <p:spPr>
          <a:xfrm>
            <a:off x="3942827" y="28307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" sz="4800" dirty="0">
                <a:solidFill>
                  <a:schemeClr val="accent3"/>
                </a:solidFill>
                <a:latin typeface="Share Tech"/>
                <a:sym typeface="Share Tech"/>
              </a:rPr>
              <a:t>02</a:t>
            </a:r>
          </a:p>
        </p:txBody>
      </p:sp>
      <p:sp>
        <p:nvSpPr>
          <p:cNvPr id="27" name="Google Shape;481;p27">
            <a:extLst>
              <a:ext uri="{FF2B5EF4-FFF2-40B4-BE49-F238E27FC236}">
                <a16:creationId xmlns:a16="http://schemas.microsoft.com/office/drawing/2014/main" id="{0B1D67FC-8062-CE82-67DF-98475D0D16AE}"/>
              </a:ext>
            </a:extLst>
          </p:cNvPr>
          <p:cNvSpPr txBox="1">
            <a:spLocks/>
          </p:cNvSpPr>
          <p:nvPr/>
        </p:nvSpPr>
        <p:spPr>
          <a:xfrm>
            <a:off x="6665704" y="28307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" sz="4800" dirty="0">
                <a:solidFill>
                  <a:schemeClr val="accent1"/>
                </a:solidFill>
                <a:latin typeface="Share Tech"/>
                <a:sym typeface="Share Tech"/>
              </a:rPr>
              <a:t>03</a:t>
            </a:r>
          </a:p>
        </p:txBody>
      </p:sp>
      <p:sp>
        <p:nvSpPr>
          <p:cNvPr id="28" name="Google Shape;482;p27">
            <a:extLst>
              <a:ext uri="{FF2B5EF4-FFF2-40B4-BE49-F238E27FC236}">
                <a16:creationId xmlns:a16="http://schemas.microsoft.com/office/drawing/2014/main" id="{E1036AD8-6C62-4D23-19B6-28EE95257AA3}"/>
              </a:ext>
            </a:extLst>
          </p:cNvPr>
          <p:cNvSpPr/>
          <p:nvPr/>
        </p:nvSpPr>
        <p:spPr>
          <a:xfrm>
            <a:off x="1223300" y="1747650"/>
            <a:ext cx="824100" cy="82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9" name="Google Shape;483;p27">
            <a:extLst>
              <a:ext uri="{FF2B5EF4-FFF2-40B4-BE49-F238E27FC236}">
                <a16:creationId xmlns:a16="http://schemas.microsoft.com/office/drawing/2014/main" id="{097DF9B5-DC3A-577E-A06C-684F46C10AE5}"/>
              </a:ext>
            </a:extLst>
          </p:cNvPr>
          <p:cNvSpPr/>
          <p:nvPr/>
        </p:nvSpPr>
        <p:spPr>
          <a:xfrm>
            <a:off x="3942827" y="1747650"/>
            <a:ext cx="824100" cy="82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0" name="Google Shape;484;p27">
            <a:extLst>
              <a:ext uri="{FF2B5EF4-FFF2-40B4-BE49-F238E27FC236}">
                <a16:creationId xmlns:a16="http://schemas.microsoft.com/office/drawing/2014/main" id="{3183A21D-C045-B90C-AB39-69669C6CB319}"/>
              </a:ext>
            </a:extLst>
          </p:cNvPr>
          <p:cNvSpPr/>
          <p:nvPr/>
        </p:nvSpPr>
        <p:spPr>
          <a:xfrm>
            <a:off x="6665704" y="1747650"/>
            <a:ext cx="824100" cy="8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31" name="Google Shape;485;p27">
            <a:extLst>
              <a:ext uri="{FF2B5EF4-FFF2-40B4-BE49-F238E27FC236}">
                <a16:creationId xmlns:a16="http://schemas.microsoft.com/office/drawing/2014/main" id="{4023437B-97DA-26E4-37B1-D8C358B322EC}"/>
              </a:ext>
            </a:extLst>
          </p:cNvPr>
          <p:cNvCxnSpPr>
            <a:stCxn id="28" idx="1"/>
            <a:endCxn id="24" idx="1"/>
          </p:cNvCxnSpPr>
          <p:nvPr/>
        </p:nvCxnSpPr>
        <p:spPr>
          <a:xfrm>
            <a:off x="1223300" y="2159700"/>
            <a:ext cx="600" cy="960000"/>
          </a:xfrm>
          <a:prstGeom prst="bentConnector3">
            <a:avLst>
              <a:gd name="adj1" fmla="val -396875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4" name="Google Shape;486;p27">
            <a:extLst>
              <a:ext uri="{FF2B5EF4-FFF2-40B4-BE49-F238E27FC236}">
                <a16:creationId xmlns:a16="http://schemas.microsoft.com/office/drawing/2014/main" id="{567457E6-CF9E-7A1F-57A8-1FDBC7129B56}"/>
              </a:ext>
            </a:extLst>
          </p:cNvPr>
          <p:cNvCxnSpPr>
            <a:stCxn id="29" idx="1"/>
            <a:endCxn id="26" idx="1"/>
          </p:cNvCxnSpPr>
          <p:nvPr/>
        </p:nvCxnSpPr>
        <p:spPr>
          <a:xfrm>
            <a:off x="3942827" y="2159700"/>
            <a:ext cx="600" cy="960000"/>
          </a:xfrm>
          <a:prstGeom prst="bentConnector3">
            <a:avLst>
              <a:gd name="adj1" fmla="val -396875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5" name="Google Shape;487;p27">
            <a:extLst>
              <a:ext uri="{FF2B5EF4-FFF2-40B4-BE49-F238E27FC236}">
                <a16:creationId xmlns:a16="http://schemas.microsoft.com/office/drawing/2014/main" id="{A50EADCB-AFCC-4CA2-7974-4894A7E07FF1}"/>
              </a:ext>
            </a:extLst>
          </p:cNvPr>
          <p:cNvCxnSpPr>
            <a:stCxn id="30" idx="1"/>
            <a:endCxn id="27" idx="1"/>
          </p:cNvCxnSpPr>
          <p:nvPr/>
        </p:nvCxnSpPr>
        <p:spPr>
          <a:xfrm>
            <a:off x="6665704" y="2159700"/>
            <a:ext cx="600" cy="960000"/>
          </a:xfrm>
          <a:prstGeom prst="bentConnector3">
            <a:avLst>
              <a:gd name="adj1" fmla="val -396875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2" name="Google Shape;474;p27">
            <a:extLst>
              <a:ext uri="{FF2B5EF4-FFF2-40B4-BE49-F238E27FC236}">
                <a16:creationId xmlns:a16="http://schemas.microsoft.com/office/drawing/2014/main" id="{A385924B-977A-E95A-B383-21334A1160ED}"/>
              </a:ext>
            </a:extLst>
          </p:cNvPr>
          <p:cNvSpPr txBox="1">
            <a:spLocks/>
          </p:cNvSpPr>
          <p:nvPr/>
        </p:nvSpPr>
        <p:spPr>
          <a:xfrm>
            <a:off x="6385433" y="3581700"/>
            <a:ext cx="1386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200"/>
            </a:pPr>
            <a:r>
              <a:rPr lang="en-US" sz="1900" dirty="0">
                <a:solidFill>
                  <a:schemeClr val="dk1"/>
                </a:solidFill>
                <a:latin typeface="Share Tech"/>
              </a:rPr>
              <a:t>QUALITY ASSURANCE</a:t>
            </a:r>
          </a:p>
        </p:txBody>
      </p:sp>
      <p:pic>
        <p:nvPicPr>
          <p:cNvPr id="1375" name="Picture 1374">
            <a:extLst>
              <a:ext uri="{FF2B5EF4-FFF2-40B4-BE49-F238E27FC236}">
                <a16:creationId xmlns:a16="http://schemas.microsoft.com/office/drawing/2014/main" id="{C57F17FC-3ABF-D80D-9016-4D5B583D7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521" y="1892620"/>
            <a:ext cx="533692" cy="534159"/>
          </a:xfrm>
          <a:prstGeom prst="rect">
            <a:avLst/>
          </a:prstGeom>
        </p:spPr>
      </p:pic>
      <p:pic>
        <p:nvPicPr>
          <p:cNvPr id="1377" name="Picture 1376">
            <a:extLst>
              <a:ext uri="{FF2B5EF4-FFF2-40B4-BE49-F238E27FC236}">
                <a16:creationId xmlns:a16="http://schemas.microsoft.com/office/drawing/2014/main" id="{C3E4A3F8-1564-67E3-D00B-19734CD1A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2788" y="1869547"/>
            <a:ext cx="530352" cy="530352"/>
          </a:xfrm>
          <a:prstGeom prst="rect">
            <a:avLst/>
          </a:prstGeom>
        </p:spPr>
      </p:pic>
      <p:pic>
        <p:nvPicPr>
          <p:cNvPr id="1379" name="Picture 1378">
            <a:extLst>
              <a:ext uri="{FF2B5EF4-FFF2-40B4-BE49-F238E27FC236}">
                <a16:creationId xmlns:a16="http://schemas.microsoft.com/office/drawing/2014/main" id="{4D2F9AA6-D455-8D37-8EA5-ED485412F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8422" y="1874847"/>
            <a:ext cx="530352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6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USING DATA SCIENCE TO SOLVE CONTACT CENTER CHALLENGES</a:t>
            </a:r>
            <a:endParaRPr sz="2500" dirty="0"/>
          </a:p>
        </p:txBody>
      </p:sp>
      <p:sp>
        <p:nvSpPr>
          <p:cNvPr id="210" name="Google Shape;210;p16"/>
          <p:cNvSpPr txBox="1"/>
          <p:nvPr/>
        </p:nvSpPr>
        <p:spPr>
          <a:xfrm>
            <a:off x="570196" y="262243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MISDESIGNED </a:t>
            </a: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IVR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12" name="Google Shape;212;p16"/>
          <p:cNvSpPr/>
          <p:nvPr/>
        </p:nvSpPr>
        <p:spPr>
          <a:xfrm rot="10800000">
            <a:off x="3462180" y="2114958"/>
            <a:ext cx="2279671" cy="1087679"/>
          </a:xfrm>
          <a:custGeom>
            <a:avLst/>
            <a:gdLst/>
            <a:ahLst/>
            <a:cxnLst/>
            <a:rect l="l" t="t" r="r" b="b"/>
            <a:pathLst>
              <a:path w="66087" h="33020" extrusionOk="0">
                <a:moveTo>
                  <a:pt x="33019" y="0"/>
                </a:moveTo>
                <a:cubicBezTo>
                  <a:pt x="14818" y="0"/>
                  <a:pt x="0" y="14808"/>
                  <a:pt x="0" y="33019"/>
                </a:cubicBezTo>
                <a:lnTo>
                  <a:pt x="1659" y="33019"/>
                </a:lnTo>
                <a:cubicBezTo>
                  <a:pt x="1659" y="15718"/>
                  <a:pt x="15718" y="1659"/>
                  <a:pt x="33019" y="1659"/>
                </a:cubicBezTo>
                <a:cubicBezTo>
                  <a:pt x="50321" y="1659"/>
                  <a:pt x="64427" y="15718"/>
                  <a:pt x="64427" y="33019"/>
                </a:cubicBezTo>
                <a:lnTo>
                  <a:pt x="66086" y="33019"/>
                </a:lnTo>
                <a:cubicBezTo>
                  <a:pt x="66086" y="14808"/>
                  <a:pt x="51269" y="0"/>
                  <a:pt x="330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6"/>
          <p:cNvSpPr/>
          <p:nvPr/>
        </p:nvSpPr>
        <p:spPr>
          <a:xfrm rot="10800000">
            <a:off x="5093733" y="2981410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6"/>
          <p:cNvSpPr/>
          <p:nvPr/>
        </p:nvSpPr>
        <p:spPr>
          <a:xfrm rot="10800000">
            <a:off x="3630764" y="2750906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"/>
          <p:cNvSpPr/>
          <p:nvPr/>
        </p:nvSpPr>
        <p:spPr>
          <a:xfrm rot="10800000">
            <a:off x="4539316" y="3108223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6"/>
          <p:cNvSpPr/>
          <p:nvPr/>
        </p:nvSpPr>
        <p:spPr>
          <a:xfrm rot="10800000">
            <a:off x="5458032" y="2650154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6"/>
          <p:cNvSpPr/>
          <p:nvPr/>
        </p:nvSpPr>
        <p:spPr>
          <a:xfrm rot="10800000">
            <a:off x="3516363" y="2454553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3578433" y="338348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ENABLERS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6151385" y="3327874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DRIVE REVENUE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6120329" y="2092300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BOOST CUSTOMER SATISFACTION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97633" y="1635100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LONG HOLDING TIMES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240" name="Google Shape;240;p16"/>
          <p:cNvCxnSpPr>
            <a:cxnSpLocks/>
            <a:stCxn id="228" idx="3"/>
            <a:endCxn id="217" idx="6"/>
          </p:cNvCxnSpPr>
          <p:nvPr/>
        </p:nvCxnSpPr>
        <p:spPr>
          <a:xfrm>
            <a:off x="2737933" y="1863700"/>
            <a:ext cx="778430" cy="65280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" name="Google Shape;241;p16"/>
          <p:cNvCxnSpPr>
            <a:cxnSpLocks/>
            <a:stCxn id="214" idx="6"/>
          </p:cNvCxnSpPr>
          <p:nvPr/>
        </p:nvCxnSpPr>
        <p:spPr>
          <a:xfrm rot="10800000" flipV="1">
            <a:off x="2848284" y="2812855"/>
            <a:ext cx="782481" cy="10697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16"/>
          <p:cNvCxnSpPr>
            <a:cxnSpLocks/>
            <a:stCxn id="216" idx="2"/>
          </p:cNvCxnSpPr>
          <p:nvPr/>
        </p:nvCxnSpPr>
        <p:spPr>
          <a:xfrm flipV="1">
            <a:off x="5581932" y="2274174"/>
            <a:ext cx="795523" cy="43793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16"/>
          <p:cNvCxnSpPr>
            <a:cxnSpLocks/>
            <a:stCxn id="213" idx="2"/>
          </p:cNvCxnSpPr>
          <p:nvPr/>
        </p:nvCxnSpPr>
        <p:spPr>
          <a:xfrm>
            <a:off x="5217633" y="3043360"/>
            <a:ext cx="1248465" cy="53525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16"/>
          <p:cNvCxnSpPr>
            <a:cxnSpLocks/>
            <a:stCxn id="215" idx="0"/>
            <a:endCxn id="219" idx="0"/>
          </p:cNvCxnSpPr>
          <p:nvPr/>
        </p:nvCxnSpPr>
        <p:spPr>
          <a:xfrm flipH="1">
            <a:off x="4598566" y="3232123"/>
            <a:ext cx="2700" cy="1515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210;p16">
            <a:extLst>
              <a:ext uri="{FF2B5EF4-FFF2-40B4-BE49-F238E27FC236}">
                <a16:creationId xmlns:a16="http://schemas.microsoft.com/office/drawing/2014/main" id="{B095BE03-2A63-4C9F-2C57-7BEDE39A9BFB}"/>
              </a:ext>
            </a:extLst>
          </p:cNvPr>
          <p:cNvSpPr txBox="1"/>
          <p:nvPr/>
        </p:nvSpPr>
        <p:spPr>
          <a:xfrm>
            <a:off x="618157" y="3529029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INCREASING COSTS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12" name="Google Shape;241;p16">
            <a:extLst>
              <a:ext uri="{FF2B5EF4-FFF2-40B4-BE49-F238E27FC236}">
                <a16:creationId xmlns:a16="http://schemas.microsoft.com/office/drawing/2014/main" id="{147EC238-812E-F815-AB88-BC31AA77716E}"/>
              </a:ext>
            </a:extLst>
          </p:cNvPr>
          <p:cNvCxnSpPr>
            <a:cxnSpLocks/>
            <a:stCxn id="15" idx="6"/>
          </p:cNvCxnSpPr>
          <p:nvPr/>
        </p:nvCxnSpPr>
        <p:spPr>
          <a:xfrm rot="10800000" flipV="1">
            <a:off x="2539925" y="3111774"/>
            <a:ext cx="1436931" cy="67329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214;p16">
            <a:extLst>
              <a:ext uri="{FF2B5EF4-FFF2-40B4-BE49-F238E27FC236}">
                <a16:creationId xmlns:a16="http://schemas.microsoft.com/office/drawing/2014/main" id="{358E7B31-1376-DC2C-54E7-70BD25B3334D}"/>
              </a:ext>
            </a:extLst>
          </p:cNvPr>
          <p:cNvSpPr/>
          <p:nvPr/>
        </p:nvSpPr>
        <p:spPr>
          <a:xfrm rot="10800000">
            <a:off x="3976855" y="3049825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28;p16">
            <a:extLst>
              <a:ext uri="{FF2B5EF4-FFF2-40B4-BE49-F238E27FC236}">
                <a16:creationId xmlns:a16="http://schemas.microsoft.com/office/drawing/2014/main" id="{97EEDF87-BDB7-9355-3AFC-0F4625FAE13C}"/>
              </a:ext>
            </a:extLst>
          </p:cNvPr>
          <p:cNvSpPr txBox="1"/>
          <p:nvPr/>
        </p:nvSpPr>
        <p:spPr>
          <a:xfrm>
            <a:off x="3356228" y="1754202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PREDICTIVE ANALYTICS</a:t>
            </a:r>
            <a:endParaRPr sz="11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0" name="Google Shape;228;p16">
            <a:extLst>
              <a:ext uri="{FF2B5EF4-FFF2-40B4-BE49-F238E27FC236}">
                <a16:creationId xmlns:a16="http://schemas.microsoft.com/office/drawing/2014/main" id="{72E21427-A9BA-2920-ED08-2678202E4334}"/>
              </a:ext>
            </a:extLst>
          </p:cNvPr>
          <p:cNvSpPr txBox="1"/>
          <p:nvPr/>
        </p:nvSpPr>
        <p:spPr>
          <a:xfrm>
            <a:off x="3355782" y="230182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VISUALISATION of IVR</a:t>
            </a:r>
            <a:endParaRPr sz="11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7" name="Google Shape;11318;p60">
            <a:extLst>
              <a:ext uri="{FF2B5EF4-FFF2-40B4-BE49-F238E27FC236}">
                <a16:creationId xmlns:a16="http://schemas.microsoft.com/office/drawing/2014/main" id="{08B8413E-04C0-E553-8D80-D8FBBA28C46F}"/>
              </a:ext>
            </a:extLst>
          </p:cNvPr>
          <p:cNvSpPr/>
          <p:nvPr/>
        </p:nvSpPr>
        <p:spPr>
          <a:xfrm>
            <a:off x="352310" y="1680820"/>
            <a:ext cx="457200" cy="365760"/>
          </a:xfrm>
          <a:custGeom>
            <a:avLst/>
            <a:gdLst/>
            <a:ahLst/>
            <a:cxnLst/>
            <a:rect l="l" t="t" r="r" b="b"/>
            <a:pathLst>
              <a:path w="10919" h="9109" extrusionOk="0">
                <a:moveTo>
                  <a:pt x="2917" y="310"/>
                </a:moveTo>
                <a:cubicBezTo>
                  <a:pt x="3119" y="310"/>
                  <a:pt x="3286" y="476"/>
                  <a:pt x="3286" y="679"/>
                </a:cubicBezTo>
                <a:lnTo>
                  <a:pt x="3286" y="1036"/>
                </a:lnTo>
                <a:cubicBezTo>
                  <a:pt x="3250" y="1322"/>
                  <a:pt x="3012" y="1560"/>
                  <a:pt x="2715" y="1560"/>
                </a:cubicBezTo>
                <a:cubicBezTo>
                  <a:pt x="2417" y="1560"/>
                  <a:pt x="2179" y="1322"/>
                  <a:pt x="2179" y="1024"/>
                </a:cubicBezTo>
                <a:lnTo>
                  <a:pt x="2179" y="679"/>
                </a:lnTo>
                <a:cubicBezTo>
                  <a:pt x="2179" y="476"/>
                  <a:pt x="2346" y="310"/>
                  <a:pt x="2560" y="310"/>
                </a:cubicBezTo>
                <a:close/>
                <a:moveTo>
                  <a:pt x="5715" y="310"/>
                </a:moveTo>
                <a:cubicBezTo>
                  <a:pt x="5917" y="310"/>
                  <a:pt x="6084" y="476"/>
                  <a:pt x="6084" y="679"/>
                </a:cubicBezTo>
                <a:lnTo>
                  <a:pt x="6084" y="1036"/>
                </a:lnTo>
                <a:cubicBezTo>
                  <a:pt x="6048" y="1322"/>
                  <a:pt x="5810" y="1560"/>
                  <a:pt x="5513" y="1560"/>
                </a:cubicBezTo>
                <a:cubicBezTo>
                  <a:pt x="5215" y="1560"/>
                  <a:pt x="4977" y="1322"/>
                  <a:pt x="4977" y="1024"/>
                </a:cubicBezTo>
                <a:lnTo>
                  <a:pt x="4977" y="679"/>
                </a:lnTo>
                <a:cubicBezTo>
                  <a:pt x="4977" y="476"/>
                  <a:pt x="5144" y="310"/>
                  <a:pt x="5358" y="310"/>
                </a:cubicBezTo>
                <a:close/>
                <a:moveTo>
                  <a:pt x="8513" y="310"/>
                </a:moveTo>
                <a:cubicBezTo>
                  <a:pt x="8715" y="310"/>
                  <a:pt x="8882" y="476"/>
                  <a:pt x="8882" y="679"/>
                </a:cubicBezTo>
                <a:lnTo>
                  <a:pt x="8882" y="1036"/>
                </a:lnTo>
                <a:cubicBezTo>
                  <a:pt x="8846" y="1322"/>
                  <a:pt x="8608" y="1560"/>
                  <a:pt x="8311" y="1560"/>
                </a:cubicBezTo>
                <a:cubicBezTo>
                  <a:pt x="8013" y="1560"/>
                  <a:pt x="7775" y="1322"/>
                  <a:pt x="7775" y="1024"/>
                </a:cubicBezTo>
                <a:lnTo>
                  <a:pt x="7775" y="679"/>
                </a:lnTo>
                <a:cubicBezTo>
                  <a:pt x="7775" y="476"/>
                  <a:pt x="7941" y="310"/>
                  <a:pt x="8156" y="310"/>
                </a:cubicBezTo>
                <a:close/>
                <a:moveTo>
                  <a:pt x="2893" y="1881"/>
                </a:moveTo>
                <a:lnTo>
                  <a:pt x="2893" y="1977"/>
                </a:lnTo>
                <a:cubicBezTo>
                  <a:pt x="2893" y="2036"/>
                  <a:pt x="2905" y="2096"/>
                  <a:pt x="2941" y="2143"/>
                </a:cubicBezTo>
                <a:lnTo>
                  <a:pt x="2715" y="2358"/>
                </a:lnTo>
                <a:lnTo>
                  <a:pt x="2691" y="2358"/>
                </a:lnTo>
                <a:lnTo>
                  <a:pt x="2465" y="2143"/>
                </a:lnTo>
                <a:cubicBezTo>
                  <a:pt x="2500" y="2096"/>
                  <a:pt x="2512" y="2036"/>
                  <a:pt x="2512" y="1977"/>
                </a:cubicBezTo>
                <a:lnTo>
                  <a:pt x="2512" y="1881"/>
                </a:lnTo>
                <a:close/>
                <a:moveTo>
                  <a:pt x="5715" y="1881"/>
                </a:moveTo>
                <a:lnTo>
                  <a:pt x="5715" y="1977"/>
                </a:lnTo>
                <a:cubicBezTo>
                  <a:pt x="5715" y="2036"/>
                  <a:pt x="5727" y="2096"/>
                  <a:pt x="5751" y="2143"/>
                </a:cubicBezTo>
                <a:lnTo>
                  <a:pt x="5536" y="2358"/>
                </a:lnTo>
                <a:lnTo>
                  <a:pt x="5501" y="2358"/>
                </a:lnTo>
                <a:lnTo>
                  <a:pt x="5274" y="2143"/>
                </a:lnTo>
                <a:cubicBezTo>
                  <a:pt x="5310" y="2096"/>
                  <a:pt x="5322" y="2036"/>
                  <a:pt x="5322" y="1977"/>
                </a:cubicBezTo>
                <a:lnTo>
                  <a:pt x="5322" y="1881"/>
                </a:lnTo>
                <a:close/>
                <a:moveTo>
                  <a:pt x="8501" y="1881"/>
                </a:moveTo>
                <a:lnTo>
                  <a:pt x="8501" y="1977"/>
                </a:lnTo>
                <a:cubicBezTo>
                  <a:pt x="8501" y="2036"/>
                  <a:pt x="8525" y="2096"/>
                  <a:pt x="8549" y="2143"/>
                </a:cubicBezTo>
                <a:lnTo>
                  <a:pt x="8334" y="2358"/>
                </a:lnTo>
                <a:lnTo>
                  <a:pt x="8299" y="2358"/>
                </a:lnTo>
                <a:lnTo>
                  <a:pt x="8072" y="2143"/>
                </a:lnTo>
                <a:cubicBezTo>
                  <a:pt x="8108" y="2096"/>
                  <a:pt x="8120" y="2036"/>
                  <a:pt x="8120" y="1977"/>
                </a:cubicBezTo>
                <a:lnTo>
                  <a:pt x="8120" y="1881"/>
                </a:lnTo>
                <a:close/>
                <a:moveTo>
                  <a:pt x="9906" y="3286"/>
                </a:moveTo>
                <a:cubicBezTo>
                  <a:pt x="10120" y="3286"/>
                  <a:pt x="10275" y="3453"/>
                  <a:pt x="10275" y="3655"/>
                </a:cubicBezTo>
                <a:lnTo>
                  <a:pt x="10275" y="4012"/>
                </a:lnTo>
                <a:cubicBezTo>
                  <a:pt x="10263" y="4298"/>
                  <a:pt x="10013" y="4536"/>
                  <a:pt x="9716" y="4536"/>
                </a:cubicBezTo>
                <a:cubicBezTo>
                  <a:pt x="9418" y="4536"/>
                  <a:pt x="9180" y="4298"/>
                  <a:pt x="9180" y="4001"/>
                </a:cubicBezTo>
                <a:lnTo>
                  <a:pt x="9180" y="3655"/>
                </a:lnTo>
                <a:cubicBezTo>
                  <a:pt x="9180" y="3453"/>
                  <a:pt x="9346" y="3286"/>
                  <a:pt x="9549" y="3286"/>
                </a:cubicBezTo>
                <a:close/>
                <a:moveTo>
                  <a:pt x="1512" y="3286"/>
                </a:moveTo>
                <a:cubicBezTo>
                  <a:pt x="1691" y="3286"/>
                  <a:pt x="1857" y="3453"/>
                  <a:pt x="1857" y="3655"/>
                </a:cubicBezTo>
                <a:lnTo>
                  <a:pt x="1857" y="4012"/>
                </a:lnTo>
                <a:cubicBezTo>
                  <a:pt x="1857" y="4310"/>
                  <a:pt x="1619" y="4548"/>
                  <a:pt x="1322" y="4548"/>
                </a:cubicBezTo>
                <a:cubicBezTo>
                  <a:pt x="1024" y="4548"/>
                  <a:pt x="786" y="4310"/>
                  <a:pt x="786" y="4012"/>
                </a:cubicBezTo>
                <a:lnTo>
                  <a:pt x="786" y="3655"/>
                </a:lnTo>
                <a:cubicBezTo>
                  <a:pt x="786" y="3453"/>
                  <a:pt x="953" y="3286"/>
                  <a:pt x="1155" y="3286"/>
                </a:cubicBezTo>
                <a:close/>
                <a:moveTo>
                  <a:pt x="4310" y="3286"/>
                </a:moveTo>
                <a:cubicBezTo>
                  <a:pt x="4489" y="3286"/>
                  <a:pt x="4655" y="3453"/>
                  <a:pt x="4655" y="3655"/>
                </a:cubicBezTo>
                <a:lnTo>
                  <a:pt x="4655" y="4012"/>
                </a:lnTo>
                <a:cubicBezTo>
                  <a:pt x="4655" y="4310"/>
                  <a:pt x="4417" y="4548"/>
                  <a:pt x="4120" y="4548"/>
                </a:cubicBezTo>
                <a:cubicBezTo>
                  <a:pt x="3822" y="4548"/>
                  <a:pt x="3584" y="4310"/>
                  <a:pt x="3584" y="4012"/>
                </a:cubicBezTo>
                <a:lnTo>
                  <a:pt x="3584" y="3655"/>
                </a:lnTo>
                <a:cubicBezTo>
                  <a:pt x="3584" y="3453"/>
                  <a:pt x="3750" y="3286"/>
                  <a:pt x="3953" y="3286"/>
                </a:cubicBezTo>
                <a:close/>
                <a:moveTo>
                  <a:pt x="7108" y="3286"/>
                </a:moveTo>
                <a:cubicBezTo>
                  <a:pt x="7287" y="3286"/>
                  <a:pt x="7453" y="3453"/>
                  <a:pt x="7453" y="3655"/>
                </a:cubicBezTo>
                <a:lnTo>
                  <a:pt x="7453" y="4012"/>
                </a:lnTo>
                <a:cubicBezTo>
                  <a:pt x="7453" y="4310"/>
                  <a:pt x="7215" y="4548"/>
                  <a:pt x="6918" y="4548"/>
                </a:cubicBezTo>
                <a:cubicBezTo>
                  <a:pt x="6620" y="4548"/>
                  <a:pt x="6382" y="4310"/>
                  <a:pt x="6382" y="4012"/>
                </a:cubicBezTo>
                <a:lnTo>
                  <a:pt x="6382" y="3655"/>
                </a:lnTo>
                <a:cubicBezTo>
                  <a:pt x="6382" y="3453"/>
                  <a:pt x="6548" y="3286"/>
                  <a:pt x="6751" y="3286"/>
                </a:cubicBezTo>
                <a:close/>
                <a:moveTo>
                  <a:pt x="1500" y="4858"/>
                </a:moveTo>
                <a:lnTo>
                  <a:pt x="1500" y="4953"/>
                </a:lnTo>
                <a:cubicBezTo>
                  <a:pt x="1500" y="5013"/>
                  <a:pt x="1512" y="5072"/>
                  <a:pt x="1548" y="5120"/>
                </a:cubicBezTo>
                <a:lnTo>
                  <a:pt x="1322" y="5334"/>
                </a:lnTo>
                <a:lnTo>
                  <a:pt x="1286" y="5334"/>
                </a:lnTo>
                <a:lnTo>
                  <a:pt x="1072" y="5120"/>
                </a:lnTo>
                <a:cubicBezTo>
                  <a:pt x="1095" y="5072"/>
                  <a:pt x="1107" y="5013"/>
                  <a:pt x="1107" y="4953"/>
                </a:cubicBezTo>
                <a:lnTo>
                  <a:pt x="1107" y="4858"/>
                </a:lnTo>
                <a:close/>
                <a:moveTo>
                  <a:pt x="4298" y="4858"/>
                </a:moveTo>
                <a:lnTo>
                  <a:pt x="4298" y="4953"/>
                </a:lnTo>
                <a:cubicBezTo>
                  <a:pt x="4298" y="5013"/>
                  <a:pt x="4310" y="5072"/>
                  <a:pt x="4334" y="5120"/>
                </a:cubicBezTo>
                <a:lnTo>
                  <a:pt x="4120" y="5334"/>
                </a:lnTo>
                <a:lnTo>
                  <a:pt x="4084" y="5334"/>
                </a:lnTo>
                <a:lnTo>
                  <a:pt x="3870" y="5120"/>
                </a:lnTo>
                <a:cubicBezTo>
                  <a:pt x="3893" y="5072"/>
                  <a:pt x="3905" y="5013"/>
                  <a:pt x="3905" y="4953"/>
                </a:cubicBezTo>
                <a:lnTo>
                  <a:pt x="3905" y="4858"/>
                </a:lnTo>
                <a:close/>
                <a:moveTo>
                  <a:pt x="7108" y="4858"/>
                </a:moveTo>
                <a:lnTo>
                  <a:pt x="7108" y="4953"/>
                </a:lnTo>
                <a:cubicBezTo>
                  <a:pt x="7108" y="5013"/>
                  <a:pt x="7120" y="5072"/>
                  <a:pt x="7156" y="5120"/>
                </a:cubicBezTo>
                <a:lnTo>
                  <a:pt x="6929" y="5334"/>
                </a:lnTo>
                <a:lnTo>
                  <a:pt x="6906" y="5334"/>
                </a:lnTo>
                <a:lnTo>
                  <a:pt x="6679" y="5120"/>
                </a:lnTo>
                <a:cubicBezTo>
                  <a:pt x="6703" y="5072"/>
                  <a:pt x="6715" y="5013"/>
                  <a:pt x="6715" y="4953"/>
                </a:cubicBezTo>
                <a:lnTo>
                  <a:pt x="6715" y="4858"/>
                </a:lnTo>
                <a:close/>
                <a:moveTo>
                  <a:pt x="9906" y="4858"/>
                </a:moveTo>
                <a:lnTo>
                  <a:pt x="9906" y="4953"/>
                </a:lnTo>
                <a:cubicBezTo>
                  <a:pt x="9906" y="5013"/>
                  <a:pt x="9918" y="5072"/>
                  <a:pt x="9954" y="5120"/>
                </a:cubicBezTo>
                <a:lnTo>
                  <a:pt x="9727" y="5334"/>
                </a:lnTo>
                <a:lnTo>
                  <a:pt x="9704" y="5334"/>
                </a:lnTo>
                <a:lnTo>
                  <a:pt x="9477" y="5120"/>
                </a:lnTo>
                <a:cubicBezTo>
                  <a:pt x="9501" y="5072"/>
                  <a:pt x="9525" y="5013"/>
                  <a:pt x="9525" y="4953"/>
                </a:cubicBezTo>
                <a:lnTo>
                  <a:pt x="9525" y="4858"/>
                </a:lnTo>
                <a:close/>
                <a:moveTo>
                  <a:pt x="2453" y="0"/>
                </a:moveTo>
                <a:cubicBezTo>
                  <a:pt x="2084" y="0"/>
                  <a:pt x="1762" y="310"/>
                  <a:pt x="1762" y="679"/>
                </a:cubicBezTo>
                <a:lnTo>
                  <a:pt x="1762" y="1036"/>
                </a:lnTo>
                <a:cubicBezTo>
                  <a:pt x="1762" y="1322"/>
                  <a:pt x="1905" y="1572"/>
                  <a:pt x="2119" y="1726"/>
                </a:cubicBezTo>
                <a:lnTo>
                  <a:pt x="2119" y="1977"/>
                </a:lnTo>
                <a:cubicBezTo>
                  <a:pt x="2119" y="1977"/>
                  <a:pt x="2119" y="1988"/>
                  <a:pt x="2107" y="1988"/>
                </a:cubicBezTo>
                <a:lnTo>
                  <a:pt x="1691" y="2203"/>
                </a:lnTo>
                <a:cubicBezTo>
                  <a:pt x="1512" y="2286"/>
                  <a:pt x="1405" y="2465"/>
                  <a:pt x="1405" y="2655"/>
                </a:cubicBezTo>
                <a:lnTo>
                  <a:pt x="1405" y="2989"/>
                </a:lnTo>
                <a:lnTo>
                  <a:pt x="1036" y="2989"/>
                </a:lnTo>
                <a:cubicBezTo>
                  <a:pt x="667" y="2989"/>
                  <a:pt x="357" y="3298"/>
                  <a:pt x="357" y="3667"/>
                </a:cubicBezTo>
                <a:lnTo>
                  <a:pt x="357" y="4024"/>
                </a:lnTo>
                <a:cubicBezTo>
                  <a:pt x="357" y="4310"/>
                  <a:pt x="488" y="4560"/>
                  <a:pt x="714" y="4715"/>
                </a:cubicBezTo>
                <a:lnTo>
                  <a:pt x="714" y="4965"/>
                </a:lnTo>
                <a:cubicBezTo>
                  <a:pt x="714" y="4965"/>
                  <a:pt x="714" y="4977"/>
                  <a:pt x="691" y="4977"/>
                </a:cubicBezTo>
                <a:lnTo>
                  <a:pt x="274" y="5191"/>
                </a:lnTo>
                <a:cubicBezTo>
                  <a:pt x="95" y="5275"/>
                  <a:pt x="0" y="5453"/>
                  <a:pt x="0" y="5656"/>
                </a:cubicBezTo>
                <a:lnTo>
                  <a:pt x="0" y="7382"/>
                </a:lnTo>
                <a:cubicBezTo>
                  <a:pt x="0" y="7513"/>
                  <a:pt x="36" y="7644"/>
                  <a:pt x="119" y="7751"/>
                </a:cubicBezTo>
                <a:lnTo>
                  <a:pt x="298" y="8013"/>
                </a:lnTo>
                <a:cubicBezTo>
                  <a:pt x="333" y="8073"/>
                  <a:pt x="357" y="8156"/>
                  <a:pt x="357" y="8227"/>
                </a:cubicBezTo>
                <a:lnTo>
                  <a:pt x="357" y="8942"/>
                </a:lnTo>
                <a:cubicBezTo>
                  <a:pt x="357" y="9025"/>
                  <a:pt x="429" y="9108"/>
                  <a:pt x="512" y="9108"/>
                </a:cubicBezTo>
                <a:cubicBezTo>
                  <a:pt x="607" y="9108"/>
                  <a:pt x="679" y="9025"/>
                  <a:pt x="679" y="8942"/>
                </a:cubicBezTo>
                <a:lnTo>
                  <a:pt x="679" y="8227"/>
                </a:lnTo>
                <a:cubicBezTo>
                  <a:pt x="679" y="8096"/>
                  <a:pt x="631" y="7953"/>
                  <a:pt x="560" y="7858"/>
                </a:cubicBezTo>
                <a:lnTo>
                  <a:pt x="381" y="7584"/>
                </a:lnTo>
                <a:cubicBezTo>
                  <a:pt x="333" y="7525"/>
                  <a:pt x="321" y="7453"/>
                  <a:pt x="321" y="7382"/>
                </a:cubicBezTo>
                <a:lnTo>
                  <a:pt x="321" y="5656"/>
                </a:lnTo>
                <a:cubicBezTo>
                  <a:pt x="321" y="5572"/>
                  <a:pt x="369" y="5513"/>
                  <a:pt x="429" y="5477"/>
                </a:cubicBezTo>
                <a:lnTo>
                  <a:pt x="714" y="5322"/>
                </a:lnTo>
                <a:lnTo>
                  <a:pt x="976" y="5596"/>
                </a:lnTo>
                <a:cubicBezTo>
                  <a:pt x="1036" y="5656"/>
                  <a:pt x="1131" y="5691"/>
                  <a:pt x="1214" y="5691"/>
                </a:cubicBezTo>
                <a:cubicBezTo>
                  <a:pt x="1310" y="5691"/>
                  <a:pt x="1381" y="5667"/>
                  <a:pt x="1453" y="5596"/>
                </a:cubicBezTo>
                <a:lnTo>
                  <a:pt x="1726" y="5322"/>
                </a:lnTo>
                <a:lnTo>
                  <a:pt x="2000" y="5477"/>
                </a:lnTo>
                <a:cubicBezTo>
                  <a:pt x="2060" y="5501"/>
                  <a:pt x="2107" y="5572"/>
                  <a:pt x="2107" y="5656"/>
                </a:cubicBezTo>
                <a:lnTo>
                  <a:pt x="2107" y="7382"/>
                </a:lnTo>
                <a:cubicBezTo>
                  <a:pt x="2107" y="7453"/>
                  <a:pt x="2096" y="7525"/>
                  <a:pt x="2048" y="7584"/>
                </a:cubicBezTo>
                <a:lnTo>
                  <a:pt x="1869" y="7858"/>
                </a:lnTo>
                <a:cubicBezTo>
                  <a:pt x="1798" y="7977"/>
                  <a:pt x="1750" y="8096"/>
                  <a:pt x="1750" y="8227"/>
                </a:cubicBezTo>
                <a:lnTo>
                  <a:pt x="1750" y="8942"/>
                </a:lnTo>
                <a:cubicBezTo>
                  <a:pt x="1750" y="9025"/>
                  <a:pt x="1822" y="9108"/>
                  <a:pt x="1917" y="9108"/>
                </a:cubicBezTo>
                <a:cubicBezTo>
                  <a:pt x="2000" y="9108"/>
                  <a:pt x="2084" y="9025"/>
                  <a:pt x="2084" y="8942"/>
                </a:cubicBezTo>
                <a:lnTo>
                  <a:pt x="2084" y="8227"/>
                </a:lnTo>
                <a:cubicBezTo>
                  <a:pt x="2084" y="8156"/>
                  <a:pt x="2096" y="8073"/>
                  <a:pt x="2143" y="8013"/>
                </a:cubicBezTo>
                <a:lnTo>
                  <a:pt x="2322" y="7751"/>
                </a:lnTo>
                <a:cubicBezTo>
                  <a:pt x="2393" y="7632"/>
                  <a:pt x="2441" y="7513"/>
                  <a:pt x="2441" y="7382"/>
                </a:cubicBezTo>
                <a:lnTo>
                  <a:pt x="2441" y="5656"/>
                </a:lnTo>
                <a:cubicBezTo>
                  <a:pt x="2441" y="5453"/>
                  <a:pt x="2334" y="5275"/>
                  <a:pt x="2155" y="5191"/>
                </a:cubicBezTo>
                <a:lnTo>
                  <a:pt x="1738" y="4977"/>
                </a:lnTo>
                <a:lnTo>
                  <a:pt x="1726" y="4965"/>
                </a:lnTo>
                <a:lnTo>
                  <a:pt x="1726" y="4703"/>
                </a:lnTo>
                <a:cubicBezTo>
                  <a:pt x="1929" y="4536"/>
                  <a:pt x="2084" y="4298"/>
                  <a:pt x="2084" y="4012"/>
                </a:cubicBezTo>
                <a:lnTo>
                  <a:pt x="2084" y="3655"/>
                </a:lnTo>
                <a:cubicBezTo>
                  <a:pt x="2084" y="3405"/>
                  <a:pt x="1929" y="3179"/>
                  <a:pt x="1726" y="3060"/>
                </a:cubicBezTo>
                <a:lnTo>
                  <a:pt x="1726" y="2643"/>
                </a:lnTo>
                <a:cubicBezTo>
                  <a:pt x="1726" y="2572"/>
                  <a:pt x="1762" y="2512"/>
                  <a:pt x="1822" y="2465"/>
                </a:cubicBezTo>
                <a:lnTo>
                  <a:pt x="2107" y="2322"/>
                </a:lnTo>
                <a:lnTo>
                  <a:pt x="2381" y="2584"/>
                </a:lnTo>
                <a:cubicBezTo>
                  <a:pt x="2441" y="2643"/>
                  <a:pt x="2524" y="2691"/>
                  <a:pt x="2619" y="2691"/>
                </a:cubicBezTo>
                <a:cubicBezTo>
                  <a:pt x="2703" y="2691"/>
                  <a:pt x="2774" y="2655"/>
                  <a:pt x="2858" y="2584"/>
                </a:cubicBezTo>
                <a:lnTo>
                  <a:pt x="3119" y="2322"/>
                </a:lnTo>
                <a:lnTo>
                  <a:pt x="3405" y="2465"/>
                </a:lnTo>
                <a:cubicBezTo>
                  <a:pt x="3465" y="2500"/>
                  <a:pt x="3512" y="2572"/>
                  <a:pt x="3512" y="2643"/>
                </a:cubicBezTo>
                <a:lnTo>
                  <a:pt x="3512" y="3060"/>
                </a:lnTo>
                <a:cubicBezTo>
                  <a:pt x="3298" y="3179"/>
                  <a:pt x="3155" y="3405"/>
                  <a:pt x="3155" y="3655"/>
                </a:cubicBezTo>
                <a:lnTo>
                  <a:pt x="3155" y="4012"/>
                </a:lnTo>
                <a:cubicBezTo>
                  <a:pt x="3155" y="4298"/>
                  <a:pt x="3286" y="4548"/>
                  <a:pt x="3512" y="4703"/>
                </a:cubicBezTo>
                <a:lnTo>
                  <a:pt x="3512" y="4953"/>
                </a:lnTo>
                <a:cubicBezTo>
                  <a:pt x="3512" y="4953"/>
                  <a:pt x="3512" y="4965"/>
                  <a:pt x="3489" y="4965"/>
                </a:cubicBezTo>
                <a:lnTo>
                  <a:pt x="3072" y="5179"/>
                </a:lnTo>
                <a:cubicBezTo>
                  <a:pt x="2893" y="5263"/>
                  <a:pt x="2798" y="5441"/>
                  <a:pt x="2798" y="5632"/>
                </a:cubicBezTo>
                <a:lnTo>
                  <a:pt x="2798" y="7358"/>
                </a:lnTo>
                <a:cubicBezTo>
                  <a:pt x="2798" y="7501"/>
                  <a:pt x="2834" y="7632"/>
                  <a:pt x="2917" y="7739"/>
                </a:cubicBezTo>
                <a:lnTo>
                  <a:pt x="3096" y="8001"/>
                </a:lnTo>
                <a:cubicBezTo>
                  <a:pt x="3131" y="8061"/>
                  <a:pt x="3155" y="8132"/>
                  <a:pt x="3155" y="8215"/>
                </a:cubicBezTo>
                <a:lnTo>
                  <a:pt x="3155" y="8930"/>
                </a:lnTo>
                <a:cubicBezTo>
                  <a:pt x="3155" y="9013"/>
                  <a:pt x="3227" y="9085"/>
                  <a:pt x="3310" y="9085"/>
                </a:cubicBezTo>
                <a:cubicBezTo>
                  <a:pt x="3405" y="9085"/>
                  <a:pt x="3477" y="9013"/>
                  <a:pt x="3477" y="8930"/>
                </a:cubicBezTo>
                <a:lnTo>
                  <a:pt x="3477" y="8215"/>
                </a:lnTo>
                <a:cubicBezTo>
                  <a:pt x="3477" y="8073"/>
                  <a:pt x="3429" y="7942"/>
                  <a:pt x="3358" y="7834"/>
                </a:cubicBezTo>
                <a:lnTo>
                  <a:pt x="3179" y="7572"/>
                </a:lnTo>
                <a:cubicBezTo>
                  <a:pt x="3131" y="7513"/>
                  <a:pt x="3119" y="7441"/>
                  <a:pt x="3119" y="7358"/>
                </a:cubicBezTo>
                <a:lnTo>
                  <a:pt x="3119" y="5632"/>
                </a:lnTo>
                <a:cubicBezTo>
                  <a:pt x="3119" y="5560"/>
                  <a:pt x="3167" y="5501"/>
                  <a:pt x="3227" y="5453"/>
                </a:cubicBezTo>
                <a:lnTo>
                  <a:pt x="3512" y="5310"/>
                </a:lnTo>
                <a:lnTo>
                  <a:pt x="3774" y="5572"/>
                </a:lnTo>
                <a:cubicBezTo>
                  <a:pt x="3834" y="5632"/>
                  <a:pt x="3929" y="5679"/>
                  <a:pt x="4012" y="5679"/>
                </a:cubicBezTo>
                <a:cubicBezTo>
                  <a:pt x="4108" y="5679"/>
                  <a:pt x="4179" y="5656"/>
                  <a:pt x="4251" y="5572"/>
                </a:cubicBezTo>
                <a:lnTo>
                  <a:pt x="4524" y="5310"/>
                </a:lnTo>
                <a:lnTo>
                  <a:pt x="4798" y="5453"/>
                </a:lnTo>
                <a:cubicBezTo>
                  <a:pt x="4858" y="5489"/>
                  <a:pt x="4905" y="5560"/>
                  <a:pt x="4905" y="5632"/>
                </a:cubicBezTo>
                <a:lnTo>
                  <a:pt x="4905" y="7358"/>
                </a:lnTo>
                <a:cubicBezTo>
                  <a:pt x="4905" y="7441"/>
                  <a:pt x="4893" y="7513"/>
                  <a:pt x="4846" y="7572"/>
                </a:cubicBezTo>
                <a:lnTo>
                  <a:pt x="4667" y="7834"/>
                </a:lnTo>
                <a:cubicBezTo>
                  <a:pt x="4596" y="7953"/>
                  <a:pt x="4548" y="8073"/>
                  <a:pt x="4548" y="8215"/>
                </a:cubicBezTo>
                <a:lnTo>
                  <a:pt x="4548" y="8930"/>
                </a:lnTo>
                <a:cubicBezTo>
                  <a:pt x="4548" y="9013"/>
                  <a:pt x="4620" y="9085"/>
                  <a:pt x="4715" y="9085"/>
                </a:cubicBezTo>
                <a:cubicBezTo>
                  <a:pt x="4798" y="9085"/>
                  <a:pt x="4882" y="9013"/>
                  <a:pt x="4882" y="8930"/>
                </a:cubicBezTo>
                <a:lnTo>
                  <a:pt x="4882" y="8215"/>
                </a:lnTo>
                <a:cubicBezTo>
                  <a:pt x="4882" y="8132"/>
                  <a:pt x="4893" y="8061"/>
                  <a:pt x="4941" y="8001"/>
                </a:cubicBezTo>
                <a:lnTo>
                  <a:pt x="5120" y="7739"/>
                </a:lnTo>
                <a:cubicBezTo>
                  <a:pt x="5191" y="7620"/>
                  <a:pt x="5239" y="7501"/>
                  <a:pt x="5239" y="7358"/>
                </a:cubicBezTo>
                <a:lnTo>
                  <a:pt x="5239" y="5632"/>
                </a:lnTo>
                <a:cubicBezTo>
                  <a:pt x="5239" y="5441"/>
                  <a:pt x="5132" y="5263"/>
                  <a:pt x="4953" y="5179"/>
                </a:cubicBezTo>
                <a:lnTo>
                  <a:pt x="4536" y="4965"/>
                </a:lnTo>
                <a:lnTo>
                  <a:pt x="4524" y="4953"/>
                </a:lnTo>
                <a:lnTo>
                  <a:pt x="4524" y="4703"/>
                </a:lnTo>
                <a:cubicBezTo>
                  <a:pt x="4727" y="4536"/>
                  <a:pt x="4882" y="4298"/>
                  <a:pt x="4882" y="4012"/>
                </a:cubicBezTo>
                <a:lnTo>
                  <a:pt x="4882" y="3655"/>
                </a:lnTo>
                <a:cubicBezTo>
                  <a:pt x="4882" y="3405"/>
                  <a:pt x="4727" y="3179"/>
                  <a:pt x="4524" y="3060"/>
                </a:cubicBezTo>
                <a:lnTo>
                  <a:pt x="4524" y="2643"/>
                </a:lnTo>
                <a:cubicBezTo>
                  <a:pt x="4524" y="2572"/>
                  <a:pt x="4560" y="2512"/>
                  <a:pt x="4620" y="2465"/>
                </a:cubicBezTo>
                <a:lnTo>
                  <a:pt x="4905" y="2322"/>
                </a:lnTo>
                <a:lnTo>
                  <a:pt x="5179" y="2584"/>
                </a:lnTo>
                <a:cubicBezTo>
                  <a:pt x="5239" y="2643"/>
                  <a:pt x="5322" y="2691"/>
                  <a:pt x="5417" y="2691"/>
                </a:cubicBezTo>
                <a:cubicBezTo>
                  <a:pt x="5501" y="2691"/>
                  <a:pt x="5572" y="2655"/>
                  <a:pt x="5655" y="2584"/>
                </a:cubicBezTo>
                <a:lnTo>
                  <a:pt x="5917" y="2322"/>
                </a:lnTo>
                <a:lnTo>
                  <a:pt x="6203" y="2465"/>
                </a:lnTo>
                <a:cubicBezTo>
                  <a:pt x="6263" y="2500"/>
                  <a:pt x="6310" y="2572"/>
                  <a:pt x="6310" y="2643"/>
                </a:cubicBezTo>
                <a:lnTo>
                  <a:pt x="6310" y="3060"/>
                </a:lnTo>
                <a:cubicBezTo>
                  <a:pt x="6096" y="3179"/>
                  <a:pt x="5953" y="3405"/>
                  <a:pt x="5953" y="3655"/>
                </a:cubicBezTo>
                <a:lnTo>
                  <a:pt x="5953" y="4012"/>
                </a:lnTo>
                <a:cubicBezTo>
                  <a:pt x="5953" y="4298"/>
                  <a:pt x="6084" y="4548"/>
                  <a:pt x="6310" y="4703"/>
                </a:cubicBezTo>
                <a:lnTo>
                  <a:pt x="6310" y="4953"/>
                </a:lnTo>
                <a:cubicBezTo>
                  <a:pt x="6310" y="4953"/>
                  <a:pt x="6310" y="4965"/>
                  <a:pt x="6287" y="4965"/>
                </a:cubicBezTo>
                <a:lnTo>
                  <a:pt x="5870" y="5179"/>
                </a:lnTo>
                <a:cubicBezTo>
                  <a:pt x="5691" y="5263"/>
                  <a:pt x="5596" y="5441"/>
                  <a:pt x="5596" y="5632"/>
                </a:cubicBezTo>
                <a:lnTo>
                  <a:pt x="5596" y="7358"/>
                </a:lnTo>
                <a:cubicBezTo>
                  <a:pt x="5596" y="7501"/>
                  <a:pt x="5632" y="7632"/>
                  <a:pt x="5715" y="7739"/>
                </a:cubicBezTo>
                <a:lnTo>
                  <a:pt x="5894" y="8001"/>
                </a:lnTo>
                <a:cubicBezTo>
                  <a:pt x="5929" y="8061"/>
                  <a:pt x="5953" y="8132"/>
                  <a:pt x="5953" y="8215"/>
                </a:cubicBezTo>
                <a:lnTo>
                  <a:pt x="5953" y="8930"/>
                </a:lnTo>
                <a:cubicBezTo>
                  <a:pt x="5953" y="9013"/>
                  <a:pt x="6025" y="9085"/>
                  <a:pt x="6108" y="9085"/>
                </a:cubicBezTo>
                <a:cubicBezTo>
                  <a:pt x="6203" y="9085"/>
                  <a:pt x="6275" y="9013"/>
                  <a:pt x="6275" y="8930"/>
                </a:cubicBezTo>
                <a:lnTo>
                  <a:pt x="6275" y="8215"/>
                </a:lnTo>
                <a:cubicBezTo>
                  <a:pt x="6275" y="8073"/>
                  <a:pt x="6227" y="7942"/>
                  <a:pt x="6156" y="7834"/>
                </a:cubicBezTo>
                <a:lnTo>
                  <a:pt x="5977" y="7572"/>
                </a:lnTo>
                <a:cubicBezTo>
                  <a:pt x="5929" y="7513"/>
                  <a:pt x="5917" y="7441"/>
                  <a:pt x="5917" y="7358"/>
                </a:cubicBezTo>
                <a:lnTo>
                  <a:pt x="5917" y="5632"/>
                </a:lnTo>
                <a:cubicBezTo>
                  <a:pt x="5917" y="5560"/>
                  <a:pt x="5965" y="5501"/>
                  <a:pt x="6025" y="5453"/>
                </a:cubicBezTo>
                <a:lnTo>
                  <a:pt x="6310" y="5310"/>
                </a:lnTo>
                <a:lnTo>
                  <a:pt x="6572" y="5572"/>
                </a:lnTo>
                <a:cubicBezTo>
                  <a:pt x="6632" y="5632"/>
                  <a:pt x="6727" y="5679"/>
                  <a:pt x="6810" y="5679"/>
                </a:cubicBezTo>
                <a:cubicBezTo>
                  <a:pt x="6906" y="5679"/>
                  <a:pt x="6977" y="5656"/>
                  <a:pt x="7049" y="5572"/>
                </a:cubicBezTo>
                <a:lnTo>
                  <a:pt x="7322" y="5310"/>
                </a:lnTo>
                <a:lnTo>
                  <a:pt x="7596" y="5453"/>
                </a:lnTo>
                <a:cubicBezTo>
                  <a:pt x="7656" y="5489"/>
                  <a:pt x="7703" y="5560"/>
                  <a:pt x="7703" y="5632"/>
                </a:cubicBezTo>
                <a:lnTo>
                  <a:pt x="7703" y="7358"/>
                </a:lnTo>
                <a:cubicBezTo>
                  <a:pt x="7703" y="7441"/>
                  <a:pt x="7691" y="7513"/>
                  <a:pt x="7644" y="7572"/>
                </a:cubicBezTo>
                <a:lnTo>
                  <a:pt x="7465" y="7834"/>
                </a:lnTo>
                <a:cubicBezTo>
                  <a:pt x="7394" y="7953"/>
                  <a:pt x="7346" y="8073"/>
                  <a:pt x="7346" y="8215"/>
                </a:cubicBezTo>
                <a:lnTo>
                  <a:pt x="7346" y="8930"/>
                </a:lnTo>
                <a:cubicBezTo>
                  <a:pt x="7346" y="9013"/>
                  <a:pt x="7418" y="9085"/>
                  <a:pt x="7513" y="9085"/>
                </a:cubicBezTo>
                <a:cubicBezTo>
                  <a:pt x="7596" y="9085"/>
                  <a:pt x="7680" y="9013"/>
                  <a:pt x="7680" y="8930"/>
                </a:cubicBezTo>
                <a:lnTo>
                  <a:pt x="7680" y="8215"/>
                </a:lnTo>
                <a:cubicBezTo>
                  <a:pt x="7680" y="8132"/>
                  <a:pt x="7691" y="8061"/>
                  <a:pt x="7739" y="8001"/>
                </a:cubicBezTo>
                <a:lnTo>
                  <a:pt x="7918" y="7739"/>
                </a:lnTo>
                <a:cubicBezTo>
                  <a:pt x="7989" y="7620"/>
                  <a:pt x="8037" y="7501"/>
                  <a:pt x="8037" y="7358"/>
                </a:cubicBezTo>
                <a:lnTo>
                  <a:pt x="8037" y="5632"/>
                </a:lnTo>
                <a:cubicBezTo>
                  <a:pt x="8037" y="5441"/>
                  <a:pt x="7930" y="5263"/>
                  <a:pt x="7751" y="5179"/>
                </a:cubicBezTo>
                <a:lnTo>
                  <a:pt x="7334" y="4965"/>
                </a:lnTo>
                <a:lnTo>
                  <a:pt x="7322" y="4953"/>
                </a:lnTo>
                <a:lnTo>
                  <a:pt x="7322" y="4703"/>
                </a:lnTo>
                <a:cubicBezTo>
                  <a:pt x="7525" y="4536"/>
                  <a:pt x="7680" y="4298"/>
                  <a:pt x="7680" y="4012"/>
                </a:cubicBezTo>
                <a:lnTo>
                  <a:pt x="7680" y="3655"/>
                </a:lnTo>
                <a:cubicBezTo>
                  <a:pt x="7680" y="3405"/>
                  <a:pt x="7525" y="3179"/>
                  <a:pt x="7322" y="3060"/>
                </a:cubicBezTo>
                <a:lnTo>
                  <a:pt x="7322" y="2643"/>
                </a:lnTo>
                <a:cubicBezTo>
                  <a:pt x="7322" y="2572"/>
                  <a:pt x="7358" y="2512"/>
                  <a:pt x="7418" y="2465"/>
                </a:cubicBezTo>
                <a:lnTo>
                  <a:pt x="7703" y="2322"/>
                </a:lnTo>
                <a:lnTo>
                  <a:pt x="7977" y="2584"/>
                </a:lnTo>
                <a:cubicBezTo>
                  <a:pt x="8037" y="2643"/>
                  <a:pt x="8120" y="2691"/>
                  <a:pt x="8215" y="2691"/>
                </a:cubicBezTo>
                <a:cubicBezTo>
                  <a:pt x="8299" y="2691"/>
                  <a:pt x="8370" y="2655"/>
                  <a:pt x="8453" y="2584"/>
                </a:cubicBezTo>
                <a:lnTo>
                  <a:pt x="8715" y="2322"/>
                </a:lnTo>
                <a:lnTo>
                  <a:pt x="9001" y="2465"/>
                </a:lnTo>
                <a:cubicBezTo>
                  <a:pt x="9061" y="2500"/>
                  <a:pt x="9108" y="2572"/>
                  <a:pt x="9108" y="2643"/>
                </a:cubicBezTo>
                <a:lnTo>
                  <a:pt x="9108" y="3060"/>
                </a:lnTo>
                <a:cubicBezTo>
                  <a:pt x="8894" y="3179"/>
                  <a:pt x="8751" y="3405"/>
                  <a:pt x="8751" y="3655"/>
                </a:cubicBezTo>
                <a:lnTo>
                  <a:pt x="8751" y="4012"/>
                </a:lnTo>
                <a:cubicBezTo>
                  <a:pt x="8751" y="4298"/>
                  <a:pt x="8882" y="4548"/>
                  <a:pt x="9108" y="4703"/>
                </a:cubicBezTo>
                <a:lnTo>
                  <a:pt x="9108" y="4953"/>
                </a:lnTo>
                <a:cubicBezTo>
                  <a:pt x="9108" y="4953"/>
                  <a:pt x="9108" y="4965"/>
                  <a:pt x="9084" y="4965"/>
                </a:cubicBezTo>
                <a:lnTo>
                  <a:pt x="8668" y="5179"/>
                </a:lnTo>
                <a:cubicBezTo>
                  <a:pt x="8489" y="5263"/>
                  <a:pt x="8394" y="5441"/>
                  <a:pt x="8394" y="5632"/>
                </a:cubicBezTo>
                <a:lnTo>
                  <a:pt x="8394" y="7358"/>
                </a:lnTo>
                <a:cubicBezTo>
                  <a:pt x="8394" y="7501"/>
                  <a:pt x="8430" y="7632"/>
                  <a:pt x="8513" y="7739"/>
                </a:cubicBezTo>
                <a:lnTo>
                  <a:pt x="8692" y="8001"/>
                </a:lnTo>
                <a:cubicBezTo>
                  <a:pt x="8727" y="8061"/>
                  <a:pt x="8751" y="8132"/>
                  <a:pt x="8751" y="8215"/>
                </a:cubicBezTo>
                <a:lnTo>
                  <a:pt x="8751" y="8930"/>
                </a:lnTo>
                <a:cubicBezTo>
                  <a:pt x="8751" y="9013"/>
                  <a:pt x="8823" y="9085"/>
                  <a:pt x="8906" y="9085"/>
                </a:cubicBezTo>
                <a:cubicBezTo>
                  <a:pt x="9001" y="9085"/>
                  <a:pt x="9073" y="9013"/>
                  <a:pt x="9073" y="8930"/>
                </a:cubicBezTo>
                <a:lnTo>
                  <a:pt x="9073" y="8215"/>
                </a:lnTo>
                <a:cubicBezTo>
                  <a:pt x="9073" y="8073"/>
                  <a:pt x="9025" y="7942"/>
                  <a:pt x="8954" y="7834"/>
                </a:cubicBezTo>
                <a:lnTo>
                  <a:pt x="8775" y="7572"/>
                </a:lnTo>
                <a:cubicBezTo>
                  <a:pt x="8727" y="7513"/>
                  <a:pt x="8715" y="7441"/>
                  <a:pt x="8715" y="7358"/>
                </a:cubicBezTo>
                <a:lnTo>
                  <a:pt x="8715" y="5632"/>
                </a:lnTo>
                <a:cubicBezTo>
                  <a:pt x="8715" y="5560"/>
                  <a:pt x="8763" y="5501"/>
                  <a:pt x="8823" y="5453"/>
                </a:cubicBezTo>
                <a:lnTo>
                  <a:pt x="9108" y="5310"/>
                </a:lnTo>
                <a:lnTo>
                  <a:pt x="9370" y="5572"/>
                </a:lnTo>
                <a:cubicBezTo>
                  <a:pt x="9430" y="5632"/>
                  <a:pt x="9525" y="5679"/>
                  <a:pt x="9608" y="5679"/>
                </a:cubicBezTo>
                <a:cubicBezTo>
                  <a:pt x="9704" y="5679"/>
                  <a:pt x="9775" y="5656"/>
                  <a:pt x="9846" y="5572"/>
                </a:cubicBezTo>
                <a:lnTo>
                  <a:pt x="10120" y="5310"/>
                </a:lnTo>
                <a:lnTo>
                  <a:pt x="10394" y="5453"/>
                </a:lnTo>
                <a:cubicBezTo>
                  <a:pt x="10454" y="5489"/>
                  <a:pt x="10501" y="5560"/>
                  <a:pt x="10501" y="5632"/>
                </a:cubicBezTo>
                <a:lnTo>
                  <a:pt x="10501" y="7358"/>
                </a:lnTo>
                <a:cubicBezTo>
                  <a:pt x="10501" y="7441"/>
                  <a:pt x="10489" y="7513"/>
                  <a:pt x="10442" y="7572"/>
                </a:cubicBezTo>
                <a:lnTo>
                  <a:pt x="10263" y="7834"/>
                </a:lnTo>
                <a:cubicBezTo>
                  <a:pt x="10192" y="7953"/>
                  <a:pt x="10144" y="8073"/>
                  <a:pt x="10144" y="8215"/>
                </a:cubicBezTo>
                <a:lnTo>
                  <a:pt x="10144" y="8930"/>
                </a:lnTo>
                <a:cubicBezTo>
                  <a:pt x="10144" y="9013"/>
                  <a:pt x="10216" y="9085"/>
                  <a:pt x="10311" y="9085"/>
                </a:cubicBezTo>
                <a:cubicBezTo>
                  <a:pt x="10394" y="9085"/>
                  <a:pt x="10478" y="9013"/>
                  <a:pt x="10478" y="8930"/>
                </a:cubicBezTo>
                <a:lnTo>
                  <a:pt x="10478" y="8215"/>
                </a:lnTo>
                <a:cubicBezTo>
                  <a:pt x="10478" y="8132"/>
                  <a:pt x="10489" y="8061"/>
                  <a:pt x="10537" y="8001"/>
                </a:cubicBezTo>
                <a:lnTo>
                  <a:pt x="10716" y="7739"/>
                </a:lnTo>
                <a:cubicBezTo>
                  <a:pt x="10787" y="7620"/>
                  <a:pt x="10835" y="7501"/>
                  <a:pt x="10835" y="7358"/>
                </a:cubicBezTo>
                <a:lnTo>
                  <a:pt x="10835" y="5632"/>
                </a:lnTo>
                <a:cubicBezTo>
                  <a:pt x="10918" y="5429"/>
                  <a:pt x="10811" y="5251"/>
                  <a:pt x="10632" y="5155"/>
                </a:cubicBezTo>
                <a:lnTo>
                  <a:pt x="10216" y="4953"/>
                </a:lnTo>
                <a:lnTo>
                  <a:pt x="10204" y="4941"/>
                </a:lnTo>
                <a:lnTo>
                  <a:pt x="10204" y="4703"/>
                </a:lnTo>
                <a:cubicBezTo>
                  <a:pt x="10418" y="4536"/>
                  <a:pt x="10561" y="4298"/>
                  <a:pt x="10561" y="4012"/>
                </a:cubicBezTo>
                <a:lnTo>
                  <a:pt x="10561" y="3655"/>
                </a:lnTo>
                <a:cubicBezTo>
                  <a:pt x="10561" y="3286"/>
                  <a:pt x="10251" y="2977"/>
                  <a:pt x="9882" y="2977"/>
                </a:cubicBezTo>
                <a:lnTo>
                  <a:pt x="9501" y="2977"/>
                </a:lnTo>
                <a:lnTo>
                  <a:pt x="9501" y="2643"/>
                </a:lnTo>
                <a:cubicBezTo>
                  <a:pt x="9501" y="2453"/>
                  <a:pt x="9406" y="2274"/>
                  <a:pt x="9227" y="2179"/>
                </a:cubicBezTo>
                <a:lnTo>
                  <a:pt x="8811" y="1977"/>
                </a:lnTo>
                <a:lnTo>
                  <a:pt x="8787" y="1953"/>
                </a:lnTo>
                <a:lnTo>
                  <a:pt x="8787" y="1726"/>
                </a:lnTo>
                <a:cubicBezTo>
                  <a:pt x="9001" y="1560"/>
                  <a:pt x="9144" y="1322"/>
                  <a:pt x="9144" y="1036"/>
                </a:cubicBezTo>
                <a:lnTo>
                  <a:pt x="9144" y="679"/>
                </a:lnTo>
                <a:cubicBezTo>
                  <a:pt x="9144" y="310"/>
                  <a:pt x="8834" y="0"/>
                  <a:pt x="8465" y="0"/>
                </a:cubicBezTo>
                <a:lnTo>
                  <a:pt x="8108" y="0"/>
                </a:lnTo>
                <a:cubicBezTo>
                  <a:pt x="7739" y="0"/>
                  <a:pt x="7418" y="310"/>
                  <a:pt x="7418" y="679"/>
                </a:cubicBezTo>
                <a:lnTo>
                  <a:pt x="7418" y="1036"/>
                </a:lnTo>
                <a:cubicBezTo>
                  <a:pt x="7418" y="1322"/>
                  <a:pt x="7560" y="1572"/>
                  <a:pt x="7775" y="1726"/>
                </a:cubicBezTo>
                <a:lnTo>
                  <a:pt x="7775" y="1977"/>
                </a:lnTo>
                <a:cubicBezTo>
                  <a:pt x="7775" y="1977"/>
                  <a:pt x="7775" y="1988"/>
                  <a:pt x="7763" y="1988"/>
                </a:cubicBezTo>
                <a:lnTo>
                  <a:pt x="7346" y="2203"/>
                </a:lnTo>
                <a:cubicBezTo>
                  <a:pt x="7168" y="2286"/>
                  <a:pt x="7060" y="2465"/>
                  <a:pt x="7060" y="2655"/>
                </a:cubicBezTo>
                <a:lnTo>
                  <a:pt x="7060" y="2989"/>
                </a:lnTo>
                <a:lnTo>
                  <a:pt x="6679" y="2989"/>
                </a:lnTo>
                <a:lnTo>
                  <a:pt x="6679" y="2655"/>
                </a:lnTo>
                <a:cubicBezTo>
                  <a:pt x="6679" y="2465"/>
                  <a:pt x="6572" y="2286"/>
                  <a:pt x="6394" y="2203"/>
                </a:cubicBezTo>
                <a:lnTo>
                  <a:pt x="5977" y="1988"/>
                </a:lnTo>
                <a:lnTo>
                  <a:pt x="5965" y="1977"/>
                </a:lnTo>
                <a:lnTo>
                  <a:pt x="5965" y="1726"/>
                </a:lnTo>
                <a:cubicBezTo>
                  <a:pt x="6167" y="1560"/>
                  <a:pt x="6322" y="1322"/>
                  <a:pt x="6322" y="1036"/>
                </a:cubicBezTo>
                <a:lnTo>
                  <a:pt x="6322" y="679"/>
                </a:lnTo>
                <a:cubicBezTo>
                  <a:pt x="6322" y="310"/>
                  <a:pt x="6013" y="0"/>
                  <a:pt x="5632" y="0"/>
                </a:cubicBezTo>
                <a:lnTo>
                  <a:pt x="5274" y="0"/>
                </a:lnTo>
                <a:cubicBezTo>
                  <a:pt x="4905" y="0"/>
                  <a:pt x="4596" y="310"/>
                  <a:pt x="4596" y="679"/>
                </a:cubicBezTo>
                <a:lnTo>
                  <a:pt x="4596" y="1036"/>
                </a:lnTo>
                <a:cubicBezTo>
                  <a:pt x="4596" y="1322"/>
                  <a:pt x="4727" y="1572"/>
                  <a:pt x="4953" y="1726"/>
                </a:cubicBezTo>
                <a:lnTo>
                  <a:pt x="4953" y="1977"/>
                </a:lnTo>
                <a:cubicBezTo>
                  <a:pt x="4953" y="1977"/>
                  <a:pt x="4953" y="1988"/>
                  <a:pt x="4941" y="1988"/>
                </a:cubicBezTo>
                <a:lnTo>
                  <a:pt x="4524" y="2203"/>
                </a:lnTo>
                <a:cubicBezTo>
                  <a:pt x="4346" y="2286"/>
                  <a:pt x="4239" y="2465"/>
                  <a:pt x="4239" y="2655"/>
                </a:cubicBezTo>
                <a:lnTo>
                  <a:pt x="4239" y="2989"/>
                </a:lnTo>
                <a:lnTo>
                  <a:pt x="3846" y="2989"/>
                </a:lnTo>
                <a:lnTo>
                  <a:pt x="3846" y="2655"/>
                </a:lnTo>
                <a:cubicBezTo>
                  <a:pt x="3846" y="2465"/>
                  <a:pt x="3750" y="2286"/>
                  <a:pt x="3572" y="2203"/>
                </a:cubicBezTo>
                <a:lnTo>
                  <a:pt x="3155" y="1988"/>
                </a:lnTo>
                <a:lnTo>
                  <a:pt x="3131" y="1977"/>
                </a:lnTo>
                <a:lnTo>
                  <a:pt x="3131" y="1726"/>
                </a:lnTo>
                <a:cubicBezTo>
                  <a:pt x="3346" y="1560"/>
                  <a:pt x="3489" y="1322"/>
                  <a:pt x="3489" y="1036"/>
                </a:cubicBezTo>
                <a:lnTo>
                  <a:pt x="3489" y="679"/>
                </a:lnTo>
                <a:cubicBezTo>
                  <a:pt x="3489" y="310"/>
                  <a:pt x="3179" y="0"/>
                  <a:pt x="2810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Picture 248">
            <a:extLst>
              <a:ext uri="{FF2B5EF4-FFF2-40B4-BE49-F238E27FC236}">
                <a16:creationId xmlns:a16="http://schemas.microsoft.com/office/drawing/2014/main" id="{23E2F14E-1A96-4407-B3A5-EDEC4E6EB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50" y="2705157"/>
            <a:ext cx="457200" cy="457200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051AB73D-06E1-17B4-1E1B-A4106B49C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20" y="3593306"/>
            <a:ext cx="45720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5159A5-C8AD-D4AB-200C-233389610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694" y="1901282"/>
            <a:ext cx="290595" cy="290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092DCE-C625-CEA8-7C2D-9E1AC9039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418" y="2433021"/>
            <a:ext cx="293565" cy="2935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1DD001-875C-DF65-BDBD-67C6B7F10D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255" y="1964765"/>
            <a:ext cx="526745" cy="5267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F49D5A-435B-630E-5B37-24EBE6D796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0159" y="3315648"/>
            <a:ext cx="460939" cy="4609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44"/>
          <p:cNvSpPr txBox="1">
            <a:spLocks noGrp="1"/>
          </p:cNvSpPr>
          <p:nvPr>
            <p:ph type="title"/>
          </p:nvPr>
        </p:nvSpPr>
        <p:spPr>
          <a:xfrm>
            <a:off x="787619" y="-114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Decomposition of Time Series</a:t>
            </a:r>
            <a:endParaRPr dirty="0"/>
          </a:p>
        </p:txBody>
      </p:sp>
      <p:sp>
        <p:nvSpPr>
          <p:cNvPr id="1335" name="Google Shape;1335;p44"/>
          <p:cNvSpPr txBox="1"/>
          <p:nvPr/>
        </p:nvSpPr>
        <p:spPr>
          <a:xfrm>
            <a:off x="7221875" y="2865383"/>
            <a:ext cx="825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rPr>
              <a:t>10%</a:t>
            </a:r>
            <a:endParaRPr sz="2400" dirty="0">
              <a:solidFill>
                <a:schemeClr val="accent2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37" name="Google Shape;1337;p44"/>
          <p:cNvSpPr txBox="1"/>
          <p:nvPr/>
        </p:nvSpPr>
        <p:spPr>
          <a:xfrm>
            <a:off x="6856782" y="4561383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RANDOM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39" name="Google Shape;1339;p44"/>
          <p:cNvSpPr txBox="1"/>
          <p:nvPr/>
        </p:nvSpPr>
        <p:spPr>
          <a:xfrm>
            <a:off x="4159194" y="2865487"/>
            <a:ext cx="825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rPr>
              <a:t>20%</a:t>
            </a:r>
            <a:endParaRPr sz="2400" dirty="0">
              <a:solidFill>
                <a:schemeClr val="accent2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41" name="Google Shape;1341;p44"/>
          <p:cNvSpPr txBox="1"/>
          <p:nvPr/>
        </p:nvSpPr>
        <p:spPr>
          <a:xfrm>
            <a:off x="3477450" y="453973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SEASONAL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43" name="Google Shape;1343;p44"/>
          <p:cNvSpPr txBox="1"/>
          <p:nvPr/>
        </p:nvSpPr>
        <p:spPr>
          <a:xfrm>
            <a:off x="1096519" y="2865384"/>
            <a:ext cx="825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rPr>
              <a:t>70%</a:t>
            </a:r>
            <a:endParaRPr sz="2400" dirty="0">
              <a:solidFill>
                <a:schemeClr val="accent2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45" name="Google Shape;1345;p44"/>
          <p:cNvSpPr txBox="1"/>
          <p:nvPr/>
        </p:nvSpPr>
        <p:spPr>
          <a:xfrm>
            <a:off x="366030" y="453973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TREND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347" name="Google Shape;1347;p44"/>
          <p:cNvSpPr txBox="1"/>
          <p:nvPr/>
        </p:nvSpPr>
        <p:spPr>
          <a:xfrm>
            <a:off x="3626244" y="1931252"/>
            <a:ext cx="189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OBSERVATIONS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1352" name="Google Shape;1352;p44"/>
          <p:cNvCxnSpPr>
            <a:stCxn id="1347" idx="2"/>
            <a:endCxn id="1343" idx="0"/>
          </p:cNvCxnSpPr>
          <p:nvPr/>
        </p:nvCxnSpPr>
        <p:spPr>
          <a:xfrm rot="5400000">
            <a:off x="2802191" y="1095581"/>
            <a:ext cx="476932" cy="306267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D6E1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1353" name="Google Shape;1353;p44"/>
          <p:cNvCxnSpPr>
            <a:stCxn id="1347" idx="2"/>
            <a:endCxn id="1335" idx="0"/>
          </p:cNvCxnSpPr>
          <p:nvPr/>
        </p:nvCxnSpPr>
        <p:spPr>
          <a:xfrm rot="16200000" flipH="1">
            <a:off x="5864869" y="1095576"/>
            <a:ext cx="476931" cy="306268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D6E1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1354" name="Google Shape;1354;p44"/>
          <p:cNvCxnSpPr>
            <a:stCxn id="1347" idx="2"/>
            <a:endCxn id="1339" idx="0"/>
          </p:cNvCxnSpPr>
          <p:nvPr/>
        </p:nvCxnSpPr>
        <p:spPr>
          <a:xfrm>
            <a:off x="4571994" y="2388452"/>
            <a:ext cx="0" cy="477035"/>
          </a:xfrm>
          <a:prstGeom prst="straightConnector1">
            <a:avLst/>
          </a:prstGeom>
          <a:noFill/>
          <a:ln w="19050" cap="flat" cmpd="sng">
            <a:solidFill>
              <a:srgbClr val="FFD6E1"/>
            </a:solidFill>
            <a:prstDash val="dash"/>
            <a:round/>
            <a:headEnd type="oval" w="med" len="med"/>
            <a:tailEnd type="oval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C81E4CB-C432-5369-29C7-CC3E9763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660" y="561201"/>
            <a:ext cx="5022668" cy="1401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F0B235-B64C-0309-DC27-8C7B8936A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64" y="3276984"/>
            <a:ext cx="2646673" cy="1311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6F3F9C-D229-6BD5-7D1C-19B5360D4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909" y="3286733"/>
            <a:ext cx="2555627" cy="13203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19E002-99E8-1D76-8614-E0131613BC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7147" y="3283720"/>
            <a:ext cx="2734056" cy="13181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A8BDB74-3AFE-F9AD-5F91-3DE4278B87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9376" y="3852377"/>
            <a:ext cx="180836" cy="1808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08EF58-3683-4314-0A3A-F91413D9F6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8138" y="3852377"/>
            <a:ext cx="180836" cy="1808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860948" y="0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Test and Train Split</a:t>
            </a:r>
            <a:endParaRPr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BF302C-A615-3335-E4F9-1926BB4C0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50" y="493123"/>
            <a:ext cx="8837023" cy="2191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F151DD-98FD-E9F3-5920-78A3F2A4C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50" y="2733645"/>
            <a:ext cx="8833104" cy="231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F804C89-4C77-FBCF-3B08-63ED84BB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15" y="633663"/>
            <a:ext cx="4360755" cy="4403558"/>
          </a:xfrm>
          <a:prstGeom prst="rect">
            <a:avLst/>
          </a:prstGeom>
        </p:spPr>
      </p:pic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0" y="200875"/>
            <a:ext cx="94676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Forecasting with Default Settings</a:t>
            </a:r>
            <a:endParaRPr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22833-4056-10D7-FAB4-5D1A5E600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526" y="829766"/>
            <a:ext cx="1023078" cy="792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497581-960C-CB12-4714-E12357272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077" y="1812814"/>
            <a:ext cx="2632165" cy="18802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40B77A-9FCE-7458-202A-804672E95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1782" y="1892746"/>
            <a:ext cx="338161" cy="338161"/>
          </a:xfrm>
          <a:prstGeom prst="rect">
            <a:avLst/>
          </a:prstGeom>
        </p:spPr>
      </p:pic>
      <p:sp>
        <p:nvSpPr>
          <p:cNvPr id="3" name="Left Brace 2">
            <a:extLst>
              <a:ext uri="{FF2B5EF4-FFF2-40B4-BE49-F238E27FC236}">
                <a16:creationId xmlns:a16="http://schemas.microsoft.com/office/drawing/2014/main" id="{A0454A1C-47A0-0CA3-F07B-8E17E8F78EF9}"/>
              </a:ext>
            </a:extLst>
          </p:cNvPr>
          <p:cNvSpPr/>
          <p:nvPr/>
        </p:nvSpPr>
        <p:spPr>
          <a:xfrm flipH="1">
            <a:off x="3942640" y="868723"/>
            <a:ext cx="276691" cy="675278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52C90-11BA-04EF-E893-1727629422F3}"/>
              </a:ext>
            </a:extLst>
          </p:cNvPr>
          <p:cNvSpPr txBox="1"/>
          <p:nvPr/>
        </p:nvSpPr>
        <p:spPr>
          <a:xfrm>
            <a:off x="4496340" y="1052474"/>
            <a:ext cx="1606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Modelling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31BF828-1EC0-E0AA-709D-85EA8CDAB19A}"/>
              </a:ext>
            </a:extLst>
          </p:cNvPr>
          <p:cNvSpPr/>
          <p:nvPr/>
        </p:nvSpPr>
        <p:spPr>
          <a:xfrm flipH="1">
            <a:off x="3942640" y="2341184"/>
            <a:ext cx="306585" cy="2524422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D1C9C-F127-422D-1AE4-516B98260B1F}"/>
              </a:ext>
            </a:extLst>
          </p:cNvPr>
          <p:cNvSpPr txBox="1"/>
          <p:nvPr/>
        </p:nvSpPr>
        <p:spPr>
          <a:xfrm>
            <a:off x="4481070" y="3467358"/>
            <a:ext cx="1606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Visualization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87BBC4-91F5-664A-A5D9-FCD823591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960" y="3918235"/>
            <a:ext cx="843806" cy="973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11FA82-00A4-61E7-633D-62609F2BA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279" y="3434314"/>
            <a:ext cx="338161" cy="3381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A0170-FCEA-F760-EAF0-2526389EED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2159" y="732172"/>
            <a:ext cx="491098" cy="5662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0DE600-4258-590B-E3D6-BA21F7844B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7252" y="747303"/>
            <a:ext cx="491099" cy="5686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884661-76E1-9B0F-3F7C-BB154B0EDE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5713" y="1141815"/>
            <a:ext cx="491651" cy="5669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B4E277-37EC-6F49-125A-847C3A1C0F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6811" y="1134293"/>
            <a:ext cx="489620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71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789102" y="0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/>
              <a:t>Accuracy</a:t>
            </a:r>
            <a:r>
              <a:rPr lang="en" sz="2000" dirty="0"/>
              <a:t> with Default Settings</a:t>
            </a:r>
            <a:endParaRPr sz="2000" dirty="0"/>
          </a:p>
        </p:txBody>
      </p:sp>
      <p:sp>
        <p:nvSpPr>
          <p:cNvPr id="2" name="Google Shape;207;p16">
            <a:extLst>
              <a:ext uri="{FF2B5EF4-FFF2-40B4-BE49-F238E27FC236}">
                <a16:creationId xmlns:a16="http://schemas.microsoft.com/office/drawing/2014/main" id="{FA6EB4FD-0934-4AAB-FD0E-11E1F511956A}"/>
              </a:ext>
            </a:extLst>
          </p:cNvPr>
          <p:cNvSpPr txBox="1">
            <a:spLocks/>
          </p:cNvSpPr>
          <p:nvPr/>
        </p:nvSpPr>
        <p:spPr>
          <a:xfrm>
            <a:off x="132400" y="389131"/>
            <a:ext cx="7704000" cy="26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100" dirty="0"/>
              <a:t>Overall Forecast Error of 8% 50 days ahead Error of 4%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1834D-FA05-FB5A-DED0-42BF021CB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00" y="650790"/>
            <a:ext cx="8879200" cy="20040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6FA763-7095-A315-37AB-4549A1939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0" y="2916510"/>
            <a:ext cx="8879200" cy="2059350"/>
          </a:xfrm>
          <a:prstGeom prst="rect">
            <a:avLst/>
          </a:prstGeom>
        </p:spPr>
      </p:pic>
      <p:sp>
        <p:nvSpPr>
          <p:cNvPr id="8" name="Google Shape;207;p16">
            <a:extLst>
              <a:ext uri="{FF2B5EF4-FFF2-40B4-BE49-F238E27FC236}">
                <a16:creationId xmlns:a16="http://schemas.microsoft.com/office/drawing/2014/main" id="{F64B872E-3D50-2261-A8F8-7258F8C3DF2B}"/>
              </a:ext>
            </a:extLst>
          </p:cNvPr>
          <p:cNvSpPr txBox="1">
            <a:spLocks/>
          </p:cNvSpPr>
          <p:nvPr/>
        </p:nvSpPr>
        <p:spPr>
          <a:xfrm>
            <a:off x="0" y="2654850"/>
            <a:ext cx="7704000" cy="26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000" dirty="0"/>
              <a:t>   </a:t>
            </a:r>
            <a:r>
              <a:rPr lang="en-US" sz="1100" dirty="0"/>
              <a:t>Overall Forecast Error of 10% 50 days ahead Error of 7%</a:t>
            </a:r>
          </a:p>
        </p:txBody>
      </p:sp>
    </p:spTree>
    <p:extLst>
      <p:ext uri="{BB962C8B-B14F-4D97-AF65-F5344CB8AC3E}">
        <p14:creationId xmlns:p14="http://schemas.microsoft.com/office/powerpoint/2010/main" val="2010711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743381" y="91848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/>
              <a:t>Forecast Horizon Vs Forecast Accuracy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20A97-BA52-F3B5-D065-51C701681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0" y="658906"/>
            <a:ext cx="8863148" cy="429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51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762976" y="71846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Importance</a:t>
            </a:r>
            <a:r>
              <a:rPr lang="ro-MD" sz="2000" dirty="0"/>
              <a:t> of EDA in Modelling</a:t>
            </a:r>
            <a:endParaRPr sz="2000" dirty="0"/>
          </a:p>
        </p:txBody>
      </p:sp>
      <p:sp>
        <p:nvSpPr>
          <p:cNvPr id="8" name="Google Shape;228;p16">
            <a:extLst>
              <a:ext uri="{FF2B5EF4-FFF2-40B4-BE49-F238E27FC236}">
                <a16:creationId xmlns:a16="http://schemas.microsoft.com/office/drawing/2014/main" id="{9489242F-599A-4C12-52AD-49DC889C77F3}"/>
              </a:ext>
            </a:extLst>
          </p:cNvPr>
          <p:cNvSpPr txBox="1"/>
          <p:nvPr/>
        </p:nvSpPr>
        <p:spPr>
          <a:xfrm>
            <a:off x="246965" y="527039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REMOVE OUTLIERS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7A9FA3-0ED7-B589-E479-DE80DA9F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055" y="529046"/>
            <a:ext cx="374810" cy="374810"/>
          </a:xfrm>
          <a:prstGeom prst="rect">
            <a:avLst/>
          </a:prstGeom>
        </p:spPr>
      </p:pic>
      <p:sp>
        <p:nvSpPr>
          <p:cNvPr id="15" name="Google Shape;228;p16">
            <a:extLst>
              <a:ext uri="{FF2B5EF4-FFF2-40B4-BE49-F238E27FC236}">
                <a16:creationId xmlns:a16="http://schemas.microsoft.com/office/drawing/2014/main" id="{BEF29CC3-C7D5-51FA-74CB-7DF633486128}"/>
              </a:ext>
            </a:extLst>
          </p:cNvPr>
          <p:cNvSpPr txBox="1"/>
          <p:nvPr/>
        </p:nvSpPr>
        <p:spPr>
          <a:xfrm>
            <a:off x="3161205" y="527039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PARAMETERS TUNING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ED55DC-9BEC-E543-0777-E8FC7B620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505" y="630017"/>
            <a:ext cx="317552" cy="317552"/>
          </a:xfrm>
          <a:prstGeom prst="rect">
            <a:avLst/>
          </a:prstGeom>
        </p:spPr>
      </p:pic>
      <p:sp>
        <p:nvSpPr>
          <p:cNvPr id="20" name="Google Shape;228;p16">
            <a:extLst>
              <a:ext uri="{FF2B5EF4-FFF2-40B4-BE49-F238E27FC236}">
                <a16:creationId xmlns:a16="http://schemas.microsoft.com/office/drawing/2014/main" id="{AB604B4D-40D3-A84B-BFE9-DABAB4BCF992}"/>
              </a:ext>
            </a:extLst>
          </p:cNvPr>
          <p:cNvSpPr txBox="1"/>
          <p:nvPr/>
        </p:nvSpPr>
        <p:spPr>
          <a:xfrm>
            <a:off x="6221655" y="529046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PREDICTION</a:t>
            </a:r>
            <a:endParaRPr sz="15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E44009C-8CFA-CCF5-F860-445245638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272" y="524948"/>
            <a:ext cx="355725" cy="355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FA282D-44D3-85E7-CEC7-87016CE4C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9" y="984240"/>
            <a:ext cx="2894011" cy="4006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2503AE-A393-166C-7C7D-D56BE49E7F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2755" y="984238"/>
            <a:ext cx="3091828" cy="40068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2FF9EF-76E8-DD2D-7573-9008500AE1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057" y="984238"/>
            <a:ext cx="2722534" cy="400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3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2710724" y="0"/>
            <a:ext cx="7704000" cy="35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Accuracy Improvement after Preprocessing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F6D98-E45F-4962-7486-F122EF4F8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76" y="660525"/>
            <a:ext cx="8878824" cy="1968375"/>
          </a:xfrm>
          <a:prstGeom prst="rect">
            <a:avLst/>
          </a:prstGeom>
        </p:spPr>
      </p:pic>
      <p:sp>
        <p:nvSpPr>
          <p:cNvPr id="5" name="Google Shape;207;p16">
            <a:extLst>
              <a:ext uri="{FF2B5EF4-FFF2-40B4-BE49-F238E27FC236}">
                <a16:creationId xmlns:a16="http://schemas.microsoft.com/office/drawing/2014/main" id="{4F416929-332C-21D9-DECB-96895B23B37C}"/>
              </a:ext>
            </a:extLst>
          </p:cNvPr>
          <p:cNvSpPr txBox="1">
            <a:spLocks/>
          </p:cNvSpPr>
          <p:nvPr/>
        </p:nvSpPr>
        <p:spPr>
          <a:xfrm>
            <a:off x="56200" y="373380"/>
            <a:ext cx="7704000" cy="35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000" dirty="0"/>
              <a:t>Overall Forecast Error of 6% 50 days ahead Error of 2%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FC0FA2-F013-CD74-F0F8-4718D8567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0" y="2833433"/>
            <a:ext cx="9011600" cy="2187448"/>
          </a:xfrm>
          <a:prstGeom prst="rect">
            <a:avLst/>
          </a:prstGeom>
        </p:spPr>
      </p:pic>
      <p:sp>
        <p:nvSpPr>
          <p:cNvPr id="9" name="Google Shape;207;p16">
            <a:extLst>
              <a:ext uri="{FF2B5EF4-FFF2-40B4-BE49-F238E27FC236}">
                <a16:creationId xmlns:a16="http://schemas.microsoft.com/office/drawing/2014/main" id="{46C003E0-9890-C91B-8315-D3313D722D84}"/>
              </a:ext>
            </a:extLst>
          </p:cNvPr>
          <p:cNvSpPr txBox="1">
            <a:spLocks/>
          </p:cNvSpPr>
          <p:nvPr/>
        </p:nvSpPr>
        <p:spPr>
          <a:xfrm>
            <a:off x="56200" y="2569752"/>
            <a:ext cx="7704000" cy="35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000" dirty="0"/>
              <a:t>Overall Forecast Error of 8% 50 days ahead Error of 5%</a:t>
            </a:r>
          </a:p>
        </p:txBody>
      </p:sp>
    </p:spTree>
    <p:extLst>
      <p:ext uri="{BB962C8B-B14F-4D97-AF65-F5344CB8AC3E}">
        <p14:creationId xmlns:p14="http://schemas.microsoft.com/office/powerpoint/2010/main" val="2813154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PROCESSING PIPELINE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8" name="Google Shape;868;p32"/>
          <p:cNvSpPr/>
          <p:nvPr/>
        </p:nvSpPr>
        <p:spPr>
          <a:xfrm>
            <a:off x="1361238" y="1317050"/>
            <a:ext cx="10470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2"/>
          <p:cNvSpPr/>
          <p:nvPr/>
        </p:nvSpPr>
        <p:spPr>
          <a:xfrm>
            <a:off x="2879953" y="2310032"/>
            <a:ext cx="10470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32"/>
          <p:cNvSpPr/>
          <p:nvPr/>
        </p:nvSpPr>
        <p:spPr>
          <a:xfrm>
            <a:off x="3377993" y="2314943"/>
            <a:ext cx="549000" cy="712341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32"/>
          <p:cNvSpPr/>
          <p:nvPr/>
        </p:nvSpPr>
        <p:spPr>
          <a:xfrm>
            <a:off x="1960605" y="1317050"/>
            <a:ext cx="447672" cy="10470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32"/>
          <p:cNvSpPr/>
          <p:nvPr/>
        </p:nvSpPr>
        <p:spPr>
          <a:xfrm>
            <a:off x="1361238" y="3303015"/>
            <a:ext cx="10470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2"/>
          <p:cNvSpPr/>
          <p:nvPr/>
        </p:nvSpPr>
        <p:spPr>
          <a:xfrm>
            <a:off x="1859238" y="3954162"/>
            <a:ext cx="549000" cy="395853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4" name="Google Shape;874;p32"/>
          <p:cNvGrpSpPr/>
          <p:nvPr/>
        </p:nvGrpSpPr>
        <p:grpSpPr>
          <a:xfrm>
            <a:off x="4973838" y="1577103"/>
            <a:ext cx="2907754" cy="786947"/>
            <a:chOff x="713225" y="2100075"/>
            <a:chExt cx="2907754" cy="786947"/>
          </a:xfrm>
        </p:grpSpPr>
        <p:sp>
          <p:nvSpPr>
            <p:cNvPr id="875" name="Google Shape;875;p32"/>
            <p:cNvSpPr txBox="1"/>
            <p:nvPr/>
          </p:nvSpPr>
          <p:spPr>
            <a:xfrm>
              <a:off x="713225" y="2100075"/>
              <a:ext cx="7686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60%</a:t>
              </a:r>
              <a:endParaRPr sz="24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876" name="Google Shape;876;p32"/>
            <p:cNvGrpSpPr/>
            <p:nvPr/>
          </p:nvGrpSpPr>
          <p:grpSpPr>
            <a:xfrm>
              <a:off x="1481813" y="2273379"/>
              <a:ext cx="2139166" cy="613643"/>
              <a:chOff x="713188" y="2576754"/>
              <a:chExt cx="2139166" cy="613643"/>
            </a:xfrm>
          </p:grpSpPr>
          <p:sp>
            <p:nvSpPr>
              <p:cNvPr id="877" name="Google Shape;877;p32"/>
              <p:cNvSpPr txBox="1"/>
              <p:nvPr/>
            </p:nvSpPr>
            <p:spPr>
              <a:xfrm>
                <a:off x="812054" y="2576754"/>
                <a:ext cx="20403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DATA CLEANING &amp; TUNING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878" name="Google Shape;878;p32"/>
              <p:cNvSpPr txBox="1"/>
              <p:nvPr/>
            </p:nvSpPr>
            <p:spPr>
              <a:xfrm>
                <a:off x="713188" y="2705897"/>
                <a:ext cx="20403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  <p:grpSp>
        <p:nvGrpSpPr>
          <p:cNvPr id="879" name="Google Shape;879;p32"/>
          <p:cNvGrpSpPr/>
          <p:nvPr/>
        </p:nvGrpSpPr>
        <p:grpSpPr>
          <a:xfrm>
            <a:off x="4973838" y="2570085"/>
            <a:ext cx="2808900" cy="457200"/>
            <a:chOff x="713225" y="2967900"/>
            <a:chExt cx="2808900" cy="457200"/>
          </a:xfrm>
        </p:grpSpPr>
        <p:sp>
          <p:nvSpPr>
            <p:cNvPr id="880" name="Google Shape;880;p32"/>
            <p:cNvSpPr txBox="1"/>
            <p:nvPr/>
          </p:nvSpPr>
          <p:spPr>
            <a:xfrm>
              <a:off x="713225" y="2967900"/>
              <a:ext cx="7686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25%</a:t>
              </a:r>
              <a:endParaRPr sz="24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82" name="Google Shape;882;p32"/>
            <p:cNvSpPr txBox="1"/>
            <p:nvPr/>
          </p:nvSpPr>
          <p:spPr>
            <a:xfrm>
              <a:off x="1481825" y="2967900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VISUALISATION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884" name="Google Shape;884;p32"/>
          <p:cNvGrpSpPr/>
          <p:nvPr/>
        </p:nvGrpSpPr>
        <p:grpSpPr>
          <a:xfrm>
            <a:off x="4973838" y="3563066"/>
            <a:ext cx="2808900" cy="457200"/>
            <a:chOff x="713225" y="3821625"/>
            <a:chExt cx="2808900" cy="457200"/>
          </a:xfrm>
        </p:grpSpPr>
        <p:sp>
          <p:nvSpPr>
            <p:cNvPr id="885" name="Google Shape;885;p32"/>
            <p:cNvSpPr txBox="1"/>
            <p:nvPr/>
          </p:nvSpPr>
          <p:spPr>
            <a:xfrm>
              <a:off x="713225" y="3821625"/>
              <a:ext cx="7686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15%</a:t>
              </a:r>
              <a:endParaRPr sz="24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87" name="Google Shape;887;p32"/>
            <p:cNvSpPr txBox="1"/>
            <p:nvPr/>
          </p:nvSpPr>
          <p:spPr>
            <a:xfrm>
              <a:off x="1481825" y="3821625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MODELLING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cxnSp>
        <p:nvCxnSpPr>
          <p:cNvPr id="889" name="Google Shape;889;p32"/>
          <p:cNvCxnSpPr>
            <a:cxnSpLocks/>
            <a:stCxn id="871" idx="3"/>
            <a:endCxn id="875" idx="1"/>
          </p:cNvCxnSpPr>
          <p:nvPr/>
        </p:nvCxnSpPr>
        <p:spPr>
          <a:xfrm flipV="1">
            <a:off x="2408277" y="1805703"/>
            <a:ext cx="2565561" cy="34847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890" name="Google Shape;890;p32"/>
          <p:cNvCxnSpPr>
            <a:cxnSpLocks/>
            <a:stCxn id="870" idx="3"/>
            <a:endCxn id="880" idx="1"/>
          </p:cNvCxnSpPr>
          <p:nvPr/>
        </p:nvCxnSpPr>
        <p:spPr>
          <a:xfrm>
            <a:off x="3926993" y="2671114"/>
            <a:ext cx="1046845" cy="12757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891" name="Google Shape;891;p32"/>
          <p:cNvCxnSpPr>
            <a:cxnSpLocks/>
            <a:stCxn id="873" idx="3"/>
            <a:endCxn id="885" idx="1"/>
          </p:cNvCxnSpPr>
          <p:nvPr/>
        </p:nvCxnSpPr>
        <p:spPr>
          <a:xfrm flipV="1">
            <a:off x="2408238" y="3791666"/>
            <a:ext cx="2565600" cy="36042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oval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"/>
          <p:cNvSpPr txBox="1">
            <a:spLocks noGrp="1"/>
          </p:cNvSpPr>
          <p:nvPr>
            <p:ph type="title"/>
          </p:nvPr>
        </p:nvSpPr>
        <p:spPr>
          <a:xfrm>
            <a:off x="1958219" y="1749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dirty="0"/>
              <a:t>VISUALISATION OF IVR JOURNEY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1" name="Google Shape;661;p27"/>
          <p:cNvSpPr/>
          <p:nvPr/>
        </p:nvSpPr>
        <p:spPr>
          <a:xfrm>
            <a:off x="173290" y="1267140"/>
            <a:ext cx="833100" cy="8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7"/>
          <p:cNvSpPr/>
          <p:nvPr/>
        </p:nvSpPr>
        <p:spPr>
          <a:xfrm>
            <a:off x="2255083" y="1586456"/>
            <a:ext cx="930412" cy="78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7"/>
          <p:cNvSpPr/>
          <p:nvPr/>
        </p:nvSpPr>
        <p:spPr>
          <a:xfrm>
            <a:off x="1011605" y="2824928"/>
            <a:ext cx="833100" cy="83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7"/>
          <p:cNvSpPr txBox="1"/>
          <p:nvPr/>
        </p:nvSpPr>
        <p:spPr>
          <a:xfrm>
            <a:off x="-430311" y="691490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CALL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668" name="Google Shape;668;p27"/>
          <p:cNvSpPr txBox="1"/>
          <p:nvPr/>
        </p:nvSpPr>
        <p:spPr>
          <a:xfrm>
            <a:off x="1700139" y="911532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IVR JOURNEY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671" name="Google Shape;671;p27"/>
          <p:cNvSpPr txBox="1"/>
          <p:nvPr/>
        </p:nvSpPr>
        <p:spPr>
          <a:xfrm>
            <a:off x="408005" y="3594222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DROP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673" name="Google Shape;673;p27"/>
          <p:cNvCxnSpPr>
            <a:cxnSpLocks/>
            <a:stCxn id="661" idx="3"/>
            <a:endCxn id="662" idx="1"/>
          </p:cNvCxnSpPr>
          <p:nvPr/>
        </p:nvCxnSpPr>
        <p:spPr>
          <a:xfrm>
            <a:off x="1006390" y="1683690"/>
            <a:ext cx="1248693" cy="29526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74" name="Google Shape;674;p27"/>
          <p:cNvCxnSpPr>
            <a:cxnSpLocks/>
            <a:stCxn id="662" idx="2"/>
            <a:endCxn id="663" idx="0"/>
          </p:cNvCxnSpPr>
          <p:nvPr/>
        </p:nvCxnSpPr>
        <p:spPr>
          <a:xfrm rot="5400000">
            <a:off x="1847486" y="1952125"/>
            <a:ext cx="453472" cy="129213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27"/>
          <p:cNvCxnSpPr>
            <a:cxnSpLocks/>
            <a:stCxn id="661" idx="0"/>
          </p:cNvCxnSpPr>
          <p:nvPr/>
        </p:nvCxnSpPr>
        <p:spPr>
          <a:xfrm flipV="1">
            <a:off x="589840" y="1063555"/>
            <a:ext cx="0" cy="20358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76" name="Google Shape;676;p27"/>
          <p:cNvCxnSpPr>
            <a:cxnSpLocks/>
            <a:stCxn id="662" idx="0"/>
            <a:endCxn id="668" idx="2"/>
          </p:cNvCxnSpPr>
          <p:nvPr/>
        </p:nvCxnSpPr>
        <p:spPr>
          <a:xfrm flipV="1">
            <a:off x="2720289" y="1368732"/>
            <a:ext cx="0" cy="217724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15" name="Google Shape;663;p27">
            <a:extLst>
              <a:ext uri="{FF2B5EF4-FFF2-40B4-BE49-F238E27FC236}">
                <a16:creationId xmlns:a16="http://schemas.microsoft.com/office/drawing/2014/main" id="{B80EEC0D-A7BD-D87A-DC47-0E4C2C887BDF}"/>
              </a:ext>
            </a:extLst>
          </p:cNvPr>
          <p:cNvSpPr/>
          <p:nvPr/>
        </p:nvSpPr>
        <p:spPr>
          <a:xfrm>
            <a:off x="2472176" y="2831975"/>
            <a:ext cx="833100" cy="83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6" name="Google Shape;674;p27">
            <a:extLst>
              <a:ext uri="{FF2B5EF4-FFF2-40B4-BE49-F238E27FC236}">
                <a16:creationId xmlns:a16="http://schemas.microsoft.com/office/drawing/2014/main" id="{B3A9B6C6-7BD0-AD0E-A7B7-2186B15BC24E}"/>
              </a:ext>
            </a:extLst>
          </p:cNvPr>
          <p:cNvCxnSpPr>
            <a:cxnSpLocks/>
            <a:stCxn id="662" idx="2"/>
            <a:endCxn id="715" idx="0"/>
          </p:cNvCxnSpPr>
          <p:nvPr/>
        </p:nvCxnSpPr>
        <p:spPr>
          <a:xfrm rot="16200000" flipH="1">
            <a:off x="2574248" y="2517496"/>
            <a:ext cx="460519" cy="168437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761" name="Picture 760">
            <a:extLst>
              <a:ext uri="{FF2B5EF4-FFF2-40B4-BE49-F238E27FC236}">
                <a16:creationId xmlns:a16="http://schemas.microsoft.com/office/drawing/2014/main" id="{2F34DD4B-8234-D28D-B2C2-8D2CD3A11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604" y="1676135"/>
            <a:ext cx="1065990" cy="623230"/>
          </a:xfrm>
          <a:prstGeom prst="rect">
            <a:avLst/>
          </a:prstGeom>
        </p:spPr>
      </p:pic>
      <p:pic>
        <p:nvPicPr>
          <p:cNvPr id="763" name="Picture 762">
            <a:extLst>
              <a:ext uri="{FF2B5EF4-FFF2-40B4-BE49-F238E27FC236}">
                <a16:creationId xmlns:a16="http://schemas.microsoft.com/office/drawing/2014/main" id="{8674B782-A198-011A-A3A2-640194167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38" y="1375788"/>
            <a:ext cx="615803" cy="615803"/>
          </a:xfrm>
          <a:prstGeom prst="rect">
            <a:avLst/>
          </a:prstGeom>
        </p:spPr>
      </p:pic>
      <p:pic>
        <p:nvPicPr>
          <p:cNvPr id="765" name="Picture 764">
            <a:extLst>
              <a:ext uri="{FF2B5EF4-FFF2-40B4-BE49-F238E27FC236}">
                <a16:creationId xmlns:a16="http://schemas.microsoft.com/office/drawing/2014/main" id="{76683CE3-E3AC-76AF-D05C-A817FBA28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544" y="1657123"/>
            <a:ext cx="676931" cy="676931"/>
          </a:xfrm>
          <a:prstGeom prst="rect">
            <a:avLst/>
          </a:prstGeom>
        </p:spPr>
      </p:pic>
      <p:pic>
        <p:nvPicPr>
          <p:cNvPr id="767" name="Picture 766">
            <a:extLst>
              <a:ext uri="{FF2B5EF4-FFF2-40B4-BE49-F238E27FC236}">
                <a16:creationId xmlns:a16="http://schemas.microsoft.com/office/drawing/2014/main" id="{165C2A8A-0CE0-2047-BACB-EA39BE43E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10" y="2884542"/>
            <a:ext cx="791015" cy="791015"/>
          </a:xfrm>
          <a:prstGeom prst="rect">
            <a:avLst/>
          </a:prstGeom>
        </p:spPr>
      </p:pic>
      <p:pic>
        <p:nvPicPr>
          <p:cNvPr id="769" name="Picture 768">
            <a:extLst>
              <a:ext uri="{FF2B5EF4-FFF2-40B4-BE49-F238E27FC236}">
                <a16:creationId xmlns:a16="http://schemas.microsoft.com/office/drawing/2014/main" id="{18A5832D-5869-8A5D-A19A-2D659FD85C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4757" y="2935555"/>
            <a:ext cx="587938" cy="587938"/>
          </a:xfrm>
          <a:prstGeom prst="rect">
            <a:avLst/>
          </a:prstGeom>
        </p:spPr>
      </p:pic>
      <p:cxnSp>
        <p:nvCxnSpPr>
          <p:cNvPr id="771" name="Google Shape;674;p27">
            <a:extLst>
              <a:ext uri="{FF2B5EF4-FFF2-40B4-BE49-F238E27FC236}">
                <a16:creationId xmlns:a16="http://schemas.microsoft.com/office/drawing/2014/main" id="{A1750634-BB40-12B9-5012-C02290534D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15607" y="3848676"/>
            <a:ext cx="346238" cy="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73" name="Google Shape;663;p27">
            <a:extLst>
              <a:ext uri="{FF2B5EF4-FFF2-40B4-BE49-F238E27FC236}">
                <a16:creationId xmlns:a16="http://schemas.microsoft.com/office/drawing/2014/main" id="{73F5169C-2C06-2F54-8B4C-584096E44CF7}"/>
              </a:ext>
            </a:extLst>
          </p:cNvPr>
          <p:cNvSpPr/>
          <p:nvPr/>
        </p:nvSpPr>
        <p:spPr>
          <a:xfrm>
            <a:off x="2472176" y="4040940"/>
            <a:ext cx="833100" cy="8331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5" name="Picture 774">
            <a:extLst>
              <a:ext uri="{FF2B5EF4-FFF2-40B4-BE49-F238E27FC236}">
                <a16:creationId xmlns:a16="http://schemas.microsoft.com/office/drawing/2014/main" id="{97BA0AA3-410F-A5B3-626C-D7FDB7F40A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418" y="4204772"/>
            <a:ext cx="510614" cy="510614"/>
          </a:xfrm>
          <a:prstGeom prst="rect">
            <a:avLst/>
          </a:prstGeom>
        </p:spPr>
      </p:pic>
      <p:sp>
        <p:nvSpPr>
          <p:cNvPr id="785" name="Google Shape;671;p27">
            <a:extLst>
              <a:ext uri="{FF2B5EF4-FFF2-40B4-BE49-F238E27FC236}">
                <a16:creationId xmlns:a16="http://schemas.microsoft.com/office/drawing/2014/main" id="{3047E6C4-2C19-6DB6-4A18-FBEE40EE0371}"/>
              </a:ext>
            </a:extLst>
          </p:cNvPr>
          <p:cNvSpPr txBox="1"/>
          <p:nvPr/>
        </p:nvSpPr>
        <p:spPr>
          <a:xfrm>
            <a:off x="2704602" y="3003087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AGENT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786" name="Google Shape;671;p27">
            <a:extLst>
              <a:ext uri="{FF2B5EF4-FFF2-40B4-BE49-F238E27FC236}">
                <a16:creationId xmlns:a16="http://schemas.microsoft.com/office/drawing/2014/main" id="{6F44EE13-3876-F2B8-5570-6B620F1B92ED}"/>
              </a:ext>
            </a:extLst>
          </p:cNvPr>
          <p:cNvSpPr txBox="1"/>
          <p:nvPr/>
        </p:nvSpPr>
        <p:spPr>
          <a:xfrm>
            <a:off x="2827183" y="4245728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TRANSFER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93840-FA1C-E2A9-FC4A-C37ECE6CE6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188" y="809896"/>
            <a:ext cx="4569661" cy="40641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43600" y="219468"/>
            <a:ext cx="94676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Tools for Visualisation</a:t>
            </a:r>
            <a:endParaRPr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22833-4056-10D7-FAB4-5D1A5E600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96" y="788393"/>
            <a:ext cx="805644" cy="6242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40B77A-9FCE-7458-202A-804672E95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20625"/>
            <a:ext cx="338161" cy="3381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11FA82-00A4-61E7-633D-62609F2BA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551" y="3441366"/>
            <a:ext cx="338161" cy="338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E8BD16-852F-F06F-E474-F6B41BF2E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316" y="2111038"/>
            <a:ext cx="1031224" cy="10312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4050A6-A371-17DA-9C9A-24CC574B72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0597" y="3826689"/>
            <a:ext cx="1616445" cy="8480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2325AD-3B45-9FDE-43B2-6EF998FE7D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260" y="2479718"/>
            <a:ext cx="577178" cy="307545"/>
          </a:xfrm>
          <a:prstGeom prst="rect">
            <a:avLst/>
          </a:prstGeom>
        </p:spPr>
      </p:pic>
      <p:graphicFrame>
        <p:nvGraphicFramePr>
          <p:cNvPr id="2" name="Google Shape;1360;p45">
            <a:extLst>
              <a:ext uri="{FF2B5EF4-FFF2-40B4-BE49-F238E27FC236}">
                <a16:creationId xmlns:a16="http://schemas.microsoft.com/office/drawing/2014/main" id="{1FF6EE42-D479-C83C-B375-2103E60F65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3683672"/>
              </p:ext>
            </p:extLst>
          </p:nvPr>
        </p:nvGraphicFramePr>
        <p:xfrm>
          <a:off x="444501" y="877895"/>
          <a:ext cx="2885002" cy="3817006"/>
        </p:xfrm>
        <a:graphic>
          <a:graphicData uri="http://schemas.openxmlformats.org/drawingml/2006/table">
            <a:tbl>
              <a:tblPr>
                <a:noFill/>
                <a:tableStyleId>{6CAA7EAD-770A-4BA6-A570-980CF8E8E115}</a:tableStyleId>
              </a:tblPr>
              <a:tblGrid>
                <a:gridCol w="2885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0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Initializing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Call Key: W12x683827ytVPGer7w0r@192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Offering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ANI:  +37360056a9gqsDCv9x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DNIS:  00mxv4XnVFC9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Llamayqa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kutichisqa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Number_Dialed_1234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00:23:26: Default Parameters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00.01 Set Entry Lorem ipsum dolor sit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amet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00.02 Set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consectetur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adipiscing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elit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V89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Routine Ut cursus mi cursus,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mollis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est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nec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_12_B2C_1.1 [Check id vestibulum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00:23:27: DEBUG: Subroutine = _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IVR_Sed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sit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amet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dapibus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turpis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Async [Vestibulum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bibendum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risus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fithos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lusec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wecos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vinosec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Async [Run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Etiam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pulvinar diam_v1.getCustomer_CRM_Info]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PIP|Nunc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pellentesque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fringilla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maximus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Async [Run Vestibulum dictum lorem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mauris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accumsan_Info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00:23:28: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XML_donec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ac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est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dictum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ultrices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00:23:37: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Activation_Routine_MAIN_MENU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Aenean maximus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tincidunt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justo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00:23:37: INPUT_READ: Press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XML_donec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ac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est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dictum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ultrices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00:23:38: _12_B2C_1.2 [Aenean in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tincidunt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tortor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00:23:53: _12_B2C_1.3 [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Suspendisse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vehicula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neque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00:23:53: _12_B2C_1.4 [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Nec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pulvinar eros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scelerisque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00:23:53: _12_B2C_1.5 [Aenean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tincidunt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mauris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00:23:53: _12_B2C_1.6 [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Curabitur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magna eros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commodo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non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00:24:00: INPUT_READ: Press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Etiam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malesuada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cursus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pellentesque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= 2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00:24:00: _12_B2C_1.7  [MS_TECH_SUPPORT]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00:24:14: 1_Aenean id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orci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fermentum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00:24:14: 2_Pellentesque habitant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morbi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tristique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senectus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00:24:18: 3_Aliquam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finibus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felis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vitae nisi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venenatis_Orange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00:25:27: DEBUG: Subroutine = _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IVR_Nulla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ut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rhoncus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purus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, et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molestie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00:25:28: Async [Vestibulum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bibendum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risus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00:25:28: DEBUG: Subroutine = MS_INET_QUERIES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00:25:28: Async [Run Duis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volutpat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.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getCustomer_CRM_Info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00:25:29: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PIP|Maecenas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quis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velit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in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enim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pretium</a:t>
                      </a:r>
                      <a:endParaRPr lang="en-US"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00:25:28: Async [Run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posuere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ligula vitae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arcu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imperdiet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ultricies_Info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Wingdings" panose="05000000000000000000" pitchFamily="2" charset="2"/>
                        <a:buNone/>
                      </a:pP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00:25:40: DEBUG: Subroutine =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XML_Morbi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a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aliquam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nunc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. Sed </a:t>
                      </a:r>
                      <a:r>
                        <a:rPr lang="en-US" sz="600" dirty="0" err="1">
                          <a:solidFill>
                            <a:schemeClr val="dk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euismod</a:t>
                      </a:r>
                      <a:endParaRPr sz="600" dirty="0">
                        <a:solidFill>
                          <a:schemeClr val="dk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Google Shape;332;p19">
            <a:extLst>
              <a:ext uri="{FF2B5EF4-FFF2-40B4-BE49-F238E27FC236}">
                <a16:creationId xmlns:a16="http://schemas.microsoft.com/office/drawing/2014/main" id="{4985242E-F71C-20FE-2D64-41A85D0BBAE0}"/>
              </a:ext>
            </a:extLst>
          </p:cNvPr>
          <p:cNvGrpSpPr/>
          <p:nvPr/>
        </p:nvGrpSpPr>
        <p:grpSpPr>
          <a:xfrm>
            <a:off x="6654688" y="1207762"/>
            <a:ext cx="2347387" cy="731520"/>
            <a:chOff x="1970448" y="1516925"/>
            <a:chExt cx="2718230" cy="698100"/>
          </a:xfrm>
        </p:grpSpPr>
        <p:sp>
          <p:nvSpPr>
            <p:cNvPr id="6" name="Google Shape;333;p19">
              <a:extLst>
                <a:ext uri="{FF2B5EF4-FFF2-40B4-BE49-F238E27FC236}">
                  <a16:creationId xmlns:a16="http://schemas.microsoft.com/office/drawing/2014/main" id="{C9DAE16A-557D-33F2-26D1-12A7ED7A454C}"/>
                </a:ext>
              </a:extLst>
            </p:cNvPr>
            <p:cNvSpPr/>
            <p:nvPr/>
          </p:nvSpPr>
          <p:spPr>
            <a:xfrm>
              <a:off x="1970448" y="1516925"/>
              <a:ext cx="698100" cy="69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7" name="Google Shape;334;p19">
              <a:extLst>
                <a:ext uri="{FF2B5EF4-FFF2-40B4-BE49-F238E27FC236}">
                  <a16:creationId xmlns:a16="http://schemas.microsoft.com/office/drawing/2014/main" id="{723303EA-CE0B-9089-C9AD-CFA9E4944881}"/>
                </a:ext>
              </a:extLst>
            </p:cNvPr>
            <p:cNvSpPr txBox="1"/>
            <p:nvPr/>
          </p:nvSpPr>
          <p:spPr>
            <a:xfrm>
              <a:off x="2856878" y="1622506"/>
              <a:ext cx="1831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MD" sz="15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BLACK BOX</a:t>
              </a:r>
              <a:endParaRPr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10" name="Google Shape;336;p19">
            <a:extLst>
              <a:ext uri="{FF2B5EF4-FFF2-40B4-BE49-F238E27FC236}">
                <a16:creationId xmlns:a16="http://schemas.microsoft.com/office/drawing/2014/main" id="{92BC6F5A-E87E-C063-676F-11F47E7D1E9E}"/>
              </a:ext>
            </a:extLst>
          </p:cNvPr>
          <p:cNvGrpSpPr/>
          <p:nvPr/>
        </p:nvGrpSpPr>
        <p:grpSpPr>
          <a:xfrm>
            <a:off x="6641722" y="2392101"/>
            <a:ext cx="2417923" cy="731520"/>
            <a:chOff x="1970462" y="2314790"/>
            <a:chExt cx="2827144" cy="698100"/>
          </a:xfrm>
        </p:grpSpPr>
        <p:sp>
          <p:nvSpPr>
            <p:cNvPr id="11" name="Google Shape;337;p19">
              <a:extLst>
                <a:ext uri="{FF2B5EF4-FFF2-40B4-BE49-F238E27FC236}">
                  <a16:creationId xmlns:a16="http://schemas.microsoft.com/office/drawing/2014/main" id="{4E7A9BCD-C08E-6068-ABD8-E0CF0C7D4B6B}"/>
                </a:ext>
              </a:extLst>
            </p:cNvPr>
            <p:cNvSpPr/>
            <p:nvPr/>
          </p:nvSpPr>
          <p:spPr>
            <a:xfrm>
              <a:off x="1970462" y="2314790"/>
              <a:ext cx="698100" cy="69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2" name="Google Shape;338;p19">
              <a:extLst>
                <a:ext uri="{FF2B5EF4-FFF2-40B4-BE49-F238E27FC236}">
                  <a16:creationId xmlns:a16="http://schemas.microsoft.com/office/drawing/2014/main" id="{32BD6B99-2B1D-4ECF-642B-FDAEFDB98F06}"/>
                </a:ext>
              </a:extLst>
            </p:cNvPr>
            <p:cNvSpPr txBox="1"/>
            <p:nvPr/>
          </p:nvSpPr>
          <p:spPr>
            <a:xfrm>
              <a:off x="2965806" y="2421590"/>
              <a:ext cx="1831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MD" sz="15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BREAK POIN</a:t>
              </a:r>
              <a:r>
                <a:rPr lang="en-US" sz="15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T</a:t>
              </a:r>
              <a:r>
                <a:rPr lang="ro-MD" sz="15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S</a:t>
              </a:r>
              <a:endParaRPr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14" name="Google Shape;340;p19">
            <a:extLst>
              <a:ext uri="{FF2B5EF4-FFF2-40B4-BE49-F238E27FC236}">
                <a16:creationId xmlns:a16="http://schemas.microsoft.com/office/drawing/2014/main" id="{176CB616-1A10-89F6-3C63-BFDDCB7E0FEA}"/>
              </a:ext>
            </a:extLst>
          </p:cNvPr>
          <p:cNvGrpSpPr/>
          <p:nvPr/>
        </p:nvGrpSpPr>
        <p:grpSpPr>
          <a:xfrm>
            <a:off x="6654688" y="3558769"/>
            <a:ext cx="2412599" cy="735210"/>
            <a:chOff x="1970455" y="3112654"/>
            <a:chExt cx="2793661" cy="698100"/>
          </a:xfrm>
        </p:grpSpPr>
        <p:sp>
          <p:nvSpPr>
            <p:cNvPr id="17" name="Google Shape;341;p19">
              <a:extLst>
                <a:ext uri="{FF2B5EF4-FFF2-40B4-BE49-F238E27FC236}">
                  <a16:creationId xmlns:a16="http://schemas.microsoft.com/office/drawing/2014/main" id="{E6FF0F6E-707B-F020-9636-DA0E669EE688}"/>
                </a:ext>
              </a:extLst>
            </p:cNvPr>
            <p:cNvSpPr/>
            <p:nvPr/>
          </p:nvSpPr>
          <p:spPr>
            <a:xfrm>
              <a:off x="1970455" y="3112654"/>
              <a:ext cx="698100" cy="69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8" name="Google Shape;342;p19">
              <a:extLst>
                <a:ext uri="{FF2B5EF4-FFF2-40B4-BE49-F238E27FC236}">
                  <a16:creationId xmlns:a16="http://schemas.microsoft.com/office/drawing/2014/main" id="{1AE53619-910D-8A38-E943-24AF8C8AFD32}"/>
                </a:ext>
              </a:extLst>
            </p:cNvPr>
            <p:cNvSpPr txBox="1"/>
            <p:nvPr/>
          </p:nvSpPr>
          <p:spPr>
            <a:xfrm>
              <a:off x="2932317" y="3195158"/>
              <a:ext cx="1831799" cy="484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MD" sz="15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STORYTELLING</a:t>
              </a:r>
              <a:endParaRPr sz="15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cxnSp>
        <p:nvCxnSpPr>
          <p:cNvPr id="25" name="Google Shape;348;p19">
            <a:extLst>
              <a:ext uri="{FF2B5EF4-FFF2-40B4-BE49-F238E27FC236}">
                <a16:creationId xmlns:a16="http://schemas.microsoft.com/office/drawing/2014/main" id="{30209B7C-E5DC-1B0F-0575-90CDB3C12DA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257548" y="1573522"/>
            <a:ext cx="422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39078939-44BB-EF80-B297-0A4DFFB5FC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3042" y="1318397"/>
            <a:ext cx="464172" cy="464172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A6ECB284-045C-B65A-BDE1-F793824C35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1713" y="2539325"/>
            <a:ext cx="437070" cy="437070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D5BF9684-2826-96CD-14F1-5E7B74C344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9941" y="3740188"/>
            <a:ext cx="372372" cy="372372"/>
          </a:xfrm>
          <a:prstGeom prst="rect">
            <a:avLst/>
          </a:prstGeom>
        </p:spPr>
      </p:pic>
      <p:cxnSp>
        <p:nvCxnSpPr>
          <p:cNvPr id="210" name="Google Shape;348;p19">
            <a:extLst>
              <a:ext uri="{FF2B5EF4-FFF2-40B4-BE49-F238E27FC236}">
                <a16:creationId xmlns:a16="http://schemas.microsoft.com/office/drawing/2014/main" id="{06C55CFB-F81D-506B-792A-CC0F4F69D3C3}"/>
              </a:ext>
            </a:extLst>
          </p:cNvPr>
          <p:cNvCxnSpPr>
            <a:cxnSpLocks/>
          </p:cNvCxnSpPr>
          <p:nvPr/>
        </p:nvCxnSpPr>
        <p:spPr>
          <a:xfrm flipH="1">
            <a:off x="7242778" y="2757860"/>
            <a:ext cx="437070" cy="1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348;p19">
            <a:extLst>
              <a:ext uri="{FF2B5EF4-FFF2-40B4-BE49-F238E27FC236}">
                <a16:creationId xmlns:a16="http://schemas.microsoft.com/office/drawing/2014/main" id="{D1896465-83D6-35CC-0BCE-5FC2E66CFA6C}"/>
              </a:ext>
            </a:extLst>
          </p:cNvPr>
          <p:cNvCxnSpPr>
            <a:cxnSpLocks/>
          </p:cNvCxnSpPr>
          <p:nvPr/>
        </p:nvCxnSpPr>
        <p:spPr>
          <a:xfrm flipH="1">
            <a:off x="7257566" y="3900786"/>
            <a:ext cx="437070" cy="1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3" name="Picture 212">
            <a:extLst>
              <a:ext uri="{FF2B5EF4-FFF2-40B4-BE49-F238E27FC236}">
                <a16:creationId xmlns:a16="http://schemas.microsoft.com/office/drawing/2014/main" id="{12D59E2A-9AB8-4858-B5CC-15EB747C9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1542" y="2478853"/>
            <a:ext cx="577178" cy="307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889D32-F37E-07CE-E3E4-0F5A4BF5A5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93344" y="707349"/>
            <a:ext cx="358764" cy="4136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BD0B80-BD29-B1F8-BB95-16B1AF08CA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67230" y="707349"/>
            <a:ext cx="358764" cy="4154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07CF30-8228-84E9-7EF2-3AF518D0EE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9110" y="1021820"/>
            <a:ext cx="359168" cy="4141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912FBC-E20A-B4F1-C246-59100DDFBE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7874" y="1011282"/>
            <a:ext cx="357684" cy="4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06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"/>
          <p:cNvSpPr txBox="1">
            <a:spLocks noGrp="1"/>
          </p:cNvSpPr>
          <p:nvPr>
            <p:ph type="title"/>
          </p:nvPr>
        </p:nvSpPr>
        <p:spPr>
          <a:xfrm>
            <a:off x="2072519" y="1765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Transfer Rate Per IVR Journey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</a:endParaRPr>
          </a:p>
        </p:txBody>
      </p:sp>
      <p:cxnSp>
        <p:nvCxnSpPr>
          <p:cNvPr id="4" name="Google Shape;1091;p38">
            <a:extLst>
              <a:ext uri="{FF2B5EF4-FFF2-40B4-BE49-F238E27FC236}">
                <a16:creationId xmlns:a16="http://schemas.microsoft.com/office/drawing/2014/main" id="{94C9B476-A74F-9899-5E9E-9CF8D6DBF4C0}"/>
              </a:ext>
            </a:extLst>
          </p:cNvPr>
          <p:cNvCxnSpPr>
            <a:cxnSpLocks/>
          </p:cNvCxnSpPr>
          <p:nvPr/>
        </p:nvCxnSpPr>
        <p:spPr>
          <a:xfrm>
            <a:off x="6355700" y="1122119"/>
            <a:ext cx="0" cy="3251668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04;p38">
            <a:extLst>
              <a:ext uri="{FF2B5EF4-FFF2-40B4-BE49-F238E27FC236}">
                <a16:creationId xmlns:a16="http://schemas.microsoft.com/office/drawing/2014/main" id="{CE7F1613-AB4D-5AB7-11F6-8EF102AF20A0}"/>
              </a:ext>
            </a:extLst>
          </p:cNvPr>
          <p:cNvSpPr txBox="1">
            <a:spLocks/>
          </p:cNvSpPr>
          <p:nvPr/>
        </p:nvSpPr>
        <p:spPr>
          <a:xfrm>
            <a:off x="6541584" y="1466038"/>
            <a:ext cx="18813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-US" sz="1800" dirty="0"/>
              <a:t>Transfer Rate over Baseline</a:t>
            </a:r>
          </a:p>
        </p:txBody>
      </p:sp>
      <p:sp>
        <p:nvSpPr>
          <p:cNvPr id="13" name="Google Shape;1104;p38">
            <a:extLst>
              <a:ext uri="{FF2B5EF4-FFF2-40B4-BE49-F238E27FC236}">
                <a16:creationId xmlns:a16="http://schemas.microsoft.com/office/drawing/2014/main" id="{D610693E-9748-7D6B-93E8-76098567BBF9}"/>
              </a:ext>
            </a:extLst>
          </p:cNvPr>
          <p:cNvSpPr txBox="1">
            <a:spLocks/>
          </p:cNvSpPr>
          <p:nvPr/>
        </p:nvSpPr>
        <p:spPr>
          <a:xfrm>
            <a:off x="6451076" y="3384568"/>
            <a:ext cx="2265866" cy="67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-US" sz="1800" dirty="0"/>
              <a:t>We require at least 30% more Agents </a:t>
            </a:r>
          </a:p>
        </p:txBody>
      </p:sp>
      <p:grpSp>
        <p:nvGrpSpPr>
          <p:cNvPr id="14" name="Google Shape;1095;p38">
            <a:extLst>
              <a:ext uri="{FF2B5EF4-FFF2-40B4-BE49-F238E27FC236}">
                <a16:creationId xmlns:a16="http://schemas.microsoft.com/office/drawing/2014/main" id="{88A850B7-1860-7C68-0BA7-0C3B8299CB8E}"/>
              </a:ext>
            </a:extLst>
          </p:cNvPr>
          <p:cNvGrpSpPr/>
          <p:nvPr/>
        </p:nvGrpSpPr>
        <p:grpSpPr>
          <a:xfrm>
            <a:off x="6168084" y="1692600"/>
            <a:ext cx="373500" cy="373500"/>
            <a:chOff x="3212675" y="1912500"/>
            <a:chExt cx="373500" cy="373500"/>
          </a:xfrm>
        </p:grpSpPr>
        <p:sp>
          <p:nvSpPr>
            <p:cNvPr id="15" name="Google Shape;1096;p38">
              <a:extLst>
                <a:ext uri="{FF2B5EF4-FFF2-40B4-BE49-F238E27FC236}">
                  <a16:creationId xmlns:a16="http://schemas.microsoft.com/office/drawing/2014/main" id="{36CC3025-3925-46F6-5B88-DFB268CD27C7}"/>
                </a:ext>
              </a:extLst>
            </p:cNvPr>
            <p:cNvSpPr/>
            <p:nvPr/>
          </p:nvSpPr>
          <p:spPr>
            <a:xfrm>
              <a:off x="3304013" y="2003850"/>
              <a:ext cx="190800" cy="190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97;p38">
              <a:extLst>
                <a:ext uri="{FF2B5EF4-FFF2-40B4-BE49-F238E27FC236}">
                  <a16:creationId xmlns:a16="http://schemas.microsoft.com/office/drawing/2014/main" id="{C98B440B-C8A5-AB72-BB73-59A5A9BD7A61}"/>
                </a:ext>
              </a:extLst>
            </p:cNvPr>
            <p:cNvSpPr/>
            <p:nvPr/>
          </p:nvSpPr>
          <p:spPr>
            <a:xfrm>
              <a:off x="3212675" y="1912500"/>
              <a:ext cx="373500" cy="373500"/>
            </a:xfrm>
            <a:prstGeom prst="donut">
              <a:avLst>
                <a:gd name="adj" fmla="val 1019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101;p38">
            <a:extLst>
              <a:ext uri="{FF2B5EF4-FFF2-40B4-BE49-F238E27FC236}">
                <a16:creationId xmlns:a16="http://schemas.microsoft.com/office/drawing/2014/main" id="{5E2EE3A6-634B-8DA7-787F-DC6FC10CA8DC}"/>
              </a:ext>
            </a:extLst>
          </p:cNvPr>
          <p:cNvGrpSpPr/>
          <p:nvPr/>
        </p:nvGrpSpPr>
        <p:grpSpPr>
          <a:xfrm>
            <a:off x="6168071" y="3556830"/>
            <a:ext cx="373498" cy="373500"/>
            <a:chOff x="7457825" y="1912500"/>
            <a:chExt cx="373500" cy="373500"/>
          </a:xfrm>
        </p:grpSpPr>
        <p:sp>
          <p:nvSpPr>
            <p:cNvPr id="18" name="Google Shape;1102;p38">
              <a:extLst>
                <a:ext uri="{FF2B5EF4-FFF2-40B4-BE49-F238E27FC236}">
                  <a16:creationId xmlns:a16="http://schemas.microsoft.com/office/drawing/2014/main" id="{5916DE83-20CD-EAE9-A8A6-EDBA9D77629A}"/>
                </a:ext>
              </a:extLst>
            </p:cNvPr>
            <p:cNvSpPr/>
            <p:nvPr/>
          </p:nvSpPr>
          <p:spPr>
            <a:xfrm>
              <a:off x="7549163" y="2003850"/>
              <a:ext cx="190800" cy="190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03;p38">
              <a:extLst>
                <a:ext uri="{FF2B5EF4-FFF2-40B4-BE49-F238E27FC236}">
                  <a16:creationId xmlns:a16="http://schemas.microsoft.com/office/drawing/2014/main" id="{E538C7F2-C9FA-4F74-9F89-3A77E9237C6E}"/>
                </a:ext>
              </a:extLst>
            </p:cNvPr>
            <p:cNvSpPr/>
            <p:nvPr/>
          </p:nvSpPr>
          <p:spPr>
            <a:xfrm>
              <a:off x="7457825" y="1912500"/>
              <a:ext cx="373500" cy="373500"/>
            </a:xfrm>
            <a:prstGeom prst="donut">
              <a:avLst>
                <a:gd name="adj" fmla="val 1019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C41B991B-6237-7F83-9B52-387133C3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8" y="747632"/>
            <a:ext cx="5937250" cy="429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23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"/>
          <p:cNvSpPr txBox="1">
            <a:spLocks noGrp="1"/>
          </p:cNvSpPr>
          <p:nvPr>
            <p:ph type="title"/>
          </p:nvPr>
        </p:nvSpPr>
        <p:spPr>
          <a:xfrm>
            <a:off x="1958219" y="1749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dirty="0"/>
              <a:t>From </a:t>
            </a:r>
            <a:r>
              <a:rPr lang="en-US" dirty="0"/>
              <a:t>Transfer Rate </a:t>
            </a:r>
            <a:r>
              <a:rPr lang="ro-MD" dirty="0"/>
              <a:t>To Transfer Volume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F5CE5-ED88-9D0E-A4EE-403C3FAB0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770056"/>
            <a:ext cx="7911885" cy="2419672"/>
          </a:xfrm>
          <a:prstGeom prst="rect">
            <a:avLst/>
          </a:prstGeom>
        </p:spPr>
      </p:pic>
      <p:sp>
        <p:nvSpPr>
          <p:cNvPr id="817" name="Google Shape;468;p23">
            <a:extLst>
              <a:ext uri="{FF2B5EF4-FFF2-40B4-BE49-F238E27FC236}">
                <a16:creationId xmlns:a16="http://schemas.microsoft.com/office/drawing/2014/main" id="{2FE06C99-1F6C-99A4-AA66-A6820175CA90}"/>
              </a:ext>
            </a:extLst>
          </p:cNvPr>
          <p:cNvSpPr/>
          <p:nvPr/>
        </p:nvSpPr>
        <p:spPr>
          <a:xfrm>
            <a:off x="1727123" y="3787624"/>
            <a:ext cx="640080" cy="64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470;p23">
            <a:extLst>
              <a:ext uri="{FF2B5EF4-FFF2-40B4-BE49-F238E27FC236}">
                <a16:creationId xmlns:a16="http://schemas.microsoft.com/office/drawing/2014/main" id="{5AE300A5-B1C0-8AA5-7A0B-884EEE97EE42}"/>
              </a:ext>
            </a:extLst>
          </p:cNvPr>
          <p:cNvSpPr/>
          <p:nvPr/>
        </p:nvSpPr>
        <p:spPr>
          <a:xfrm>
            <a:off x="4251960" y="3782513"/>
            <a:ext cx="640080" cy="6400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9" name="Google Shape;472;p23">
            <a:extLst>
              <a:ext uri="{FF2B5EF4-FFF2-40B4-BE49-F238E27FC236}">
                <a16:creationId xmlns:a16="http://schemas.microsoft.com/office/drawing/2014/main" id="{993903F1-A5D8-9FF1-DD69-2F1CE6592C5A}"/>
              </a:ext>
            </a:extLst>
          </p:cNvPr>
          <p:cNvSpPr/>
          <p:nvPr/>
        </p:nvSpPr>
        <p:spPr>
          <a:xfrm>
            <a:off x="6520546" y="3793225"/>
            <a:ext cx="6400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492;p23">
            <a:extLst>
              <a:ext uri="{FF2B5EF4-FFF2-40B4-BE49-F238E27FC236}">
                <a16:creationId xmlns:a16="http://schemas.microsoft.com/office/drawing/2014/main" id="{38DBAFD5-707B-B967-AEE8-247454C1125E}"/>
              </a:ext>
            </a:extLst>
          </p:cNvPr>
          <p:cNvGrpSpPr/>
          <p:nvPr/>
        </p:nvGrpSpPr>
        <p:grpSpPr>
          <a:xfrm>
            <a:off x="1301601" y="3210149"/>
            <a:ext cx="1466753" cy="1933351"/>
            <a:chOff x="1559153" y="1458000"/>
            <a:chExt cx="1466753" cy="1933351"/>
          </a:xfrm>
        </p:grpSpPr>
        <p:sp>
          <p:nvSpPr>
            <p:cNvPr id="840" name="Google Shape;494;p23">
              <a:extLst>
                <a:ext uri="{FF2B5EF4-FFF2-40B4-BE49-F238E27FC236}">
                  <a16:creationId xmlns:a16="http://schemas.microsoft.com/office/drawing/2014/main" id="{E80EA501-608B-7AE1-B95B-4681300E99BC}"/>
                </a:ext>
              </a:extLst>
            </p:cNvPr>
            <p:cNvSpPr txBox="1"/>
            <p:nvPr/>
          </p:nvSpPr>
          <p:spPr>
            <a:xfrm>
              <a:off x="1559153" y="2934151"/>
              <a:ext cx="1466753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MD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Identify Defect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41" name="Google Shape;496;p23">
              <a:extLst>
                <a:ext uri="{FF2B5EF4-FFF2-40B4-BE49-F238E27FC236}">
                  <a16:creationId xmlns:a16="http://schemas.microsoft.com/office/drawing/2014/main" id="{C4CE2968-4D72-E540-AF11-255FDD251729}"/>
                </a:ext>
              </a:extLst>
            </p:cNvPr>
            <p:cNvSpPr txBox="1"/>
            <p:nvPr/>
          </p:nvSpPr>
          <p:spPr>
            <a:xfrm>
              <a:off x="1918625" y="14580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01</a:t>
              </a:r>
              <a:endParaRPr sz="240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842" name="Google Shape;497;p23">
            <a:extLst>
              <a:ext uri="{FF2B5EF4-FFF2-40B4-BE49-F238E27FC236}">
                <a16:creationId xmlns:a16="http://schemas.microsoft.com/office/drawing/2014/main" id="{9C617353-F17A-2313-AD1F-90DFB8EE9B88}"/>
              </a:ext>
            </a:extLst>
          </p:cNvPr>
          <p:cNvGrpSpPr/>
          <p:nvPr/>
        </p:nvGrpSpPr>
        <p:grpSpPr>
          <a:xfrm>
            <a:off x="3821012" y="3210149"/>
            <a:ext cx="1466700" cy="1933351"/>
            <a:chOff x="3820523" y="1458000"/>
            <a:chExt cx="1466700" cy="1933351"/>
          </a:xfrm>
        </p:grpSpPr>
        <p:sp>
          <p:nvSpPr>
            <p:cNvPr id="843" name="Google Shape;499;p23">
              <a:extLst>
                <a:ext uri="{FF2B5EF4-FFF2-40B4-BE49-F238E27FC236}">
                  <a16:creationId xmlns:a16="http://schemas.microsoft.com/office/drawing/2014/main" id="{9B978078-D99C-437D-7E4E-468A50E15788}"/>
                </a:ext>
              </a:extLst>
            </p:cNvPr>
            <p:cNvSpPr txBox="1"/>
            <p:nvPr/>
          </p:nvSpPr>
          <p:spPr>
            <a:xfrm>
              <a:off x="3820523" y="2934151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Quantify Impact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44" name="Google Shape;501;p23">
              <a:extLst>
                <a:ext uri="{FF2B5EF4-FFF2-40B4-BE49-F238E27FC236}">
                  <a16:creationId xmlns:a16="http://schemas.microsoft.com/office/drawing/2014/main" id="{F89E0086-1924-58D4-9823-FBE0BA5F8BA8}"/>
                </a:ext>
              </a:extLst>
            </p:cNvPr>
            <p:cNvSpPr txBox="1"/>
            <p:nvPr/>
          </p:nvSpPr>
          <p:spPr>
            <a:xfrm>
              <a:off x="4187717" y="14580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5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02</a:t>
              </a:r>
              <a:endParaRPr sz="2400" dirty="0">
                <a:solidFill>
                  <a:schemeClr val="accent5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845" name="Google Shape;502;p23">
            <a:extLst>
              <a:ext uri="{FF2B5EF4-FFF2-40B4-BE49-F238E27FC236}">
                <a16:creationId xmlns:a16="http://schemas.microsoft.com/office/drawing/2014/main" id="{2F5E8E05-7335-0FCA-AEB0-DAEAA553681F}"/>
              </a:ext>
            </a:extLst>
          </p:cNvPr>
          <p:cNvGrpSpPr/>
          <p:nvPr/>
        </p:nvGrpSpPr>
        <p:grpSpPr>
          <a:xfrm>
            <a:off x="6113545" y="3210149"/>
            <a:ext cx="1466700" cy="1933351"/>
            <a:chOff x="6113056" y="1458000"/>
            <a:chExt cx="1466700" cy="1933351"/>
          </a:xfrm>
        </p:grpSpPr>
        <p:sp>
          <p:nvSpPr>
            <p:cNvPr id="846" name="Google Shape;504;p23">
              <a:extLst>
                <a:ext uri="{FF2B5EF4-FFF2-40B4-BE49-F238E27FC236}">
                  <a16:creationId xmlns:a16="http://schemas.microsoft.com/office/drawing/2014/main" id="{A4EE5525-441D-D7EC-26E1-2222F11DED7C}"/>
                </a:ext>
              </a:extLst>
            </p:cNvPr>
            <p:cNvSpPr txBox="1"/>
            <p:nvPr/>
          </p:nvSpPr>
          <p:spPr>
            <a:xfrm>
              <a:off x="6113056" y="2934151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Design Solution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47" name="Google Shape;506;p23">
              <a:extLst>
                <a:ext uri="{FF2B5EF4-FFF2-40B4-BE49-F238E27FC236}">
                  <a16:creationId xmlns:a16="http://schemas.microsoft.com/office/drawing/2014/main" id="{C7CFA69B-1DA6-0CF2-124D-74A66CE08C46}"/>
                </a:ext>
              </a:extLst>
            </p:cNvPr>
            <p:cNvSpPr txBox="1"/>
            <p:nvPr/>
          </p:nvSpPr>
          <p:spPr>
            <a:xfrm>
              <a:off x="6456774" y="14580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03</a:t>
              </a:r>
              <a:endParaRPr sz="2400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cxnSp>
        <p:nvCxnSpPr>
          <p:cNvPr id="848" name="Google Shape;507;p23">
            <a:extLst>
              <a:ext uri="{FF2B5EF4-FFF2-40B4-BE49-F238E27FC236}">
                <a16:creationId xmlns:a16="http://schemas.microsoft.com/office/drawing/2014/main" id="{1DCB3400-F0BE-1C0D-F08C-3C8E1556E20F}"/>
              </a:ext>
            </a:extLst>
          </p:cNvPr>
          <p:cNvCxnSpPr>
            <a:stCxn id="841" idx="3"/>
            <a:endCxn id="844" idx="1"/>
          </p:cNvCxnSpPr>
          <p:nvPr/>
        </p:nvCxnSpPr>
        <p:spPr>
          <a:xfrm>
            <a:off x="2429673" y="3438749"/>
            <a:ext cx="1758533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9" name="Google Shape;508;p23">
            <a:extLst>
              <a:ext uri="{FF2B5EF4-FFF2-40B4-BE49-F238E27FC236}">
                <a16:creationId xmlns:a16="http://schemas.microsoft.com/office/drawing/2014/main" id="{A8DA8895-2B18-7189-C48D-38E44524AD6F}"/>
              </a:ext>
            </a:extLst>
          </p:cNvPr>
          <p:cNvCxnSpPr>
            <a:stCxn id="844" idx="3"/>
            <a:endCxn id="847" idx="1"/>
          </p:cNvCxnSpPr>
          <p:nvPr/>
        </p:nvCxnSpPr>
        <p:spPr>
          <a:xfrm>
            <a:off x="4956806" y="3438749"/>
            <a:ext cx="1500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0" name="Google Shape;509;p23">
            <a:extLst>
              <a:ext uri="{FF2B5EF4-FFF2-40B4-BE49-F238E27FC236}">
                <a16:creationId xmlns:a16="http://schemas.microsoft.com/office/drawing/2014/main" id="{380EA926-58ED-6344-4A8A-1847635E75B8}"/>
              </a:ext>
            </a:extLst>
          </p:cNvPr>
          <p:cNvCxnSpPr>
            <a:stCxn id="841" idx="2"/>
            <a:endCxn id="817" idx="0"/>
          </p:cNvCxnSpPr>
          <p:nvPr/>
        </p:nvCxnSpPr>
        <p:spPr>
          <a:xfrm>
            <a:off x="2045373" y="3667349"/>
            <a:ext cx="1790" cy="12027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51" name="Google Shape;510;p23">
            <a:extLst>
              <a:ext uri="{FF2B5EF4-FFF2-40B4-BE49-F238E27FC236}">
                <a16:creationId xmlns:a16="http://schemas.microsoft.com/office/drawing/2014/main" id="{A748ECA4-7DF3-DAD6-7925-A1C744E00C3B}"/>
              </a:ext>
            </a:extLst>
          </p:cNvPr>
          <p:cNvCxnSpPr>
            <a:cxnSpLocks/>
            <a:stCxn id="844" idx="2"/>
            <a:endCxn id="818" idx="0"/>
          </p:cNvCxnSpPr>
          <p:nvPr/>
        </p:nvCxnSpPr>
        <p:spPr>
          <a:xfrm flipH="1">
            <a:off x="4572000" y="3667349"/>
            <a:ext cx="506" cy="115164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52" name="Google Shape;511;p23">
            <a:extLst>
              <a:ext uri="{FF2B5EF4-FFF2-40B4-BE49-F238E27FC236}">
                <a16:creationId xmlns:a16="http://schemas.microsoft.com/office/drawing/2014/main" id="{1088794F-A6A7-7E54-6739-5AD34C8D356E}"/>
              </a:ext>
            </a:extLst>
          </p:cNvPr>
          <p:cNvCxnSpPr>
            <a:stCxn id="847" idx="2"/>
            <a:endCxn id="819" idx="0"/>
          </p:cNvCxnSpPr>
          <p:nvPr/>
        </p:nvCxnSpPr>
        <p:spPr>
          <a:xfrm flipH="1">
            <a:off x="6840586" y="3667349"/>
            <a:ext cx="977" cy="125876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7280AC5-D598-8ACF-84B4-51E8F6AB8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801" y="3878321"/>
            <a:ext cx="427943" cy="4279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CDE1AF7-1F7F-BB7F-CCDC-2DEB69282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874" y="3876841"/>
            <a:ext cx="429423" cy="4294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E81E580-19D9-4A01-9E6E-79C184E00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174" y="3873966"/>
            <a:ext cx="448397" cy="44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0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" grpId="0" animBg="1"/>
      <p:bldP spid="8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A603-9659-C26F-E5FF-055806EC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58500"/>
            <a:ext cx="7704000" cy="572700"/>
          </a:xfrm>
        </p:spPr>
        <p:txBody>
          <a:bodyPr/>
          <a:lstStyle/>
          <a:p>
            <a:pPr algn="ctr"/>
            <a:r>
              <a:rPr lang="ro-MD" dirty="0"/>
              <a:t>Solution to Decrease Transfer Rate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D4EE82-3FD0-8B91-33B0-E8B84E300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37" y="812799"/>
            <a:ext cx="5571565" cy="4229847"/>
          </a:xfrm>
          <a:prstGeom prst="rect">
            <a:avLst/>
          </a:prstGeom>
        </p:spPr>
      </p:pic>
      <p:sp>
        <p:nvSpPr>
          <p:cNvPr id="23" name="Google Shape;1177;p40">
            <a:extLst>
              <a:ext uri="{FF2B5EF4-FFF2-40B4-BE49-F238E27FC236}">
                <a16:creationId xmlns:a16="http://schemas.microsoft.com/office/drawing/2014/main" id="{59AC3F02-4C64-C16E-C48B-4DC971C5D414}"/>
              </a:ext>
            </a:extLst>
          </p:cNvPr>
          <p:cNvSpPr txBox="1"/>
          <p:nvPr/>
        </p:nvSpPr>
        <p:spPr>
          <a:xfrm>
            <a:off x="489485" y="3624248"/>
            <a:ext cx="1315359" cy="992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500*50*C</a:t>
            </a:r>
            <a:endParaRPr sz="2000" dirty="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4" name="Google Shape;1185;p40">
            <a:extLst>
              <a:ext uri="{FF2B5EF4-FFF2-40B4-BE49-F238E27FC236}">
                <a16:creationId xmlns:a16="http://schemas.microsoft.com/office/drawing/2014/main" id="{46B17C8E-35E6-6801-1122-A8EF252C7398}"/>
              </a:ext>
            </a:extLst>
          </p:cNvPr>
          <p:cNvSpPr txBox="1"/>
          <p:nvPr/>
        </p:nvSpPr>
        <p:spPr>
          <a:xfrm>
            <a:off x="1573645" y="1147794"/>
            <a:ext cx="1922592" cy="28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Weekly Decrease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5" name="Google Shape;1187;p40">
            <a:extLst>
              <a:ext uri="{FF2B5EF4-FFF2-40B4-BE49-F238E27FC236}">
                <a16:creationId xmlns:a16="http://schemas.microsoft.com/office/drawing/2014/main" id="{1C240AB9-F399-F558-BC35-5C711A9F74D4}"/>
              </a:ext>
            </a:extLst>
          </p:cNvPr>
          <p:cNvSpPr txBox="1"/>
          <p:nvPr/>
        </p:nvSpPr>
        <p:spPr>
          <a:xfrm>
            <a:off x="636276" y="2182509"/>
            <a:ext cx="1016471" cy="7673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500*50</a:t>
            </a:r>
            <a:endParaRPr sz="2000" dirty="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26" name="Google Shape;1188;p40">
            <a:extLst>
              <a:ext uri="{FF2B5EF4-FFF2-40B4-BE49-F238E27FC236}">
                <a16:creationId xmlns:a16="http://schemas.microsoft.com/office/drawing/2014/main" id="{C14F8EE8-B0F0-ABBC-A23A-9BC8DAEBC22A}"/>
              </a:ext>
            </a:extLst>
          </p:cNvPr>
          <p:cNvSpPr txBox="1"/>
          <p:nvPr/>
        </p:nvSpPr>
        <p:spPr>
          <a:xfrm>
            <a:off x="790512" y="922350"/>
            <a:ext cx="707999" cy="5345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500</a:t>
            </a:r>
            <a:endParaRPr sz="2000" dirty="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cxnSp>
        <p:nvCxnSpPr>
          <p:cNvPr id="28" name="Google Shape;1192;p40">
            <a:extLst>
              <a:ext uri="{FF2B5EF4-FFF2-40B4-BE49-F238E27FC236}">
                <a16:creationId xmlns:a16="http://schemas.microsoft.com/office/drawing/2014/main" id="{A6B2BCA7-E5BE-AA50-0FC2-520980553965}"/>
              </a:ext>
            </a:extLst>
          </p:cNvPr>
          <p:cNvCxnSpPr>
            <a:cxnSpLocks/>
            <a:stCxn id="23" idx="0"/>
            <a:endCxn id="25" idx="2"/>
          </p:cNvCxnSpPr>
          <p:nvPr/>
        </p:nvCxnSpPr>
        <p:spPr>
          <a:xfrm flipH="1" flipV="1">
            <a:off x="1144512" y="2949845"/>
            <a:ext cx="2653" cy="674403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9" name="Google Shape;1193;p40">
            <a:extLst>
              <a:ext uri="{FF2B5EF4-FFF2-40B4-BE49-F238E27FC236}">
                <a16:creationId xmlns:a16="http://schemas.microsoft.com/office/drawing/2014/main" id="{5799F8ED-5A66-356C-8D18-BEBD9D76C1A2}"/>
              </a:ext>
            </a:extLst>
          </p:cNvPr>
          <p:cNvCxnSpPr>
            <a:cxnSpLocks/>
            <a:stCxn id="25" idx="0"/>
            <a:endCxn id="26" idx="2"/>
          </p:cNvCxnSpPr>
          <p:nvPr/>
        </p:nvCxnSpPr>
        <p:spPr>
          <a:xfrm flipV="1">
            <a:off x="1144512" y="1456861"/>
            <a:ext cx="0" cy="725648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Google Shape;1185;p40">
            <a:extLst>
              <a:ext uri="{FF2B5EF4-FFF2-40B4-BE49-F238E27FC236}">
                <a16:creationId xmlns:a16="http://schemas.microsoft.com/office/drawing/2014/main" id="{6ACDE51B-9E5F-9AB4-C29F-F4648334E0EC}"/>
              </a:ext>
            </a:extLst>
          </p:cNvPr>
          <p:cNvSpPr txBox="1"/>
          <p:nvPr/>
        </p:nvSpPr>
        <p:spPr>
          <a:xfrm>
            <a:off x="1652747" y="2514508"/>
            <a:ext cx="1843490" cy="28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Yearly Decrease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32" name="Google Shape;1185;p40">
            <a:extLst>
              <a:ext uri="{FF2B5EF4-FFF2-40B4-BE49-F238E27FC236}">
                <a16:creationId xmlns:a16="http://schemas.microsoft.com/office/drawing/2014/main" id="{02BE5977-4908-2F73-B98D-DEDC4F12E58F}"/>
              </a:ext>
            </a:extLst>
          </p:cNvPr>
          <p:cNvSpPr txBox="1"/>
          <p:nvPr/>
        </p:nvSpPr>
        <p:spPr>
          <a:xfrm>
            <a:off x="1693812" y="4270922"/>
            <a:ext cx="1715390" cy="28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Yearly Costs Decrease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  <p:extLst>
      <p:ext uri="{BB962C8B-B14F-4D97-AF65-F5344CB8AC3E}">
        <p14:creationId xmlns:p14="http://schemas.microsoft.com/office/powerpoint/2010/main" val="2945841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720000" y="30335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dirty="0"/>
              <a:t>SUMMARY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61" name="Google Shape;361;p20"/>
          <p:cNvGrpSpPr/>
          <p:nvPr/>
        </p:nvGrpSpPr>
        <p:grpSpPr>
          <a:xfrm>
            <a:off x="4945863" y="1359619"/>
            <a:ext cx="2895656" cy="563036"/>
            <a:chOff x="4945863" y="1119339"/>
            <a:chExt cx="2895656" cy="563036"/>
          </a:xfrm>
        </p:grpSpPr>
        <p:sp>
          <p:nvSpPr>
            <p:cNvPr id="362" name="Google Shape;362;p20"/>
            <p:cNvSpPr txBox="1"/>
            <p:nvPr/>
          </p:nvSpPr>
          <p:spPr>
            <a:xfrm>
              <a:off x="4945863" y="1225175"/>
              <a:ext cx="7686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01</a:t>
              </a:r>
              <a:endParaRPr sz="24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65" name="Google Shape;365;p20"/>
            <p:cNvSpPr txBox="1"/>
            <p:nvPr/>
          </p:nvSpPr>
          <p:spPr>
            <a:xfrm>
              <a:off x="5801219" y="1119339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dirty="0">
                  <a:solidFill>
                    <a:schemeClr val="dk1"/>
                  </a:solidFill>
                  <a:latin typeface="Maven Pro"/>
                </a:rPr>
                <a:t>Accessibility of </a:t>
              </a:r>
              <a:r>
                <a:rPr lang="ro-MD" dirty="0">
                  <a:solidFill>
                    <a:schemeClr val="dk1"/>
                  </a:solidFill>
                  <a:latin typeface="Maven Pro"/>
                </a:rPr>
                <a:t>D</a:t>
              </a:r>
              <a:r>
                <a:rPr lang="en-US" dirty="0" err="1">
                  <a:solidFill>
                    <a:schemeClr val="dk1"/>
                  </a:solidFill>
                  <a:latin typeface="Maven Pro"/>
                </a:rPr>
                <a:t>ata</a:t>
              </a:r>
              <a:r>
                <a:rPr lang="en-US" dirty="0">
                  <a:solidFill>
                    <a:schemeClr val="dk1"/>
                  </a:solidFill>
                  <a:latin typeface="Maven Pro"/>
                </a:rPr>
                <a:t> </a:t>
              </a:r>
              <a:r>
                <a:rPr lang="ro-MD" dirty="0">
                  <a:solidFill>
                    <a:schemeClr val="dk1"/>
                  </a:solidFill>
                  <a:latin typeface="Maven Pro"/>
                </a:rPr>
                <a:t>S</a:t>
              </a:r>
              <a:r>
                <a:rPr lang="en-US" dirty="0" err="1">
                  <a:solidFill>
                    <a:schemeClr val="dk1"/>
                  </a:solidFill>
                  <a:latin typeface="Maven Pro"/>
                </a:rPr>
                <a:t>cience</a:t>
              </a:r>
              <a:r>
                <a:rPr lang="en-US" dirty="0">
                  <a:solidFill>
                    <a:schemeClr val="dk1"/>
                  </a:solidFill>
                  <a:latin typeface="Maven Pro"/>
                </a:rPr>
                <a:t> tools </a:t>
              </a:r>
              <a:endParaRPr dirty="0">
                <a:solidFill>
                  <a:schemeClr val="dk1"/>
                </a:solidFill>
                <a:latin typeface="Maven Pro"/>
                <a:sym typeface="Maven Pro"/>
              </a:endParaRPr>
            </a:p>
          </p:txBody>
        </p:sp>
      </p:grpSp>
      <p:grpSp>
        <p:nvGrpSpPr>
          <p:cNvPr id="366" name="Google Shape;366;p20"/>
          <p:cNvGrpSpPr/>
          <p:nvPr/>
        </p:nvGrpSpPr>
        <p:grpSpPr>
          <a:xfrm>
            <a:off x="4945863" y="2330938"/>
            <a:ext cx="2895656" cy="484500"/>
            <a:chOff x="4945863" y="2090658"/>
            <a:chExt cx="2895656" cy="484500"/>
          </a:xfrm>
        </p:grpSpPr>
        <p:sp>
          <p:nvSpPr>
            <p:cNvPr id="367" name="Google Shape;367;p20"/>
            <p:cNvSpPr txBox="1"/>
            <p:nvPr/>
          </p:nvSpPr>
          <p:spPr>
            <a:xfrm>
              <a:off x="4945863" y="2090658"/>
              <a:ext cx="7686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02</a:t>
              </a:r>
              <a:endParaRPr sz="24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70" name="Google Shape;370;p20"/>
            <p:cNvSpPr txBox="1"/>
            <p:nvPr/>
          </p:nvSpPr>
          <p:spPr>
            <a:xfrm>
              <a:off x="5801219" y="2090658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buFont typeface="Arial"/>
                <a:buNone/>
              </a:pPr>
              <a:r>
                <a:rPr lang="ro-MD" dirty="0">
                  <a:solidFill>
                    <a:schemeClr val="dk1"/>
                  </a:solidFill>
                  <a:latin typeface="Maven Pro"/>
                  <a:sym typeface="Maven Pro"/>
                </a:rPr>
                <a:t>Importance of EDA</a:t>
              </a:r>
              <a:endParaRPr dirty="0">
                <a:solidFill>
                  <a:schemeClr val="dk1"/>
                </a:solidFill>
                <a:latin typeface="Maven Pro"/>
                <a:sym typeface="Maven Pro"/>
              </a:endParaRPr>
            </a:p>
          </p:txBody>
        </p:sp>
      </p:grpSp>
      <p:grpSp>
        <p:nvGrpSpPr>
          <p:cNvPr id="371" name="Google Shape;371;p20"/>
          <p:cNvGrpSpPr/>
          <p:nvPr/>
        </p:nvGrpSpPr>
        <p:grpSpPr>
          <a:xfrm>
            <a:off x="4945863" y="3196422"/>
            <a:ext cx="2895656" cy="493403"/>
            <a:chOff x="4945863" y="2956142"/>
            <a:chExt cx="2895656" cy="493403"/>
          </a:xfrm>
        </p:grpSpPr>
        <p:sp>
          <p:nvSpPr>
            <p:cNvPr id="372" name="Google Shape;372;p20"/>
            <p:cNvSpPr txBox="1"/>
            <p:nvPr/>
          </p:nvSpPr>
          <p:spPr>
            <a:xfrm>
              <a:off x="4945863" y="2956142"/>
              <a:ext cx="7686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03</a:t>
              </a:r>
              <a:endParaRPr sz="24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75" name="Google Shape;375;p20"/>
            <p:cNvSpPr txBox="1"/>
            <p:nvPr/>
          </p:nvSpPr>
          <p:spPr>
            <a:xfrm>
              <a:off x="5801219" y="2965045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ro-MD" dirty="0">
                  <a:solidFill>
                    <a:schemeClr val="dk1"/>
                  </a:solidFill>
                  <a:latin typeface="Maven Pro"/>
                  <a:sym typeface="Maven Pro"/>
                </a:rPr>
                <a:t>Role of Storytelling</a:t>
              </a:r>
              <a:endParaRPr dirty="0">
                <a:solidFill>
                  <a:schemeClr val="dk1"/>
                </a:solidFill>
                <a:latin typeface="Maven Pro"/>
                <a:sym typeface="Maven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76" name="Google Shape;376;p20"/>
          <p:cNvGrpSpPr/>
          <p:nvPr/>
        </p:nvGrpSpPr>
        <p:grpSpPr>
          <a:xfrm>
            <a:off x="4945863" y="4061905"/>
            <a:ext cx="2895656" cy="502307"/>
            <a:chOff x="4945863" y="3821625"/>
            <a:chExt cx="2895656" cy="502307"/>
          </a:xfrm>
        </p:grpSpPr>
        <p:sp>
          <p:nvSpPr>
            <p:cNvPr id="377" name="Google Shape;377;p20"/>
            <p:cNvSpPr txBox="1"/>
            <p:nvPr/>
          </p:nvSpPr>
          <p:spPr>
            <a:xfrm>
              <a:off x="4945863" y="3821625"/>
              <a:ext cx="768600" cy="457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04</a:t>
              </a:r>
              <a:endParaRPr sz="24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80" name="Google Shape;380;p20"/>
            <p:cNvSpPr txBox="1"/>
            <p:nvPr/>
          </p:nvSpPr>
          <p:spPr>
            <a:xfrm>
              <a:off x="5801219" y="3839432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buFont typeface="Arial"/>
                <a:buNone/>
              </a:pPr>
              <a:r>
                <a:rPr lang="ro-MD" dirty="0">
                  <a:solidFill>
                    <a:schemeClr val="dk1"/>
                  </a:solidFill>
                  <a:latin typeface="Maven Pro"/>
                  <a:sym typeface="Maven Pro"/>
                </a:rPr>
                <a:t>Calculate ROI</a:t>
              </a:r>
              <a:endParaRPr dirty="0">
                <a:solidFill>
                  <a:schemeClr val="dk1"/>
                </a:solidFill>
                <a:latin typeface="Maven Pro"/>
                <a:sym typeface="Maven Pro"/>
              </a:endParaRPr>
            </a:p>
          </p:txBody>
        </p:sp>
      </p:grpSp>
      <p:sp>
        <p:nvSpPr>
          <p:cNvPr id="382" name="Google Shape;382;p20"/>
          <p:cNvSpPr/>
          <p:nvPr/>
        </p:nvSpPr>
        <p:spPr>
          <a:xfrm>
            <a:off x="1118846" y="1702096"/>
            <a:ext cx="1431857" cy="1177323"/>
          </a:xfrm>
          <a:custGeom>
            <a:avLst/>
            <a:gdLst/>
            <a:ahLst/>
            <a:cxnLst/>
            <a:rect l="l" t="t" r="r" b="b"/>
            <a:pathLst>
              <a:path w="105887" h="87064" extrusionOk="0">
                <a:moveTo>
                  <a:pt x="0" y="0"/>
                </a:moveTo>
                <a:lnTo>
                  <a:pt x="0" y="39127"/>
                </a:lnTo>
                <a:lnTo>
                  <a:pt x="0" y="61490"/>
                </a:lnTo>
                <a:lnTo>
                  <a:pt x="0" y="87063"/>
                </a:lnTo>
                <a:lnTo>
                  <a:pt x="27746" y="87063"/>
                </a:lnTo>
                <a:lnTo>
                  <a:pt x="27702" y="87018"/>
                </a:lnTo>
                <a:lnTo>
                  <a:pt x="27746" y="87018"/>
                </a:lnTo>
                <a:cubicBezTo>
                  <a:pt x="28526" y="87017"/>
                  <a:pt x="29307" y="86929"/>
                  <a:pt x="30093" y="86882"/>
                </a:cubicBezTo>
                <a:cubicBezTo>
                  <a:pt x="29069" y="75368"/>
                  <a:pt x="34002" y="68233"/>
                  <a:pt x="43187" y="67938"/>
                </a:cubicBezTo>
                <a:cubicBezTo>
                  <a:pt x="43363" y="67933"/>
                  <a:pt x="43538" y="67930"/>
                  <a:pt x="43713" y="67930"/>
                </a:cubicBezTo>
                <a:cubicBezTo>
                  <a:pt x="47496" y="67930"/>
                  <a:pt x="50915" y="69263"/>
                  <a:pt x="53581" y="72088"/>
                </a:cubicBezTo>
                <a:cubicBezTo>
                  <a:pt x="57521" y="76263"/>
                  <a:pt x="58510" y="81240"/>
                  <a:pt x="56917" y="86706"/>
                </a:cubicBezTo>
                <a:cubicBezTo>
                  <a:pt x="57387" y="86850"/>
                  <a:pt x="57613" y="86978"/>
                  <a:pt x="57837" y="86979"/>
                </a:cubicBezTo>
                <a:cubicBezTo>
                  <a:pt x="66964" y="86999"/>
                  <a:pt x="76090" y="86977"/>
                  <a:pt x="85217" y="87042"/>
                </a:cubicBezTo>
                <a:cubicBezTo>
                  <a:pt x="85230" y="87042"/>
                  <a:pt x="85243" y="87042"/>
                  <a:pt x="85255" y="87042"/>
                </a:cubicBezTo>
                <a:cubicBezTo>
                  <a:pt x="85418" y="87042"/>
                  <a:pt x="85562" y="87030"/>
                  <a:pt x="85695" y="87013"/>
                </a:cubicBezTo>
                <a:lnTo>
                  <a:pt x="86948" y="87013"/>
                </a:lnTo>
                <a:lnTo>
                  <a:pt x="86948" y="85755"/>
                </a:lnTo>
                <a:cubicBezTo>
                  <a:pt x="86986" y="85428"/>
                  <a:pt x="86977" y="85061"/>
                  <a:pt x="86977" y="84681"/>
                </a:cubicBezTo>
                <a:cubicBezTo>
                  <a:pt x="86965" y="76274"/>
                  <a:pt x="86968" y="67866"/>
                  <a:pt x="86976" y="59457"/>
                </a:cubicBezTo>
                <a:cubicBezTo>
                  <a:pt x="86977" y="58620"/>
                  <a:pt x="87049" y="57783"/>
                  <a:pt x="87088" y="56932"/>
                </a:cubicBezTo>
                <a:cubicBezTo>
                  <a:pt x="88215" y="57058"/>
                  <a:pt x="89301" y="57121"/>
                  <a:pt x="90345" y="57121"/>
                </a:cubicBezTo>
                <a:cubicBezTo>
                  <a:pt x="99487" y="57121"/>
                  <a:pt x="105302" y="52350"/>
                  <a:pt x="105684" y="44467"/>
                </a:cubicBezTo>
                <a:cubicBezTo>
                  <a:pt x="105887" y="40301"/>
                  <a:pt x="104627" y="36665"/>
                  <a:pt x="101697" y="33784"/>
                </a:cubicBezTo>
                <a:cubicBezTo>
                  <a:pt x="98900" y="31033"/>
                  <a:pt x="95669" y="29770"/>
                  <a:pt x="92073" y="29770"/>
                </a:cubicBezTo>
                <a:cubicBezTo>
                  <a:pt x="90457" y="29770"/>
                  <a:pt x="88767" y="30025"/>
                  <a:pt x="87010" y="30514"/>
                </a:cubicBezTo>
                <a:lnTo>
                  <a:pt x="87010" y="334"/>
                </a:lnTo>
                <a:cubicBezTo>
                  <a:pt x="86957" y="326"/>
                  <a:pt x="86909" y="320"/>
                  <a:pt x="86859" y="313"/>
                </a:cubicBezTo>
                <a:lnTo>
                  <a:pt x="868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2370137" y="3205325"/>
            <a:ext cx="1431870" cy="1177323"/>
          </a:xfrm>
          <a:custGeom>
            <a:avLst/>
            <a:gdLst/>
            <a:ahLst/>
            <a:cxnLst/>
            <a:rect l="l" t="t" r="r" b="b"/>
            <a:pathLst>
              <a:path w="105888" h="87064" extrusionOk="0">
                <a:moveTo>
                  <a:pt x="78142" y="0"/>
                </a:moveTo>
                <a:lnTo>
                  <a:pt x="78187" y="46"/>
                </a:lnTo>
                <a:lnTo>
                  <a:pt x="78142" y="46"/>
                </a:lnTo>
                <a:cubicBezTo>
                  <a:pt x="77361" y="46"/>
                  <a:pt x="76580" y="134"/>
                  <a:pt x="75795" y="182"/>
                </a:cubicBezTo>
                <a:cubicBezTo>
                  <a:pt x="76818" y="11694"/>
                  <a:pt x="71886" y="18831"/>
                  <a:pt x="62701" y="19125"/>
                </a:cubicBezTo>
                <a:cubicBezTo>
                  <a:pt x="62525" y="19131"/>
                  <a:pt x="62350" y="19134"/>
                  <a:pt x="62175" y="19134"/>
                </a:cubicBezTo>
                <a:cubicBezTo>
                  <a:pt x="58391" y="19134"/>
                  <a:pt x="54972" y="17801"/>
                  <a:pt x="52306" y="14976"/>
                </a:cubicBezTo>
                <a:cubicBezTo>
                  <a:pt x="48366" y="10801"/>
                  <a:pt x="47377" y="5824"/>
                  <a:pt x="48971" y="356"/>
                </a:cubicBezTo>
                <a:cubicBezTo>
                  <a:pt x="48500" y="214"/>
                  <a:pt x="48276" y="86"/>
                  <a:pt x="48050" y="85"/>
                </a:cubicBezTo>
                <a:cubicBezTo>
                  <a:pt x="38923" y="65"/>
                  <a:pt x="29797" y="86"/>
                  <a:pt x="20671" y="21"/>
                </a:cubicBezTo>
                <a:cubicBezTo>
                  <a:pt x="20664" y="21"/>
                  <a:pt x="20657" y="21"/>
                  <a:pt x="20650" y="21"/>
                </a:cubicBezTo>
                <a:cubicBezTo>
                  <a:pt x="20480" y="21"/>
                  <a:pt x="20331" y="33"/>
                  <a:pt x="20192" y="51"/>
                </a:cubicBezTo>
                <a:lnTo>
                  <a:pt x="18939" y="51"/>
                </a:lnTo>
                <a:lnTo>
                  <a:pt x="18939" y="1308"/>
                </a:lnTo>
                <a:cubicBezTo>
                  <a:pt x="18901" y="1636"/>
                  <a:pt x="18910" y="2003"/>
                  <a:pt x="18911" y="2382"/>
                </a:cubicBezTo>
                <a:cubicBezTo>
                  <a:pt x="18923" y="10790"/>
                  <a:pt x="18919" y="19198"/>
                  <a:pt x="18911" y="27606"/>
                </a:cubicBezTo>
                <a:cubicBezTo>
                  <a:pt x="18910" y="28444"/>
                  <a:pt x="18838" y="29281"/>
                  <a:pt x="18799" y="30132"/>
                </a:cubicBezTo>
                <a:cubicBezTo>
                  <a:pt x="17672" y="30005"/>
                  <a:pt x="16585" y="29943"/>
                  <a:pt x="15541" y="29943"/>
                </a:cubicBezTo>
                <a:cubicBezTo>
                  <a:pt x="6399" y="29943"/>
                  <a:pt x="585" y="34714"/>
                  <a:pt x="203" y="42596"/>
                </a:cubicBezTo>
                <a:cubicBezTo>
                  <a:pt x="1" y="46762"/>
                  <a:pt x="1261" y="50399"/>
                  <a:pt x="4191" y="53280"/>
                </a:cubicBezTo>
                <a:cubicBezTo>
                  <a:pt x="6988" y="56031"/>
                  <a:pt x="10220" y="57293"/>
                  <a:pt x="13816" y="57293"/>
                </a:cubicBezTo>
                <a:cubicBezTo>
                  <a:pt x="15432" y="57293"/>
                  <a:pt x="17121" y="57038"/>
                  <a:pt x="18877" y="56549"/>
                </a:cubicBezTo>
                <a:lnTo>
                  <a:pt x="18877" y="86730"/>
                </a:lnTo>
                <a:cubicBezTo>
                  <a:pt x="18932" y="86736"/>
                  <a:pt x="18979" y="86743"/>
                  <a:pt x="19029" y="86750"/>
                </a:cubicBezTo>
                <a:lnTo>
                  <a:pt x="19029" y="87064"/>
                </a:lnTo>
                <a:lnTo>
                  <a:pt x="105887" y="87064"/>
                </a:lnTo>
                <a:lnTo>
                  <a:pt x="105887" y="47937"/>
                </a:lnTo>
                <a:lnTo>
                  <a:pt x="105887" y="25572"/>
                </a:lnTo>
                <a:lnTo>
                  <a:pt x="10588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0"/>
          <p:cNvSpPr/>
          <p:nvPr/>
        </p:nvSpPr>
        <p:spPr>
          <a:xfrm>
            <a:off x="2622075" y="1699473"/>
            <a:ext cx="1177309" cy="1429423"/>
          </a:xfrm>
          <a:custGeom>
            <a:avLst/>
            <a:gdLst/>
            <a:ahLst/>
            <a:cxnLst/>
            <a:rect l="l" t="t" r="r" b="b"/>
            <a:pathLst>
              <a:path w="87063" h="105707" extrusionOk="0">
                <a:moveTo>
                  <a:pt x="0" y="0"/>
                </a:moveTo>
                <a:lnTo>
                  <a:pt x="0" y="27746"/>
                </a:lnTo>
                <a:lnTo>
                  <a:pt x="44" y="27702"/>
                </a:lnTo>
                <a:lnTo>
                  <a:pt x="44" y="27746"/>
                </a:lnTo>
                <a:cubicBezTo>
                  <a:pt x="45" y="28527"/>
                  <a:pt x="134" y="29307"/>
                  <a:pt x="182" y="30093"/>
                </a:cubicBezTo>
                <a:cubicBezTo>
                  <a:pt x="1184" y="30004"/>
                  <a:pt x="2152" y="29960"/>
                  <a:pt x="3086" y="29960"/>
                </a:cubicBezTo>
                <a:cubicBezTo>
                  <a:pt x="12884" y="29960"/>
                  <a:pt x="18855" y="34802"/>
                  <a:pt x="19125" y="43187"/>
                </a:cubicBezTo>
                <a:cubicBezTo>
                  <a:pt x="19253" y="47180"/>
                  <a:pt x="17931" y="50792"/>
                  <a:pt x="14975" y="53582"/>
                </a:cubicBezTo>
                <a:cubicBezTo>
                  <a:pt x="12061" y="56332"/>
                  <a:pt x="8756" y="57644"/>
                  <a:pt x="5167" y="57644"/>
                </a:cubicBezTo>
                <a:cubicBezTo>
                  <a:pt x="3614" y="57644"/>
                  <a:pt x="2007" y="57399"/>
                  <a:pt x="356" y="56917"/>
                </a:cubicBezTo>
                <a:cubicBezTo>
                  <a:pt x="213" y="57387"/>
                  <a:pt x="84" y="57613"/>
                  <a:pt x="84" y="57838"/>
                </a:cubicBezTo>
                <a:cubicBezTo>
                  <a:pt x="64" y="66964"/>
                  <a:pt x="85" y="76092"/>
                  <a:pt x="21" y="85217"/>
                </a:cubicBezTo>
                <a:cubicBezTo>
                  <a:pt x="20" y="85396"/>
                  <a:pt x="32" y="85551"/>
                  <a:pt x="50" y="85695"/>
                </a:cubicBezTo>
                <a:lnTo>
                  <a:pt x="50" y="86949"/>
                </a:lnTo>
                <a:lnTo>
                  <a:pt x="1308" y="86949"/>
                </a:lnTo>
                <a:cubicBezTo>
                  <a:pt x="1523" y="86974"/>
                  <a:pt x="1754" y="86979"/>
                  <a:pt x="1994" y="86979"/>
                </a:cubicBezTo>
                <a:cubicBezTo>
                  <a:pt x="2121" y="86979"/>
                  <a:pt x="2250" y="86977"/>
                  <a:pt x="2381" y="86977"/>
                </a:cubicBezTo>
                <a:cubicBezTo>
                  <a:pt x="6289" y="86972"/>
                  <a:pt x="10198" y="86969"/>
                  <a:pt x="14106" y="86969"/>
                </a:cubicBezTo>
                <a:cubicBezTo>
                  <a:pt x="18606" y="86969"/>
                  <a:pt x="23105" y="86972"/>
                  <a:pt x="27605" y="86977"/>
                </a:cubicBezTo>
                <a:cubicBezTo>
                  <a:pt x="28442" y="86977"/>
                  <a:pt x="29280" y="87049"/>
                  <a:pt x="30131" y="87088"/>
                </a:cubicBezTo>
                <a:cubicBezTo>
                  <a:pt x="28894" y="98090"/>
                  <a:pt x="33813" y="105259"/>
                  <a:pt x="42595" y="105686"/>
                </a:cubicBezTo>
                <a:cubicBezTo>
                  <a:pt x="42881" y="105700"/>
                  <a:pt x="43163" y="105706"/>
                  <a:pt x="43444" y="105706"/>
                </a:cubicBezTo>
                <a:cubicBezTo>
                  <a:pt x="47257" y="105706"/>
                  <a:pt x="50596" y="104426"/>
                  <a:pt x="53280" y="101697"/>
                </a:cubicBezTo>
                <a:cubicBezTo>
                  <a:pt x="57266" y="97644"/>
                  <a:pt x="58126" y="92677"/>
                  <a:pt x="56548" y="87010"/>
                </a:cubicBezTo>
                <a:lnTo>
                  <a:pt x="86730" y="87010"/>
                </a:lnTo>
                <a:cubicBezTo>
                  <a:pt x="86736" y="86957"/>
                  <a:pt x="86743" y="86910"/>
                  <a:pt x="86749" y="86859"/>
                </a:cubicBezTo>
                <a:lnTo>
                  <a:pt x="87062" y="86859"/>
                </a:lnTo>
                <a:lnTo>
                  <a:pt x="870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1121469" y="2953225"/>
            <a:ext cx="1177323" cy="1429409"/>
          </a:xfrm>
          <a:custGeom>
            <a:avLst/>
            <a:gdLst/>
            <a:ahLst/>
            <a:cxnLst/>
            <a:rect l="l" t="t" r="r" b="b"/>
            <a:pathLst>
              <a:path w="87064" h="105706" extrusionOk="0">
                <a:moveTo>
                  <a:pt x="43615" y="0"/>
                </a:moveTo>
                <a:cubicBezTo>
                  <a:pt x="39804" y="0"/>
                  <a:pt x="36467" y="1281"/>
                  <a:pt x="33783" y="4009"/>
                </a:cubicBezTo>
                <a:cubicBezTo>
                  <a:pt x="29796" y="8062"/>
                  <a:pt x="28937" y="13029"/>
                  <a:pt x="30514" y="18696"/>
                </a:cubicBezTo>
                <a:lnTo>
                  <a:pt x="333" y="18696"/>
                </a:lnTo>
                <a:cubicBezTo>
                  <a:pt x="326" y="18750"/>
                  <a:pt x="320" y="18797"/>
                  <a:pt x="313" y="18848"/>
                </a:cubicBezTo>
                <a:lnTo>
                  <a:pt x="0" y="18848"/>
                </a:lnTo>
                <a:lnTo>
                  <a:pt x="0" y="105706"/>
                </a:lnTo>
                <a:lnTo>
                  <a:pt x="87063" y="105706"/>
                </a:lnTo>
                <a:lnTo>
                  <a:pt x="87063" y="77960"/>
                </a:lnTo>
                <a:lnTo>
                  <a:pt x="87018" y="78005"/>
                </a:lnTo>
                <a:lnTo>
                  <a:pt x="87018" y="77960"/>
                </a:lnTo>
                <a:cubicBezTo>
                  <a:pt x="87017" y="77179"/>
                  <a:pt x="86929" y="76399"/>
                  <a:pt x="86882" y="75613"/>
                </a:cubicBezTo>
                <a:cubicBezTo>
                  <a:pt x="85880" y="75702"/>
                  <a:pt x="84911" y="75746"/>
                  <a:pt x="83977" y="75746"/>
                </a:cubicBezTo>
                <a:cubicBezTo>
                  <a:pt x="74178" y="75746"/>
                  <a:pt x="68207" y="70905"/>
                  <a:pt x="67937" y="62520"/>
                </a:cubicBezTo>
                <a:cubicBezTo>
                  <a:pt x="67809" y="58526"/>
                  <a:pt x="69132" y="54913"/>
                  <a:pt x="72088" y="52124"/>
                </a:cubicBezTo>
                <a:cubicBezTo>
                  <a:pt x="75001" y="49374"/>
                  <a:pt x="78306" y="48062"/>
                  <a:pt x="81895" y="48062"/>
                </a:cubicBezTo>
                <a:cubicBezTo>
                  <a:pt x="83448" y="48062"/>
                  <a:pt x="85055" y="48308"/>
                  <a:pt x="86706" y="48789"/>
                </a:cubicBezTo>
                <a:cubicBezTo>
                  <a:pt x="86850" y="48319"/>
                  <a:pt x="86978" y="48094"/>
                  <a:pt x="86979" y="47868"/>
                </a:cubicBezTo>
                <a:cubicBezTo>
                  <a:pt x="86998" y="38742"/>
                  <a:pt x="86977" y="29615"/>
                  <a:pt x="87042" y="20489"/>
                </a:cubicBezTo>
                <a:cubicBezTo>
                  <a:pt x="87044" y="20310"/>
                  <a:pt x="87031" y="20155"/>
                  <a:pt x="87012" y="20011"/>
                </a:cubicBezTo>
                <a:lnTo>
                  <a:pt x="87012" y="18757"/>
                </a:lnTo>
                <a:lnTo>
                  <a:pt x="85754" y="18757"/>
                </a:lnTo>
                <a:cubicBezTo>
                  <a:pt x="85541" y="18733"/>
                  <a:pt x="85312" y="18728"/>
                  <a:pt x="85073" y="18728"/>
                </a:cubicBezTo>
                <a:cubicBezTo>
                  <a:pt x="84945" y="18728"/>
                  <a:pt x="84814" y="18729"/>
                  <a:pt x="84681" y="18730"/>
                </a:cubicBezTo>
                <a:cubicBezTo>
                  <a:pt x="80686" y="18735"/>
                  <a:pt x="76690" y="18737"/>
                  <a:pt x="72695" y="18737"/>
                </a:cubicBezTo>
                <a:cubicBezTo>
                  <a:pt x="68282" y="18737"/>
                  <a:pt x="63870" y="18734"/>
                  <a:pt x="59457" y="18730"/>
                </a:cubicBezTo>
                <a:cubicBezTo>
                  <a:pt x="58620" y="18729"/>
                  <a:pt x="57783" y="18658"/>
                  <a:pt x="56931" y="18618"/>
                </a:cubicBezTo>
                <a:cubicBezTo>
                  <a:pt x="58169" y="7616"/>
                  <a:pt x="53249" y="447"/>
                  <a:pt x="44467" y="21"/>
                </a:cubicBezTo>
                <a:cubicBezTo>
                  <a:pt x="44181" y="7"/>
                  <a:pt x="43897" y="0"/>
                  <a:pt x="436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81;p20">
            <a:extLst>
              <a:ext uri="{FF2B5EF4-FFF2-40B4-BE49-F238E27FC236}">
                <a16:creationId xmlns:a16="http://schemas.microsoft.com/office/drawing/2014/main" id="{3C5DD0DB-07AE-137F-FFCE-A4B11246942E}"/>
              </a:ext>
            </a:extLst>
          </p:cNvPr>
          <p:cNvSpPr txBox="1"/>
          <p:nvPr/>
        </p:nvSpPr>
        <p:spPr>
          <a:xfrm>
            <a:off x="1413584" y="1218758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PARTS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4BE859-95F9-F444-5395-6BE55601C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62" y="469478"/>
            <a:ext cx="2611857" cy="3487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4D92E6-F55A-F3F2-C95B-397A9394C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480" y="473212"/>
            <a:ext cx="2609061" cy="3483864"/>
          </a:xfrm>
          <a:prstGeom prst="rect">
            <a:avLst/>
          </a:prstGeom>
        </p:spPr>
      </p:pic>
      <p:sp>
        <p:nvSpPr>
          <p:cNvPr id="8" name="Google Shape;1355;p47">
            <a:extLst>
              <a:ext uri="{FF2B5EF4-FFF2-40B4-BE49-F238E27FC236}">
                <a16:creationId xmlns:a16="http://schemas.microsoft.com/office/drawing/2014/main" id="{333D3954-A348-7457-3172-172DE0D1C62F}"/>
              </a:ext>
            </a:extLst>
          </p:cNvPr>
          <p:cNvSpPr txBox="1">
            <a:spLocks/>
          </p:cNvSpPr>
          <p:nvPr/>
        </p:nvSpPr>
        <p:spPr>
          <a:xfrm>
            <a:off x="3267469" y="960757"/>
            <a:ext cx="2609061" cy="18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hare Tech"/>
              <a:buNone/>
              <a:defRPr sz="7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ebas Neue"/>
              <a:buNone/>
              <a:defRPr sz="4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70BFE7-C045-B28B-F9B4-6FACD70B2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959" y="3573194"/>
            <a:ext cx="3122521" cy="15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19497"/>
      </p:ext>
    </p:extLst>
  </p:cSld>
  <p:clrMapOvr>
    <a:masterClrMapping/>
  </p:clrMapOvr>
</p:sld>
</file>

<file path=ppt/theme/theme1.xml><?xml version="1.0" encoding="utf-8"?>
<a:theme xmlns:a="http://schemas.openxmlformats.org/drawingml/2006/main" name="Data Science Consulting Infographics by Slidesgo">
  <a:themeElements>
    <a:clrScheme name="Simple Light">
      <a:dk1>
        <a:srgbClr val="FFFFFF"/>
      </a:dk1>
      <a:lt1>
        <a:srgbClr val="002845"/>
      </a:lt1>
      <a:dk2>
        <a:srgbClr val="1A5E8F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3299</TotalTime>
  <Words>885</Words>
  <Application>Microsoft Office PowerPoint</Application>
  <PresentationFormat>On-screen Show (16:9)</PresentationFormat>
  <Paragraphs>152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Share Tech</vt:lpstr>
      <vt:lpstr>Nunito Light</vt:lpstr>
      <vt:lpstr>Wingdings</vt:lpstr>
      <vt:lpstr>Arial</vt:lpstr>
      <vt:lpstr>Trebuchet MS</vt:lpstr>
      <vt:lpstr>Google Sans</vt:lpstr>
      <vt:lpstr>Maven Pro</vt:lpstr>
      <vt:lpstr>Bebas Neue</vt:lpstr>
      <vt:lpstr>Data Science Consulting Infographics by Slidesgo</vt:lpstr>
      <vt:lpstr>DATA SCIENCE POWERED CONTACT CENTER: Insight for Decision Making</vt:lpstr>
      <vt:lpstr>Customer experience is critical for growth</vt:lpstr>
      <vt:lpstr>Small and Medium Sized Enterprises (SME)   DIGITALISATION</vt:lpstr>
      <vt:lpstr>PREREQUISITES FOR ADAPTATION </vt:lpstr>
      <vt:lpstr>Welcome to Citrus Chat Central</vt:lpstr>
      <vt:lpstr>USING DATA SCIENCE TO SOLVE CONTACT CENTER CHALLENGES</vt:lpstr>
      <vt:lpstr>Decomposition of Time Series</vt:lpstr>
      <vt:lpstr>Test and Train Split</vt:lpstr>
      <vt:lpstr>Forecasting with Default Settings</vt:lpstr>
      <vt:lpstr>Accuracy with Default Settings</vt:lpstr>
      <vt:lpstr>Forecast Horizon Vs Forecast Accuracy</vt:lpstr>
      <vt:lpstr>Importance of EDA in Modelling</vt:lpstr>
      <vt:lpstr>Accuracy Improvement after Preprocessing</vt:lpstr>
      <vt:lpstr>DATA PROCESSING PIPELINE </vt:lpstr>
      <vt:lpstr>VISUALISATION OF IVR JOURNEY </vt:lpstr>
      <vt:lpstr>Tools for Visualisation</vt:lpstr>
      <vt:lpstr>Transfer Rate Per IVR Journey </vt:lpstr>
      <vt:lpstr>From Transfer Rate To Transfer Volume </vt:lpstr>
      <vt:lpstr>Solution to Decrease Transfer Rate</vt:lpstr>
      <vt:lpstr>SUMMARY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POWERED CONTACT CENTER: Insight for Decision Making</dc:title>
  <dc:creator>LENOVO</dc:creator>
  <cp:lastModifiedBy>Cecetov, Alexandr</cp:lastModifiedBy>
  <cp:revision>183</cp:revision>
  <dcterms:modified xsi:type="dcterms:W3CDTF">2023-11-03T20:46:43Z</dcterms:modified>
</cp:coreProperties>
</file>