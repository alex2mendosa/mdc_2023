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66" r:id="rId3"/>
    <p:sldId id="291" r:id="rId4"/>
    <p:sldId id="306" r:id="rId5"/>
    <p:sldId id="258" r:id="rId6"/>
    <p:sldId id="286" r:id="rId7"/>
    <p:sldId id="293" r:id="rId8"/>
    <p:sldId id="292" r:id="rId9"/>
    <p:sldId id="294" r:id="rId10"/>
    <p:sldId id="297" r:id="rId11"/>
    <p:sldId id="298" r:id="rId12"/>
    <p:sldId id="296" r:id="rId13"/>
    <p:sldId id="274" r:id="rId14"/>
    <p:sldId id="269" r:id="rId15"/>
    <p:sldId id="300" r:id="rId16"/>
    <p:sldId id="301" r:id="rId17"/>
    <p:sldId id="303" r:id="rId18"/>
    <p:sldId id="304" r:id="rId19"/>
    <p:sldId id="257" r:id="rId20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2"/>
    </p:embeddedFont>
    <p:embeddedFont>
      <p:font typeface="Maven Pro" panose="020B0604020202020204" charset="0"/>
      <p:regular r:id="rId23"/>
      <p:bold r:id="rId24"/>
    </p:embeddedFont>
    <p:embeddedFont>
      <p:font typeface="Nunito Light" pitchFamily="2" charset="-52"/>
      <p:regular r:id="rId25"/>
      <p:italic r:id="rId26"/>
    </p:embeddedFont>
    <p:embeddedFont>
      <p:font typeface="Roboto Condensed Light" panose="02000000000000000000" pitchFamily="2" charset="0"/>
      <p:regular r:id="rId27"/>
      <p:italic r:id="rId28"/>
    </p:embeddedFont>
    <p:embeddedFont>
      <p:font typeface="Share Tech" panose="020B0604020202020204" charset="0"/>
      <p:regular r:id="rId29"/>
    </p:embeddedFont>
    <p:embeddedFont>
      <p:font typeface="Trebuchet MS" panose="020B0603020202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BD86"/>
    <a:srgbClr val="E4D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AA7EAD-770A-4BA6-A570-980CF8E8E115}">
  <a:tblStyle styleId="{6CAA7EAD-770A-4BA6-A570-980CF8E8E1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0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b16c18d1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b16c18d1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1b16c18d105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1b16c18d105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b16c18d105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1b16c18d105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1b16c18d105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1b16c18d105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649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1b16c18d105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1b16c18d105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808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412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844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022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5731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9496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b16c18d105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b16c18d105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b16c18d10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b16c18d105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3285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b16c18d10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b16c18d105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18530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b16c18d10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b16c18d105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763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b16c18d10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b16c18d105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5100"/>
            <a:ext cx="4242900" cy="237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2600"/>
            <a:ext cx="4242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781344" y="24003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756292" y="1085276"/>
            <a:ext cx="188650" cy="2468354"/>
            <a:chOff x="250617" y="2402301"/>
            <a:chExt cx="188650" cy="2468354"/>
          </a:xfrm>
        </p:grpSpPr>
        <p:sp>
          <p:nvSpPr>
            <p:cNvPr id="13" name="Google Shape;13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139298" y="21446"/>
            <a:ext cx="98059" cy="1906193"/>
            <a:chOff x="139298" y="21446"/>
            <a:chExt cx="98059" cy="1906193"/>
          </a:xfrm>
        </p:grpSpPr>
        <p:sp>
          <p:nvSpPr>
            <p:cNvPr id="18" name="Google Shape;18;p2"/>
            <p:cNvSpPr/>
            <p:nvPr/>
          </p:nvSpPr>
          <p:spPr>
            <a:xfrm>
              <a:off x="139298" y="1829345"/>
              <a:ext cx="98059" cy="98295"/>
            </a:xfrm>
            <a:custGeom>
              <a:avLst/>
              <a:gdLst/>
              <a:ahLst/>
              <a:cxnLst/>
              <a:rect l="l" t="t" r="r" b="b"/>
              <a:pathLst>
                <a:path w="3742" h="3751" fill="none" extrusionOk="0">
                  <a:moveTo>
                    <a:pt x="1" y="0"/>
                  </a:moveTo>
                  <a:lnTo>
                    <a:pt x="3742" y="0"/>
                  </a:lnTo>
                  <a:lnTo>
                    <a:pt x="3742" y="3750"/>
                  </a:lnTo>
                  <a:lnTo>
                    <a:pt x="1" y="3750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4088" y="21446"/>
              <a:ext cx="8464" cy="1689069"/>
            </a:xfrm>
            <a:custGeom>
              <a:avLst/>
              <a:gdLst/>
              <a:ahLst/>
              <a:cxnLst/>
              <a:rect l="l" t="t" r="r" b="b"/>
              <a:pathLst>
                <a:path w="323" h="64456" extrusionOk="0">
                  <a:moveTo>
                    <a:pt x="166" y="0"/>
                  </a:moveTo>
                  <a:lnTo>
                    <a:pt x="1" y="64456"/>
                  </a:lnTo>
                  <a:lnTo>
                    <a:pt x="322" y="6445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414454" y="1881556"/>
            <a:ext cx="121434" cy="2043400"/>
            <a:chOff x="414454" y="1881556"/>
            <a:chExt cx="121434" cy="2043400"/>
          </a:xfrm>
        </p:grpSpPr>
        <p:sp>
          <p:nvSpPr>
            <p:cNvPr id="21" name="Google Shape;21;p2"/>
            <p:cNvSpPr/>
            <p:nvPr/>
          </p:nvSpPr>
          <p:spPr>
            <a:xfrm>
              <a:off x="470939" y="1881556"/>
              <a:ext cx="8464" cy="1689096"/>
            </a:xfrm>
            <a:custGeom>
              <a:avLst/>
              <a:gdLst/>
              <a:ahLst/>
              <a:cxnLst/>
              <a:rect l="l" t="t" r="r" b="b"/>
              <a:pathLst>
                <a:path w="323" h="64457" extrusionOk="0">
                  <a:moveTo>
                    <a:pt x="157" y="1"/>
                  </a:moveTo>
                  <a:lnTo>
                    <a:pt x="0" y="64456"/>
                  </a:lnTo>
                  <a:lnTo>
                    <a:pt x="322" y="64456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14454" y="3618720"/>
              <a:ext cx="121434" cy="121434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34936" y="3844499"/>
              <a:ext cx="80469" cy="80458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2"/>
          <p:cNvSpPr/>
          <p:nvPr/>
        </p:nvSpPr>
        <p:spPr>
          <a:xfrm>
            <a:off x="6004644" y="4796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4767909" y="144286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1373850" y="1992131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2" hasCustomPrompt="1"/>
          </p:nvPr>
        </p:nvSpPr>
        <p:spPr>
          <a:xfrm>
            <a:off x="6441451" y="1992131"/>
            <a:ext cx="1328700" cy="8418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1373850" y="2760613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3"/>
          <p:cNvGrpSpPr/>
          <p:nvPr/>
        </p:nvGrpSpPr>
        <p:grpSpPr>
          <a:xfrm>
            <a:off x="8566507" y="188009"/>
            <a:ext cx="188886" cy="1181531"/>
            <a:chOff x="2877432" y="975334"/>
            <a:chExt cx="188886" cy="1181531"/>
          </a:xfrm>
        </p:grpSpPr>
        <p:sp>
          <p:nvSpPr>
            <p:cNvPr id="31" name="Google Shape;31;p3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3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3"/>
          <p:cNvGrpSpPr/>
          <p:nvPr/>
        </p:nvGrpSpPr>
        <p:grpSpPr>
          <a:xfrm>
            <a:off x="329496" y="1091548"/>
            <a:ext cx="199001" cy="2139769"/>
            <a:chOff x="8008096" y="2108910"/>
            <a:chExt cx="199001" cy="2139769"/>
          </a:xfrm>
        </p:grpSpPr>
        <p:sp>
          <p:nvSpPr>
            <p:cNvPr id="36" name="Google Shape;36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19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Roboto Condensed Light"/>
              <a:buChar char="○"/>
              <a:defRPr sz="1200"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grpSp>
        <p:nvGrpSpPr>
          <p:cNvPr id="41" name="Google Shape;41;p4"/>
          <p:cNvGrpSpPr/>
          <p:nvPr/>
        </p:nvGrpSpPr>
        <p:grpSpPr>
          <a:xfrm>
            <a:off x="278798" y="1881556"/>
            <a:ext cx="191952" cy="1929123"/>
            <a:chOff x="278798" y="1881556"/>
            <a:chExt cx="191952" cy="1929123"/>
          </a:xfrm>
        </p:grpSpPr>
        <p:sp>
          <p:nvSpPr>
            <p:cNvPr id="42" name="Google Shape;42;p4"/>
            <p:cNvSpPr/>
            <p:nvPr/>
          </p:nvSpPr>
          <p:spPr>
            <a:xfrm>
              <a:off x="370541" y="1881556"/>
              <a:ext cx="8464" cy="1689096"/>
            </a:xfrm>
            <a:custGeom>
              <a:avLst/>
              <a:gdLst/>
              <a:ahLst/>
              <a:cxnLst/>
              <a:rect l="l" t="t" r="r" b="b"/>
              <a:pathLst>
                <a:path w="323" h="64457" extrusionOk="0">
                  <a:moveTo>
                    <a:pt x="157" y="1"/>
                  </a:moveTo>
                  <a:lnTo>
                    <a:pt x="0" y="64456"/>
                  </a:lnTo>
                  <a:lnTo>
                    <a:pt x="322" y="64456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278798" y="3618728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44;p4"/>
          <p:cNvSpPr/>
          <p:nvPr/>
        </p:nvSpPr>
        <p:spPr>
          <a:xfrm>
            <a:off x="7472809" y="145861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" name="Google Shape;45;p4"/>
          <p:cNvGrpSpPr/>
          <p:nvPr/>
        </p:nvGrpSpPr>
        <p:grpSpPr>
          <a:xfrm>
            <a:off x="8518310" y="1117301"/>
            <a:ext cx="191952" cy="1289053"/>
            <a:chOff x="8518310" y="1117301"/>
            <a:chExt cx="191952" cy="1289053"/>
          </a:xfrm>
        </p:grpSpPr>
        <p:sp>
          <p:nvSpPr>
            <p:cNvPr id="46" name="Google Shape;46;p4"/>
            <p:cNvSpPr/>
            <p:nvPr/>
          </p:nvSpPr>
          <p:spPr>
            <a:xfrm>
              <a:off x="8610060" y="1117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8518310" y="2214403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4"/>
          <p:cNvGrpSpPr/>
          <p:nvPr/>
        </p:nvGrpSpPr>
        <p:grpSpPr>
          <a:xfrm>
            <a:off x="8786190" y="2702371"/>
            <a:ext cx="121446" cy="1966926"/>
            <a:chOff x="8786190" y="2702371"/>
            <a:chExt cx="121446" cy="1966926"/>
          </a:xfrm>
        </p:grpSpPr>
        <p:sp>
          <p:nvSpPr>
            <p:cNvPr id="49" name="Google Shape;49;p4"/>
            <p:cNvSpPr/>
            <p:nvPr/>
          </p:nvSpPr>
          <p:spPr>
            <a:xfrm>
              <a:off x="8842675" y="2702371"/>
              <a:ext cx="8464" cy="1689069"/>
            </a:xfrm>
            <a:custGeom>
              <a:avLst/>
              <a:gdLst/>
              <a:ahLst/>
              <a:cxnLst/>
              <a:rect l="l" t="t" r="r" b="b"/>
              <a:pathLst>
                <a:path w="323" h="64456" extrusionOk="0">
                  <a:moveTo>
                    <a:pt x="166" y="0"/>
                  </a:moveTo>
                  <a:lnTo>
                    <a:pt x="1" y="64456"/>
                  </a:lnTo>
                  <a:lnTo>
                    <a:pt x="322" y="6445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8786190" y="4547851"/>
              <a:ext cx="121446" cy="121446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" name="Google Shape;51;p4"/>
          <p:cNvSpPr/>
          <p:nvPr/>
        </p:nvSpPr>
        <p:spPr>
          <a:xfrm>
            <a:off x="4949065" y="46085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784265" y="4824001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7933240" y="46085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1297019" y="478008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145669" y="31180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536915" y="1163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43269" y="22403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94334" y="289486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6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233415" y="145401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5055284" y="36087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1583300" y="36087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3"/>
          </p:nvPr>
        </p:nvSpPr>
        <p:spPr>
          <a:xfrm>
            <a:off x="5055275" y="33007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4"/>
          </p:nvPr>
        </p:nvSpPr>
        <p:spPr>
          <a:xfrm>
            <a:off x="1583300" y="33007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71" name="Google Shape;71;p5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8612763" y="86777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8642025" y="4851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8854450" y="195025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152210" y="4753911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8891288" y="716085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202425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462900" y="47539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1"/>
          </p:nvPr>
        </p:nvSpPr>
        <p:spPr>
          <a:xfrm>
            <a:off x="720000" y="15419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" name="Google Shape;89;p7"/>
          <p:cNvGrpSpPr/>
          <p:nvPr/>
        </p:nvGrpSpPr>
        <p:grpSpPr>
          <a:xfrm>
            <a:off x="8812359" y="617388"/>
            <a:ext cx="121172" cy="760495"/>
            <a:chOff x="5245196" y="3136513"/>
            <a:chExt cx="121172" cy="760495"/>
          </a:xfrm>
        </p:grpSpPr>
        <p:sp>
          <p:nvSpPr>
            <p:cNvPr id="90" name="Google Shape;90;p7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7"/>
          <p:cNvSpPr/>
          <p:nvPr/>
        </p:nvSpPr>
        <p:spPr>
          <a:xfrm>
            <a:off x="318213" y="44189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454463" y="47414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" name="Google Shape;97;p8"/>
          <p:cNvGrpSpPr/>
          <p:nvPr/>
        </p:nvGrpSpPr>
        <p:grpSpPr>
          <a:xfrm>
            <a:off x="8702532" y="-474266"/>
            <a:ext cx="188886" cy="1181531"/>
            <a:chOff x="2877432" y="975334"/>
            <a:chExt cx="188886" cy="1181531"/>
          </a:xfrm>
        </p:grpSpPr>
        <p:sp>
          <p:nvSpPr>
            <p:cNvPr id="98" name="Google Shape;98;p8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8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" name="Google Shape;102;p8"/>
          <p:cNvGrpSpPr/>
          <p:nvPr/>
        </p:nvGrpSpPr>
        <p:grpSpPr>
          <a:xfrm>
            <a:off x="3090746" y="-661332"/>
            <a:ext cx="98059" cy="1147596"/>
            <a:chOff x="3347921" y="16006"/>
            <a:chExt cx="98059" cy="1147596"/>
          </a:xfrm>
        </p:grpSpPr>
        <p:sp>
          <p:nvSpPr>
            <p:cNvPr id="103" name="Google Shape;103;p8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8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106" name="Google Shape;106;p8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" name="Google Shape;108;p8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09" name="Google Shape;109;p8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" name="Google Shape;113;p8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8026047" y="145861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7698906" y="31180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7090153" y="1163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996506" y="22403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1347572" y="289486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6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1786653" y="145401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" name="Google Shape;123;p9"/>
          <p:cNvGrpSpPr/>
          <p:nvPr/>
        </p:nvGrpSpPr>
        <p:grpSpPr>
          <a:xfrm>
            <a:off x="8566507" y="188009"/>
            <a:ext cx="188886" cy="1181531"/>
            <a:chOff x="2877432" y="975334"/>
            <a:chExt cx="188886" cy="1181531"/>
          </a:xfrm>
        </p:grpSpPr>
        <p:sp>
          <p:nvSpPr>
            <p:cNvPr id="124" name="Google Shape;124;p9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9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" name="Google Shape;127;p9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" name="Google Shape;128;p9"/>
          <p:cNvGrpSpPr/>
          <p:nvPr/>
        </p:nvGrpSpPr>
        <p:grpSpPr>
          <a:xfrm>
            <a:off x="278798" y="1881556"/>
            <a:ext cx="191952" cy="1929123"/>
            <a:chOff x="278798" y="1881556"/>
            <a:chExt cx="191952" cy="1929123"/>
          </a:xfrm>
        </p:grpSpPr>
        <p:sp>
          <p:nvSpPr>
            <p:cNvPr id="129" name="Google Shape;129;p9"/>
            <p:cNvSpPr/>
            <p:nvPr/>
          </p:nvSpPr>
          <p:spPr>
            <a:xfrm>
              <a:off x="370541" y="1881556"/>
              <a:ext cx="8464" cy="1689096"/>
            </a:xfrm>
            <a:custGeom>
              <a:avLst/>
              <a:gdLst/>
              <a:ahLst/>
              <a:cxnLst/>
              <a:rect l="l" t="t" r="r" b="b"/>
              <a:pathLst>
                <a:path w="323" h="64457" extrusionOk="0">
                  <a:moveTo>
                    <a:pt x="157" y="1"/>
                  </a:moveTo>
                  <a:lnTo>
                    <a:pt x="0" y="64456"/>
                  </a:lnTo>
                  <a:lnTo>
                    <a:pt x="322" y="64456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>
              <a:off x="278798" y="3618728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250"/>
            <a:ext cx="6576000" cy="19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5" name="Google Shape;135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6" name="Google Shape;136;p11"/>
          <p:cNvGrpSpPr/>
          <p:nvPr/>
        </p:nvGrpSpPr>
        <p:grpSpPr>
          <a:xfrm>
            <a:off x="278798" y="1881556"/>
            <a:ext cx="191952" cy="1929123"/>
            <a:chOff x="278798" y="1881556"/>
            <a:chExt cx="191952" cy="1929123"/>
          </a:xfrm>
        </p:grpSpPr>
        <p:sp>
          <p:nvSpPr>
            <p:cNvPr id="137" name="Google Shape;137;p11"/>
            <p:cNvSpPr/>
            <p:nvPr/>
          </p:nvSpPr>
          <p:spPr>
            <a:xfrm>
              <a:off x="370541" y="1881556"/>
              <a:ext cx="8464" cy="1689096"/>
            </a:xfrm>
            <a:custGeom>
              <a:avLst/>
              <a:gdLst/>
              <a:ahLst/>
              <a:cxnLst/>
              <a:rect l="l" t="t" r="r" b="b"/>
              <a:pathLst>
                <a:path w="323" h="64457" extrusionOk="0">
                  <a:moveTo>
                    <a:pt x="157" y="1"/>
                  </a:moveTo>
                  <a:lnTo>
                    <a:pt x="0" y="64456"/>
                  </a:lnTo>
                  <a:lnTo>
                    <a:pt x="322" y="64456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278798" y="3618728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" name="Google Shape;139;p11"/>
          <p:cNvGrpSpPr/>
          <p:nvPr/>
        </p:nvGrpSpPr>
        <p:grpSpPr>
          <a:xfrm>
            <a:off x="8518310" y="1117301"/>
            <a:ext cx="191952" cy="1289053"/>
            <a:chOff x="8518310" y="1117301"/>
            <a:chExt cx="191952" cy="1289053"/>
          </a:xfrm>
        </p:grpSpPr>
        <p:sp>
          <p:nvSpPr>
            <p:cNvPr id="140" name="Google Shape;140;p11"/>
            <p:cNvSpPr/>
            <p:nvPr/>
          </p:nvSpPr>
          <p:spPr>
            <a:xfrm>
              <a:off x="8610060" y="1117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1"/>
            <p:cNvSpPr/>
            <p:nvPr/>
          </p:nvSpPr>
          <p:spPr>
            <a:xfrm>
              <a:off x="8518310" y="2214403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142;p11"/>
          <p:cNvGrpSpPr/>
          <p:nvPr/>
        </p:nvGrpSpPr>
        <p:grpSpPr>
          <a:xfrm>
            <a:off x="8786190" y="2702371"/>
            <a:ext cx="121446" cy="1966926"/>
            <a:chOff x="8786190" y="2702371"/>
            <a:chExt cx="121446" cy="1966926"/>
          </a:xfrm>
        </p:grpSpPr>
        <p:sp>
          <p:nvSpPr>
            <p:cNvPr id="143" name="Google Shape;143;p11"/>
            <p:cNvSpPr/>
            <p:nvPr/>
          </p:nvSpPr>
          <p:spPr>
            <a:xfrm>
              <a:off x="8842675" y="2702371"/>
              <a:ext cx="8464" cy="1689069"/>
            </a:xfrm>
            <a:custGeom>
              <a:avLst/>
              <a:gdLst/>
              <a:ahLst/>
              <a:cxnLst/>
              <a:rect l="l" t="t" r="r" b="b"/>
              <a:pathLst>
                <a:path w="323" h="64456" extrusionOk="0">
                  <a:moveTo>
                    <a:pt x="166" y="0"/>
                  </a:moveTo>
                  <a:lnTo>
                    <a:pt x="1" y="64456"/>
                  </a:lnTo>
                  <a:lnTo>
                    <a:pt x="322" y="6445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8786190" y="4547851"/>
              <a:ext cx="121446" cy="121446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/>
          <p:nvPr/>
        </p:nvSpPr>
        <p:spPr>
          <a:xfrm>
            <a:off x="4949065" y="46085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6784265" y="4824001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"/>
          <p:cNvSpPr/>
          <p:nvPr/>
        </p:nvSpPr>
        <p:spPr>
          <a:xfrm>
            <a:off x="7933240" y="46085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1297019" y="478008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5.pn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JP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33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18.png"/><Relationship Id="rId5" Type="http://schemas.openxmlformats.org/officeDocument/2006/relationships/image" Target="../media/image40.png"/><Relationship Id="rId10" Type="http://schemas.openxmlformats.org/officeDocument/2006/relationships/image" Target="../media/image44.png"/><Relationship Id="rId4" Type="http://schemas.openxmlformats.org/officeDocument/2006/relationships/image" Target="../media/image11.png"/><Relationship Id="rId9" Type="http://schemas.openxmlformats.org/officeDocument/2006/relationships/image" Target="../media/image43.png"/><Relationship Id="rId1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/>
          <p:nvPr/>
        </p:nvSpPr>
        <p:spPr>
          <a:xfrm>
            <a:off x="3688231" y="676545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6829234" y="3495813"/>
            <a:ext cx="133275" cy="133275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8055557" y="134431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5969504" y="3118803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4229517" y="4248683"/>
            <a:ext cx="119993" cy="119993"/>
          </a:xfrm>
          <a:custGeom>
            <a:avLst/>
            <a:gdLst/>
            <a:ahLst/>
            <a:cxnLst/>
            <a:rect l="l" t="t" r="r" b="b"/>
            <a:pathLst>
              <a:path w="4579" h="4579" extrusionOk="0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4"/>
          <p:cNvGrpSpPr/>
          <p:nvPr/>
        </p:nvGrpSpPr>
        <p:grpSpPr>
          <a:xfrm>
            <a:off x="6232314" y="3696331"/>
            <a:ext cx="121434" cy="1073147"/>
            <a:chOff x="6232314" y="3696331"/>
            <a:chExt cx="121434" cy="1073147"/>
          </a:xfrm>
        </p:grpSpPr>
        <p:sp>
          <p:nvSpPr>
            <p:cNvPr id="165" name="Google Shape;165;p14"/>
            <p:cNvSpPr/>
            <p:nvPr/>
          </p:nvSpPr>
          <p:spPr>
            <a:xfrm>
              <a:off x="6232314" y="4648280"/>
              <a:ext cx="121434" cy="121198"/>
            </a:xfrm>
            <a:custGeom>
              <a:avLst/>
              <a:gdLst/>
              <a:ahLst/>
              <a:cxnLst/>
              <a:rect l="l" t="t" r="r" b="b"/>
              <a:pathLst>
                <a:path w="463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6288681" y="3696331"/>
              <a:ext cx="8700" cy="872731"/>
            </a:xfrm>
            <a:custGeom>
              <a:avLst/>
              <a:gdLst/>
              <a:ahLst/>
              <a:cxnLst/>
              <a:rect l="l" t="t" r="r" b="b"/>
              <a:pathLst>
                <a:path w="332" h="33304" extrusionOk="0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14"/>
          <p:cNvGrpSpPr/>
          <p:nvPr/>
        </p:nvGrpSpPr>
        <p:grpSpPr>
          <a:xfrm>
            <a:off x="6608011" y="1054827"/>
            <a:ext cx="133252" cy="1952377"/>
            <a:chOff x="6780548" y="337714"/>
            <a:chExt cx="133252" cy="1952377"/>
          </a:xfrm>
        </p:grpSpPr>
        <p:sp>
          <p:nvSpPr>
            <p:cNvPr id="168" name="Google Shape;168;p14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" name="Google Shape;170;p14"/>
          <p:cNvGrpSpPr/>
          <p:nvPr/>
        </p:nvGrpSpPr>
        <p:grpSpPr>
          <a:xfrm>
            <a:off x="7142605" y="260834"/>
            <a:ext cx="199237" cy="2828935"/>
            <a:chOff x="1608717" y="1280046"/>
            <a:chExt cx="199237" cy="2828935"/>
          </a:xfrm>
        </p:grpSpPr>
        <p:sp>
          <p:nvSpPr>
            <p:cNvPr id="171" name="Google Shape;171;p14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14"/>
          <p:cNvGrpSpPr/>
          <p:nvPr/>
        </p:nvGrpSpPr>
        <p:grpSpPr>
          <a:xfrm>
            <a:off x="5260692" y="676553"/>
            <a:ext cx="80476" cy="2708957"/>
            <a:chOff x="5260692" y="676553"/>
            <a:chExt cx="80476" cy="2708957"/>
          </a:xfrm>
        </p:grpSpPr>
        <p:sp>
          <p:nvSpPr>
            <p:cNvPr id="175" name="Google Shape;175;p14"/>
            <p:cNvSpPr/>
            <p:nvPr/>
          </p:nvSpPr>
          <p:spPr>
            <a:xfrm>
              <a:off x="5260692" y="3305034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extrusionOk="0">
                  <a:moveTo>
                    <a:pt x="1" y="1"/>
                  </a:moveTo>
                  <a:lnTo>
                    <a:pt x="1" y="3071"/>
                  </a:lnTo>
                  <a:lnTo>
                    <a:pt x="3071" y="3071"/>
                  </a:lnTo>
                  <a:lnTo>
                    <a:pt x="30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5296692" y="676553"/>
              <a:ext cx="8464" cy="2519663"/>
            </a:xfrm>
            <a:custGeom>
              <a:avLst/>
              <a:gdLst/>
              <a:ahLst/>
              <a:cxnLst/>
              <a:rect l="l" t="t" r="r" b="b"/>
              <a:pathLst>
                <a:path w="323" h="96152" extrusionOk="0">
                  <a:moveTo>
                    <a:pt x="166" y="1"/>
                  </a:moveTo>
                  <a:lnTo>
                    <a:pt x="1" y="96151"/>
                  </a:lnTo>
                  <a:lnTo>
                    <a:pt x="322" y="96151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4"/>
          <p:cNvSpPr/>
          <p:nvPr/>
        </p:nvSpPr>
        <p:spPr>
          <a:xfrm>
            <a:off x="7670738" y="2784681"/>
            <a:ext cx="8464" cy="1689096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" name="Google Shape;178;p14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179" name="Google Shape;179;p14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5930000" y="1241705"/>
            <a:ext cx="199001" cy="867198"/>
            <a:chOff x="4475150" y="4052605"/>
            <a:chExt cx="199001" cy="867198"/>
          </a:xfrm>
        </p:grpSpPr>
        <p:sp>
          <p:nvSpPr>
            <p:cNvPr id="182" name="Google Shape;182;p14"/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5" name="Google Shape;185;p14"/>
          <p:cNvSpPr/>
          <p:nvPr/>
        </p:nvSpPr>
        <p:spPr>
          <a:xfrm>
            <a:off x="5545159" y="4115388"/>
            <a:ext cx="133275" cy="133275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4"/>
          <p:cNvSpPr txBox="1">
            <a:spLocks noGrp="1"/>
          </p:cNvSpPr>
          <p:nvPr>
            <p:ph type="ctrTitle"/>
          </p:nvPr>
        </p:nvSpPr>
        <p:spPr>
          <a:xfrm>
            <a:off x="401138" y="8429"/>
            <a:ext cx="5074762" cy="3129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DATA </a:t>
            </a:r>
            <a:r>
              <a:rPr lang="en" sz="4000" dirty="0">
                <a:solidFill>
                  <a:schemeClr val="accent2"/>
                </a:solidFill>
              </a:rPr>
              <a:t>SCIENCE POWERED </a:t>
            </a:r>
            <a:r>
              <a:rPr lang="en" sz="4000" dirty="0">
                <a:solidFill>
                  <a:schemeClr val="tx1"/>
                </a:solidFill>
              </a:rPr>
              <a:t>CONTACT CENTER</a:t>
            </a:r>
            <a:r>
              <a:rPr lang="en" sz="4000" dirty="0">
                <a:solidFill>
                  <a:schemeClr val="accent2"/>
                </a:solidFill>
              </a:rPr>
              <a:t>:</a:t>
            </a:r>
            <a:br>
              <a:rPr lang="en" sz="4000" dirty="0">
                <a:solidFill>
                  <a:schemeClr val="accent2"/>
                </a:solidFill>
              </a:rPr>
            </a:br>
            <a:r>
              <a:rPr lang="en" sz="3500" dirty="0">
                <a:solidFill>
                  <a:schemeClr val="accent2"/>
                </a:solidFill>
              </a:rPr>
              <a:t>Insight for Decision Making</a:t>
            </a:r>
            <a:endParaRPr sz="3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4"/>
          <p:cNvSpPr txBox="1">
            <a:spLocks noGrp="1"/>
          </p:cNvSpPr>
          <p:nvPr>
            <p:ph type="title"/>
          </p:nvPr>
        </p:nvSpPr>
        <p:spPr>
          <a:xfrm>
            <a:off x="788277" y="32890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spc="50" dirty="0">
                <a:solidFill>
                  <a:schemeClr val="tx1"/>
                </a:solidFill>
                <a:latin typeface="Trebuchet MS" panose="020B0603020202020204" pitchFamily="34" charset="0"/>
              </a:rPr>
              <a:t>C</a:t>
            </a:r>
            <a:r>
              <a:rPr lang="en-US" b="1" spc="40" dirty="0">
                <a:solidFill>
                  <a:schemeClr val="tx1"/>
                </a:solidFill>
                <a:latin typeface="Trebuchet MS" panose="020B0603020202020204" pitchFamily="34" charset="0"/>
              </a:rPr>
              <a:t>ustomer </a:t>
            </a: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experience</a:t>
            </a:r>
            <a:r>
              <a:rPr lang="en-US" sz="2800" b="1" spc="-120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spc="80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is</a:t>
            </a:r>
            <a:r>
              <a:rPr lang="en-US" sz="2800" b="1" spc="-85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critical</a:t>
            </a:r>
            <a:r>
              <a:rPr lang="en-US" sz="2800" b="1" spc="-110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spc="85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for</a:t>
            </a:r>
            <a:r>
              <a:rPr lang="en-US" sz="2800" b="1" spc="-95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spc="125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growth</a:t>
            </a:r>
            <a:endParaRPr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517" name="Google Shape;517;p24" descr="Timeline background shape"/>
          <p:cNvSpPr/>
          <p:nvPr/>
        </p:nvSpPr>
        <p:spPr>
          <a:xfrm flipH="1">
            <a:off x="3048710" y="1177861"/>
            <a:ext cx="4443600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4" descr="Timeline background shape"/>
          <p:cNvSpPr/>
          <p:nvPr/>
        </p:nvSpPr>
        <p:spPr>
          <a:xfrm flipH="1">
            <a:off x="3034620" y="2109703"/>
            <a:ext cx="4443600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4" descr="Timeline background shape"/>
          <p:cNvSpPr/>
          <p:nvPr/>
        </p:nvSpPr>
        <p:spPr>
          <a:xfrm flipH="1">
            <a:off x="3048710" y="3033797"/>
            <a:ext cx="4443600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0" name="Google Shape;520;p24"/>
          <p:cNvGrpSpPr/>
          <p:nvPr/>
        </p:nvGrpSpPr>
        <p:grpSpPr>
          <a:xfrm>
            <a:off x="3340020" y="3080447"/>
            <a:ext cx="4138200" cy="484500"/>
            <a:chOff x="2649263" y="3948755"/>
            <a:chExt cx="4138200" cy="484500"/>
          </a:xfrm>
        </p:grpSpPr>
        <p:sp>
          <p:nvSpPr>
            <p:cNvPr id="521" name="Google Shape;521;p24"/>
            <p:cNvSpPr txBox="1"/>
            <p:nvPr/>
          </p:nvSpPr>
          <p:spPr>
            <a:xfrm>
              <a:off x="2649263" y="3948755"/>
              <a:ext cx="763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3"/>
                  </a:solidFill>
                  <a:latin typeface="Share Tech"/>
                  <a:ea typeface="Share Tech"/>
                  <a:cs typeface="Share Tech"/>
                  <a:sym typeface="Share Tech"/>
                </a:rPr>
                <a:t>52%</a:t>
              </a:r>
              <a:endParaRPr sz="2400" dirty="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523" name="Google Shape;523;p24"/>
            <p:cNvSpPr txBox="1"/>
            <p:nvPr/>
          </p:nvSpPr>
          <p:spPr>
            <a:xfrm>
              <a:off x="3576576" y="3948755"/>
              <a:ext cx="3210887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solidFill>
                    <a:schemeClr val="tx1"/>
                  </a:solidFill>
                  <a:latin typeface="Trebuchet MS"/>
                  <a:cs typeface="Trebuchet MS"/>
                </a:rPr>
                <a:t>Share the story about</a:t>
              </a: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solidFill>
                    <a:schemeClr val="tx1"/>
                  </a:solidFill>
                  <a:latin typeface="Trebuchet MS"/>
                  <a:cs typeface="Trebuchet MS"/>
                </a:rPr>
                <a:t>bad experience</a:t>
              </a:r>
            </a:p>
          </p:txBody>
        </p:sp>
      </p:grpSp>
      <p:grpSp>
        <p:nvGrpSpPr>
          <p:cNvPr id="524" name="Google Shape;524;p24"/>
          <p:cNvGrpSpPr/>
          <p:nvPr/>
        </p:nvGrpSpPr>
        <p:grpSpPr>
          <a:xfrm>
            <a:off x="3332974" y="2156353"/>
            <a:ext cx="4138200" cy="484500"/>
            <a:chOff x="3457358" y="2836364"/>
            <a:chExt cx="4138200" cy="484500"/>
          </a:xfrm>
        </p:grpSpPr>
        <p:sp>
          <p:nvSpPr>
            <p:cNvPr id="525" name="Google Shape;525;p24"/>
            <p:cNvSpPr txBox="1"/>
            <p:nvPr/>
          </p:nvSpPr>
          <p:spPr>
            <a:xfrm>
              <a:off x="3457358" y="2836364"/>
              <a:ext cx="763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32%</a:t>
              </a:r>
              <a:endParaRPr sz="2400" dirty="0">
                <a:solidFill>
                  <a:schemeClr val="accen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527" name="Google Shape;527;p24"/>
            <p:cNvSpPr txBox="1"/>
            <p:nvPr/>
          </p:nvSpPr>
          <p:spPr>
            <a:xfrm>
              <a:off x="4372384" y="2836364"/>
              <a:ext cx="3223174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solidFill>
                    <a:schemeClr val="tx1"/>
                  </a:solidFill>
                  <a:latin typeface="Trebuchet MS"/>
                  <a:cs typeface="Trebuchet MS"/>
                </a:rPr>
                <a:t>Churn</a:t>
              </a:r>
              <a:r>
                <a:rPr lang="en-US" spc="-40" dirty="0">
                  <a:solidFill>
                    <a:schemeClr val="tx1"/>
                  </a:solidFill>
                  <a:latin typeface="Trebuchet MS"/>
                  <a:cs typeface="Trebuchet MS"/>
                </a:rPr>
                <a:t> </a:t>
              </a:r>
              <a:r>
                <a:rPr lang="en-US" spc="-10" dirty="0">
                  <a:solidFill>
                    <a:schemeClr val="tx1"/>
                  </a:solidFill>
                  <a:latin typeface="Trebuchet MS"/>
                  <a:cs typeface="Trebuchet MS"/>
                </a:rPr>
                <a:t>after</a:t>
              </a:r>
              <a:r>
                <a:rPr lang="en-US" spc="-45" dirty="0">
                  <a:solidFill>
                    <a:schemeClr val="tx1"/>
                  </a:solidFill>
                  <a:latin typeface="Trebuchet MS"/>
                  <a:cs typeface="Trebuchet MS"/>
                </a:rPr>
                <a:t> </a:t>
              </a:r>
              <a:r>
                <a:rPr lang="en-US" spc="-25" dirty="0">
                  <a:solidFill>
                    <a:schemeClr val="tx1"/>
                  </a:solidFill>
                  <a:latin typeface="Trebuchet MS"/>
                  <a:cs typeface="Trebuchet MS"/>
                </a:rPr>
                <a:t>one  </a:t>
              </a: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solidFill>
                    <a:schemeClr val="tx1"/>
                  </a:solidFill>
                  <a:latin typeface="Trebuchet MS"/>
                  <a:cs typeface="Trebuchet MS"/>
                </a:rPr>
                <a:t>bad</a:t>
              </a:r>
              <a:r>
                <a:rPr lang="en-US" spc="40" dirty="0">
                  <a:solidFill>
                    <a:schemeClr val="tx1"/>
                  </a:solidFill>
                  <a:latin typeface="Trebuchet MS"/>
                  <a:cs typeface="Trebuchet MS"/>
                </a:rPr>
                <a:t> </a:t>
              </a:r>
              <a:r>
                <a:rPr lang="en-US" spc="-10" dirty="0">
                  <a:solidFill>
                    <a:schemeClr val="tx1"/>
                  </a:solidFill>
                  <a:latin typeface="Trebuchet MS"/>
                  <a:cs typeface="Trebuchet MS"/>
                </a:rPr>
                <a:t>experience</a:t>
              </a:r>
              <a:endParaRPr lang="en-US" dirty="0">
                <a:solidFill>
                  <a:schemeClr val="tx1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528" name="Google Shape;528;p24"/>
          <p:cNvGrpSpPr/>
          <p:nvPr/>
        </p:nvGrpSpPr>
        <p:grpSpPr>
          <a:xfrm>
            <a:off x="3354108" y="1224511"/>
            <a:ext cx="4138200" cy="484500"/>
            <a:chOff x="4286783" y="1724011"/>
            <a:chExt cx="4138200" cy="484500"/>
          </a:xfrm>
        </p:grpSpPr>
        <p:sp>
          <p:nvSpPr>
            <p:cNvPr id="529" name="Google Shape;529;p24"/>
            <p:cNvSpPr txBox="1"/>
            <p:nvPr/>
          </p:nvSpPr>
          <p:spPr>
            <a:xfrm>
              <a:off x="4286783" y="1724011"/>
              <a:ext cx="763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2"/>
                  </a:solidFill>
                  <a:latin typeface="Share Tech"/>
                  <a:ea typeface="Share Tech"/>
                  <a:cs typeface="Share Tech"/>
                  <a:sym typeface="Share Tech"/>
                </a:rPr>
                <a:t>80%</a:t>
              </a:r>
              <a:endParaRPr sz="2400" dirty="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531" name="Google Shape;531;p24"/>
            <p:cNvSpPr txBox="1"/>
            <p:nvPr/>
          </p:nvSpPr>
          <p:spPr>
            <a:xfrm>
              <a:off x="5168962" y="1724011"/>
              <a:ext cx="3256021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solidFill>
                    <a:schemeClr val="tx1"/>
                  </a:solidFill>
                  <a:latin typeface="Trebuchet MS"/>
                  <a:cs typeface="Trebuchet MS"/>
                </a:rPr>
                <a:t>CX company provides is as Important as Product or Service</a:t>
              </a:r>
            </a:p>
          </p:txBody>
        </p:sp>
      </p:grpSp>
      <p:cxnSp>
        <p:nvCxnSpPr>
          <p:cNvPr id="532" name="Google Shape;532;p24"/>
          <p:cNvCxnSpPr/>
          <p:nvPr/>
        </p:nvCxnSpPr>
        <p:spPr>
          <a:xfrm>
            <a:off x="4117900" y="1181011"/>
            <a:ext cx="0" cy="5715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" name="Google Shape;534;p24"/>
          <p:cNvCxnSpPr/>
          <p:nvPr/>
        </p:nvCxnSpPr>
        <p:spPr>
          <a:xfrm>
            <a:off x="4094227" y="2109703"/>
            <a:ext cx="0" cy="577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24"/>
          <p:cNvCxnSpPr/>
          <p:nvPr/>
        </p:nvCxnSpPr>
        <p:spPr>
          <a:xfrm>
            <a:off x="4098733" y="3033347"/>
            <a:ext cx="0" cy="578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8" name="Google Shape;538;p24"/>
          <p:cNvSpPr/>
          <p:nvPr/>
        </p:nvSpPr>
        <p:spPr>
          <a:xfrm>
            <a:off x="820849" y="2980025"/>
            <a:ext cx="1657790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800739" y="2060525"/>
            <a:ext cx="1677900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4"/>
          <p:cNvSpPr/>
          <p:nvPr/>
        </p:nvSpPr>
        <p:spPr>
          <a:xfrm>
            <a:off x="800739" y="1141025"/>
            <a:ext cx="1677900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4"/>
          <p:cNvSpPr/>
          <p:nvPr/>
        </p:nvSpPr>
        <p:spPr>
          <a:xfrm>
            <a:off x="788277" y="1134259"/>
            <a:ext cx="1389773" cy="6888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4"/>
          <p:cNvSpPr/>
          <p:nvPr/>
        </p:nvSpPr>
        <p:spPr>
          <a:xfrm>
            <a:off x="800739" y="2060525"/>
            <a:ext cx="610050" cy="688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4"/>
          <p:cNvSpPr/>
          <p:nvPr/>
        </p:nvSpPr>
        <p:spPr>
          <a:xfrm>
            <a:off x="820849" y="2980025"/>
            <a:ext cx="916511" cy="6888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519;p24" descr="Timeline background shape">
            <a:extLst>
              <a:ext uri="{FF2B5EF4-FFF2-40B4-BE49-F238E27FC236}">
                <a16:creationId xmlns:a16="http://schemas.microsoft.com/office/drawing/2014/main" id="{80EE23C6-39C2-1B4F-E97D-851AB14715F8}"/>
              </a:ext>
            </a:extLst>
          </p:cNvPr>
          <p:cNvSpPr/>
          <p:nvPr/>
        </p:nvSpPr>
        <p:spPr>
          <a:xfrm flipH="1">
            <a:off x="3048710" y="3953289"/>
            <a:ext cx="4443600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520;p24">
            <a:extLst>
              <a:ext uri="{FF2B5EF4-FFF2-40B4-BE49-F238E27FC236}">
                <a16:creationId xmlns:a16="http://schemas.microsoft.com/office/drawing/2014/main" id="{F51B2046-CD15-459D-6592-7FC06738DE32}"/>
              </a:ext>
            </a:extLst>
          </p:cNvPr>
          <p:cNvGrpSpPr/>
          <p:nvPr/>
        </p:nvGrpSpPr>
        <p:grpSpPr>
          <a:xfrm>
            <a:off x="3340020" y="3999939"/>
            <a:ext cx="4138200" cy="484500"/>
            <a:chOff x="2649263" y="3948755"/>
            <a:chExt cx="4138200" cy="484500"/>
          </a:xfrm>
        </p:grpSpPr>
        <p:sp>
          <p:nvSpPr>
            <p:cNvPr id="4" name="Google Shape;521;p24">
              <a:extLst>
                <a:ext uri="{FF2B5EF4-FFF2-40B4-BE49-F238E27FC236}">
                  <a16:creationId xmlns:a16="http://schemas.microsoft.com/office/drawing/2014/main" id="{18FBE6C0-BAE2-38A3-5C92-75C85718F0E3}"/>
                </a:ext>
              </a:extLst>
            </p:cNvPr>
            <p:cNvSpPr txBox="1"/>
            <p:nvPr/>
          </p:nvSpPr>
          <p:spPr>
            <a:xfrm>
              <a:off x="2649263" y="3948755"/>
              <a:ext cx="763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bg1">
                      <a:lumMod val="25000"/>
                      <a:lumOff val="75000"/>
                    </a:schemeClr>
                  </a:solidFill>
                  <a:latin typeface="Share Tech"/>
                  <a:ea typeface="Share Tech"/>
                  <a:cs typeface="Share Tech"/>
                  <a:sym typeface="Share Tech"/>
                </a:rPr>
                <a:t>89%</a:t>
              </a:r>
              <a:endParaRPr sz="2400" dirty="0">
                <a:solidFill>
                  <a:schemeClr val="bg1">
                    <a:lumMod val="25000"/>
                    <a:lumOff val="75000"/>
                  </a:schemeClr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6" name="Google Shape;523;p24">
              <a:extLst>
                <a:ext uri="{FF2B5EF4-FFF2-40B4-BE49-F238E27FC236}">
                  <a16:creationId xmlns:a16="http://schemas.microsoft.com/office/drawing/2014/main" id="{FE01C773-D1BB-505E-35CC-493B60555851}"/>
                </a:ext>
              </a:extLst>
            </p:cNvPr>
            <p:cNvSpPr txBox="1"/>
            <p:nvPr/>
          </p:nvSpPr>
          <p:spPr>
            <a:xfrm>
              <a:off x="3685784" y="3948755"/>
              <a:ext cx="3101679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solidFill>
                    <a:schemeClr val="tx1"/>
                  </a:solidFill>
                  <a:latin typeface="Trebuchet MS"/>
                  <a:cs typeface="Trebuchet MS"/>
                </a:rPr>
                <a:t>Ready to repeat purchase due to Positive CX</a:t>
              </a:r>
            </a:p>
          </p:txBody>
        </p:sp>
      </p:grpSp>
      <p:cxnSp>
        <p:nvCxnSpPr>
          <p:cNvPr id="7" name="Google Shape;536;p24">
            <a:extLst>
              <a:ext uri="{FF2B5EF4-FFF2-40B4-BE49-F238E27FC236}">
                <a16:creationId xmlns:a16="http://schemas.microsoft.com/office/drawing/2014/main" id="{F1BB7C07-D444-71B5-6CB0-FF5D3678315C}"/>
              </a:ext>
            </a:extLst>
          </p:cNvPr>
          <p:cNvCxnSpPr/>
          <p:nvPr/>
        </p:nvCxnSpPr>
        <p:spPr>
          <a:xfrm>
            <a:off x="4098733" y="3952839"/>
            <a:ext cx="0" cy="578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538;p24">
            <a:extLst>
              <a:ext uri="{FF2B5EF4-FFF2-40B4-BE49-F238E27FC236}">
                <a16:creationId xmlns:a16="http://schemas.microsoft.com/office/drawing/2014/main" id="{267EB439-FCA4-9B65-9E18-54A349A66993}"/>
              </a:ext>
            </a:extLst>
          </p:cNvPr>
          <p:cNvSpPr/>
          <p:nvPr/>
        </p:nvSpPr>
        <p:spPr>
          <a:xfrm>
            <a:off x="825104" y="3928000"/>
            <a:ext cx="1653534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43;p24">
            <a:extLst>
              <a:ext uri="{FF2B5EF4-FFF2-40B4-BE49-F238E27FC236}">
                <a16:creationId xmlns:a16="http://schemas.microsoft.com/office/drawing/2014/main" id="{53328E5C-5AE6-A5C2-069C-ED98697BC679}"/>
              </a:ext>
            </a:extLst>
          </p:cNvPr>
          <p:cNvSpPr/>
          <p:nvPr/>
        </p:nvSpPr>
        <p:spPr>
          <a:xfrm>
            <a:off x="825104" y="3928000"/>
            <a:ext cx="1428239" cy="6888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E484500E-EC52-9E69-6307-D8BD88EAF4BC}"/>
              </a:ext>
            </a:extLst>
          </p:cNvPr>
          <p:cNvSpPr txBox="1"/>
          <p:nvPr/>
        </p:nvSpPr>
        <p:spPr>
          <a:xfrm>
            <a:off x="4572000" y="4669505"/>
            <a:ext cx="6356477" cy="6309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chemeClr val="tx1"/>
                </a:solidFill>
                <a:latin typeface="Trebuchet MS"/>
                <a:cs typeface="Trebuchet MS"/>
              </a:rPr>
              <a:t>https://www.pwc.com/us/en/services/consulting/library/consumer-intelligence-series/future-</a:t>
            </a:r>
            <a:r>
              <a:rPr sz="600" dirty="0">
                <a:solidFill>
                  <a:schemeClr val="tx1"/>
                </a:solidFill>
                <a:latin typeface="Trebuchet MS"/>
                <a:cs typeface="Trebuchet MS"/>
              </a:rPr>
              <a:t>of-customer-</a:t>
            </a:r>
            <a:r>
              <a:rPr sz="600" spc="-10" dirty="0">
                <a:solidFill>
                  <a:schemeClr val="tx1"/>
                </a:solidFill>
                <a:latin typeface="Trebuchet MS"/>
                <a:cs typeface="Trebuchet MS"/>
              </a:rPr>
              <a:t>experience.html</a:t>
            </a:r>
            <a:endParaRPr lang="en-US" sz="600" spc="-1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spc="-10" dirty="0">
                <a:solidFill>
                  <a:schemeClr val="tx1"/>
                </a:solidFill>
                <a:latin typeface="Trebuchet MS"/>
                <a:cs typeface="Trebuchet MS"/>
              </a:rPr>
              <a:t>https://www.salesforce.com/content/dam/web/it_it/www/pdf/connected-customer-report-2020.pdf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spc="-10" dirty="0">
                <a:solidFill>
                  <a:schemeClr val="tx1"/>
                </a:solidFill>
                <a:latin typeface="Trebuchet MS"/>
                <a:cs typeface="Trebuchet MS"/>
              </a:rPr>
              <a:t>https://www.mckinsey.com/capabilities/operations/our-insights/how-advanced-analytics-can-help-contact-centers-put-the-customer-first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spc="-10" dirty="0">
                <a:solidFill>
                  <a:schemeClr val="tx1"/>
                </a:solidFill>
                <a:latin typeface="Trebuchet MS"/>
                <a:cs typeface="Trebuchet MS"/>
              </a:rPr>
              <a:t>https://www.zendesk.com/blog/customer-service-and-lifetime-customer-value/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600" spc="-1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6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5"/>
          <p:cNvSpPr txBox="1">
            <a:spLocks noGrp="1"/>
          </p:cNvSpPr>
          <p:nvPr>
            <p:ph type="title"/>
          </p:nvPr>
        </p:nvSpPr>
        <p:spPr>
          <a:xfrm>
            <a:off x="159509" y="226404"/>
            <a:ext cx="8145428" cy="10228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Small and Medium Sized Enterprises (SME)</a:t>
            </a:r>
            <a:r>
              <a:rPr lang="en-US" sz="2000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ro-MD" sz="3000" dirty="0"/>
              <a:t> </a:t>
            </a:r>
            <a:br>
              <a:rPr lang="en-US" sz="3000" dirty="0"/>
            </a:br>
            <a:r>
              <a:rPr lang="ro-MD" sz="3000" dirty="0"/>
              <a:t>DIGITALI</a:t>
            </a:r>
            <a:r>
              <a:rPr lang="ro-MD" sz="3000" dirty="0">
                <a:solidFill>
                  <a:schemeClr val="accent6"/>
                </a:solidFill>
              </a:rPr>
              <a:t>S</a:t>
            </a:r>
            <a:r>
              <a:rPr lang="ro-MD" sz="3000" dirty="0"/>
              <a:t>ATION</a:t>
            </a:r>
            <a:endParaRPr sz="3000" dirty="0"/>
          </a:p>
        </p:txBody>
      </p:sp>
      <p:sp>
        <p:nvSpPr>
          <p:cNvPr id="549" name="Google Shape;549;p25"/>
          <p:cNvSpPr txBox="1"/>
          <p:nvPr/>
        </p:nvSpPr>
        <p:spPr>
          <a:xfrm>
            <a:off x="2085480" y="1390360"/>
            <a:ext cx="396473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400" b="0" i="0" dirty="0">
                <a:solidFill>
                  <a:schemeClr val="tx1"/>
                </a:solidFill>
                <a:effectLst/>
                <a:latin typeface="Google Sans"/>
              </a:rPr>
              <a:t>Barriers On the Road</a:t>
            </a:r>
            <a:endParaRPr lang="ro-MD" sz="2400" dirty="0">
              <a:solidFill>
                <a:schemeClr val="tx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1107373" y="2228567"/>
            <a:ext cx="907005" cy="822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3599043" y="3039723"/>
            <a:ext cx="905256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5"/>
          <p:cNvSpPr/>
          <p:nvPr/>
        </p:nvSpPr>
        <p:spPr>
          <a:xfrm>
            <a:off x="6284370" y="2230433"/>
            <a:ext cx="905256" cy="82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4" name="Google Shape;554;p25"/>
          <p:cNvSpPr/>
          <p:nvPr/>
        </p:nvSpPr>
        <p:spPr>
          <a:xfrm>
            <a:off x="8035160" y="2231883"/>
            <a:ext cx="905515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6" name="Google Shape;556;p25"/>
          <p:cNvSpPr txBox="1"/>
          <p:nvPr/>
        </p:nvSpPr>
        <p:spPr>
          <a:xfrm>
            <a:off x="850321" y="3262915"/>
            <a:ext cx="14538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19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Access to Finance</a:t>
            </a:r>
            <a:endParaRPr sz="19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59" name="Google Shape;559;p25"/>
          <p:cNvSpPr txBox="1"/>
          <p:nvPr/>
        </p:nvSpPr>
        <p:spPr>
          <a:xfrm>
            <a:off x="5678638" y="3545142"/>
            <a:ext cx="207186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Limited collection and/or storage of data</a:t>
            </a:r>
            <a:endParaRPr sz="19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68" name="Google Shape;568;p25"/>
          <p:cNvSpPr txBox="1"/>
          <p:nvPr/>
        </p:nvSpPr>
        <p:spPr>
          <a:xfrm>
            <a:off x="3340947" y="2179328"/>
            <a:ext cx="145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19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Lack Of Specialists</a:t>
            </a:r>
            <a:endParaRPr sz="19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cxnSp>
        <p:nvCxnSpPr>
          <p:cNvPr id="570" name="Google Shape;570;p25"/>
          <p:cNvCxnSpPr>
            <a:cxnSpLocks/>
            <a:stCxn id="550" idx="3"/>
            <a:endCxn id="551" idx="0"/>
          </p:cNvCxnSpPr>
          <p:nvPr/>
        </p:nvCxnSpPr>
        <p:spPr>
          <a:xfrm>
            <a:off x="2014378" y="2640047"/>
            <a:ext cx="2037293" cy="399676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71" name="Google Shape;571;p25"/>
          <p:cNvCxnSpPr>
            <a:stCxn id="551" idx="0"/>
            <a:endCxn id="553" idx="1"/>
          </p:cNvCxnSpPr>
          <p:nvPr/>
        </p:nvCxnSpPr>
        <p:spPr>
          <a:xfrm flipV="1">
            <a:off x="4051671" y="2641913"/>
            <a:ext cx="2232699" cy="39781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72" name="Google Shape;572;p25"/>
          <p:cNvCxnSpPr>
            <a:cxnSpLocks/>
            <a:stCxn id="553" idx="3"/>
            <a:endCxn id="554" idx="1"/>
          </p:cNvCxnSpPr>
          <p:nvPr/>
        </p:nvCxnSpPr>
        <p:spPr>
          <a:xfrm>
            <a:off x="7189626" y="2641913"/>
            <a:ext cx="845534" cy="145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74" name="Google Shape;574;p25"/>
          <p:cNvCxnSpPr>
            <a:cxnSpLocks/>
            <a:stCxn id="550" idx="1"/>
          </p:cNvCxnSpPr>
          <p:nvPr/>
        </p:nvCxnSpPr>
        <p:spPr>
          <a:xfrm flipH="1">
            <a:off x="-71666" y="2640047"/>
            <a:ext cx="1179039" cy="243502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576" name="Google Shape;576;p25"/>
          <p:cNvGrpSpPr/>
          <p:nvPr/>
        </p:nvGrpSpPr>
        <p:grpSpPr>
          <a:xfrm>
            <a:off x="8187874" y="2334596"/>
            <a:ext cx="613453" cy="548953"/>
            <a:chOff x="2212084" y="1960358"/>
            <a:chExt cx="324698" cy="372863"/>
          </a:xfrm>
        </p:grpSpPr>
        <p:sp>
          <p:nvSpPr>
            <p:cNvPr id="577" name="Google Shape;577;p25"/>
            <p:cNvSpPr/>
            <p:nvPr/>
          </p:nvSpPr>
          <p:spPr>
            <a:xfrm>
              <a:off x="2291371" y="2128011"/>
              <a:ext cx="166888" cy="166888"/>
            </a:xfrm>
            <a:custGeom>
              <a:avLst/>
              <a:gdLst/>
              <a:ahLst/>
              <a:cxnLst/>
              <a:rect l="l" t="t" r="r" b="b"/>
              <a:pathLst>
                <a:path w="5239" h="5239" extrusionOk="0">
                  <a:moveTo>
                    <a:pt x="2620" y="357"/>
                  </a:moveTo>
                  <a:cubicBezTo>
                    <a:pt x="3870" y="357"/>
                    <a:pt x="4894" y="1369"/>
                    <a:pt x="4894" y="2631"/>
                  </a:cubicBezTo>
                  <a:cubicBezTo>
                    <a:pt x="4894" y="3882"/>
                    <a:pt x="3882" y="4906"/>
                    <a:pt x="2620" y="4906"/>
                  </a:cubicBezTo>
                  <a:cubicBezTo>
                    <a:pt x="1369" y="4906"/>
                    <a:pt x="346" y="3894"/>
                    <a:pt x="346" y="2631"/>
                  </a:cubicBezTo>
                  <a:cubicBezTo>
                    <a:pt x="346" y="1369"/>
                    <a:pt x="1369" y="357"/>
                    <a:pt x="2620" y="357"/>
                  </a:cubicBezTo>
                  <a:close/>
                  <a:moveTo>
                    <a:pt x="2620" y="0"/>
                  </a:moveTo>
                  <a:cubicBezTo>
                    <a:pt x="1179" y="0"/>
                    <a:pt x="0" y="1167"/>
                    <a:pt x="0" y="2620"/>
                  </a:cubicBezTo>
                  <a:cubicBezTo>
                    <a:pt x="0" y="4060"/>
                    <a:pt x="1179" y="5239"/>
                    <a:pt x="2620" y="5239"/>
                  </a:cubicBezTo>
                  <a:cubicBezTo>
                    <a:pt x="4060" y="5239"/>
                    <a:pt x="5239" y="4060"/>
                    <a:pt x="5239" y="2620"/>
                  </a:cubicBezTo>
                  <a:cubicBezTo>
                    <a:pt x="5239" y="1167"/>
                    <a:pt x="4060" y="0"/>
                    <a:pt x="26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5"/>
            <p:cNvSpPr/>
            <p:nvPr/>
          </p:nvSpPr>
          <p:spPr>
            <a:xfrm>
              <a:off x="2212084" y="1960358"/>
              <a:ext cx="324698" cy="372863"/>
            </a:xfrm>
            <a:custGeom>
              <a:avLst/>
              <a:gdLst/>
              <a:ahLst/>
              <a:cxnLst/>
              <a:rect l="l" t="t" r="r" b="b"/>
              <a:pathLst>
                <a:path w="10193" h="11705" extrusionOk="0">
                  <a:moveTo>
                    <a:pt x="7502" y="358"/>
                  </a:moveTo>
                  <a:lnTo>
                    <a:pt x="6383" y="2644"/>
                  </a:lnTo>
                  <a:lnTo>
                    <a:pt x="3811" y="2644"/>
                  </a:lnTo>
                  <a:lnTo>
                    <a:pt x="2692" y="358"/>
                  </a:lnTo>
                  <a:close/>
                  <a:moveTo>
                    <a:pt x="6228" y="3001"/>
                  </a:moveTo>
                  <a:lnTo>
                    <a:pt x="5692" y="4096"/>
                  </a:lnTo>
                  <a:cubicBezTo>
                    <a:pt x="5490" y="4073"/>
                    <a:pt x="5299" y="4049"/>
                    <a:pt x="5109" y="4049"/>
                  </a:cubicBezTo>
                  <a:cubicBezTo>
                    <a:pt x="4918" y="4049"/>
                    <a:pt x="4716" y="4073"/>
                    <a:pt x="4525" y="4096"/>
                  </a:cubicBezTo>
                  <a:lnTo>
                    <a:pt x="3989" y="3001"/>
                  </a:lnTo>
                  <a:close/>
                  <a:moveTo>
                    <a:pt x="2334" y="405"/>
                  </a:moveTo>
                  <a:lnTo>
                    <a:pt x="4168" y="4156"/>
                  </a:lnTo>
                  <a:cubicBezTo>
                    <a:pt x="3382" y="4370"/>
                    <a:pt x="2692" y="4799"/>
                    <a:pt x="2180" y="5406"/>
                  </a:cubicBezTo>
                  <a:lnTo>
                    <a:pt x="608" y="2227"/>
                  </a:lnTo>
                  <a:cubicBezTo>
                    <a:pt x="406" y="1787"/>
                    <a:pt x="584" y="1275"/>
                    <a:pt x="1013" y="1060"/>
                  </a:cubicBezTo>
                  <a:lnTo>
                    <a:pt x="2334" y="405"/>
                  </a:lnTo>
                  <a:close/>
                  <a:moveTo>
                    <a:pt x="2418" y="1"/>
                  </a:moveTo>
                  <a:cubicBezTo>
                    <a:pt x="2382" y="1"/>
                    <a:pt x="2358" y="1"/>
                    <a:pt x="2334" y="24"/>
                  </a:cubicBezTo>
                  <a:lnTo>
                    <a:pt x="846" y="751"/>
                  </a:lnTo>
                  <a:cubicBezTo>
                    <a:pt x="251" y="1048"/>
                    <a:pt x="1" y="1775"/>
                    <a:pt x="298" y="2370"/>
                  </a:cubicBezTo>
                  <a:lnTo>
                    <a:pt x="1942" y="5704"/>
                  </a:lnTo>
                  <a:cubicBezTo>
                    <a:pt x="1525" y="6311"/>
                    <a:pt x="1263" y="7073"/>
                    <a:pt x="1263" y="7883"/>
                  </a:cubicBezTo>
                  <a:cubicBezTo>
                    <a:pt x="1263" y="8275"/>
                    <a:pt x="1322" y="8680"/>
                    <a:pt x="1441" y="9049"/>
                  </a:cubicBezTo>
                  <a:cubicBezTo>
                    <a:pt x="1470" y="9126"/>
                    <a:pt x="1544" y="9179"/>
                    <a:pt x="1616" y="9179"/>
                  </a:cubicBezTo>
                  <a:cubicBezTo>
                    <a:pt x="1633" y="9179"/>
                    <a:pt x="1651" y="9176"/>
                    <a:pt x="1668" y="9168"/>
                  </a:cubicBezTo>
                  <a:cubicBezTo>
                    <a:pt x="1763" y="9145"/>
                    <a:pt x="1822" y="9037"/>
                    <a:pt x="1787" y="8954"/>
                  </a:cubicBezTo>
                  <a:cubicBezTo>
                    <a:pt x="1668" y="8609"/>
                    <a:pt x="1620" y="8240"/>
                    <a:pt x="1620" y="7883"/>
                  </a:cubicBezTo>
                  <a:cubicBezTo>
                    <a:pt x="1620" y="5954"/>
                    <a:pt x="3192" y="4394"/>
                    <a:pt x="5109" y="4394"/>
                  </a:cubicBezTo>
                  <a:cubicBezTo>
                    <a:pt x="7026" y="4394"/>
                    <a:pt x="8585" y="5954"/>
                    <a:pt x="8585" y="7883"/>
                  </a:cubicBezTo>
                  <a:cubicBezTo>
                    <a:pt x="8585" y="9799"/>
                    <a:pt x="7026" y="11359"/>
                    <a:pt x="5109" y="11359"/>
                  </a:cubicBezTo>
                  <a:cubicBezTo>
                    <a:pt x="3823" y="11359"/>
                    <a:pt x="2656" y="10657"/>
                    <a:pt x="2037" y="9526"/>
                  </a:cubicBezTo>
                  <a:cubicBezTo>
                    <a:pt x="2012" y="9468"/>
                    <a:pt x="1953" y="9433"/>
                    <a:pt x="1887" y="9433"/>
                  </a:cubicBezTo>
                  <a:cubicBezTo>
                    <a:pt x="1858" y="9433"/>
                    <a:pt x="1828" y="9440"/>
                    <a:pt x="1799" y="9454"/>
                  </a:cubicBezTo>
                  <a:cubicBezTo>
                    <a:pt x="1715" y="9502"/>
                    <a:pt x="1680" y="9597"/>
                    <a:pt x="1727" y="9692"/>
                  </a:cubicBezTo>
                  <a:cubicBezTo>
                    <a:pt x="2394" y="10931"/>
                    <a:pt x="3692" y="11704"/>
                    <a:pt x="5109" y="11704"/>
                  </a:cubicBezTo>
                  <a:cubicBezTo>
                    <a:pt x="7216" y="11704"/>
                    <a:pt x="8942" y="9978"/>
                    <a:pt x="8942" y="7859"/>
                  </a:cubicBezTo>
                  <a:cubicBezTo>
                    <a:pt x="8942" y="7061"/>
                    <a:pt x="8692" y="6311"/>
                    <a:pt x="8276" y="5692"/>
                  </a:cubicBezTo>
                  <a:lnTo>
                    <a:pt x="8966" y="4299"/>
                  </a:lnTo>
                  <a:cubicBezTo>
                    <a:pt x="9002" y="4215"/>
                    <a:pt x="8966" y="4108"/>
                    <a:pt x="8883" y="4061"/>
                  </a:cubicBezTo>
                  <a:cubicBezTo>
                    <a:pt x="8861" y="4051"/>
                    <a:pt x="8838" y="4047"/>
                    <a:pt x="8814" y="4047"/>
                  </a:cubicBezTo>
                  <a:cubicBezTo>
                    <a:pt x="8748" y="4047"/>
                    <a:pt x="8680" y="4082"/>
                    <a:pt x="8645" y="4144"/>
                  </a:cubicBezTo>
                  <a:lnTo>
                    <a:pt x="8038" y="5370"/>
                  </a:lnTo>
                  <a:cubicBezTo>
                    <a:pt x="7537" y="4763"/>
                    <a:pt x="6835" y="4334"/>
                    <a:pt x="6049" y="4120"/>
                  </a:cubicBezTo>
                  <a:lnTo>
                    <a:pt x="7871" y="370"/>
                  </a:lnTo>
                  <a:lnTo>
                    <a:pt x="9204" y="1025"/>
                  </a:lnTo>
                  <a:cubicBezTo>
                    <a:pt x="9633" y="1239"/>
                    <a:pt x="9812" y="1763"/>
                    <a:pt x="9597" y="2191"/>
                  </a:cubicBezTo>
                  <a:lnTo>
                    <a:pt x="8942" y="3513"/>
                  </a:lnTo>
                  <a:cubicBezTo>
                    <a:pt x="8907" y="3608"/>
                    <a:pt x="8942" y="3703"/>
                    <a:pt x="9026" y="3751"/>
                  </a:cubicBezTo>
                  <a:cubicBezTo>
                    <a:pt x="9049" y="3764"/>
                    <a:pt x="9074" y="3770"/>
                    <a:pt x="9099" y="3770"/>
                  </a:cubicBezTo>
                  <a:cubicBezTo>
                    <a:pt x="9164" y="3770"/>
                    <a:pt x="9230" y="3731"/>
                    <a:pt x="9264" y="3680"/>
                  </a:cubicBezTo>
                  <a:lnTo>
                    <a:pt x="9919" y="2358"/>
                  </a:lnTo>
                  <a:cubicBezTo>
                    <a:pt x="10193" y="1775"/>
                    <a:pt x="9943" y="1048"/>
                    <a:pt x="9347" y="751"/>
                  </a:cubicBezTo>
                  <a:lnTo>
                    <a:pt x="7859" y="24"/>
                  </a:lnTo>
                  <a:cubicBezTo>
                    <a:pt x="7835" y="1"/>
                    <a:pt x="7811" y="1"/>
                    <a:pt x="77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" name="Google Shape;579;p25"/>
            <p:cNvSpPr/>
            <p:nvPr/>
          </p:nvSpPr>
          <p:spPr>
            <a:xfrm>
              <a:off x="2319435" y="2157190"/>
              <a:ext cx="108880" cy="103210"/>
            </a:xfrm>
            <a:custGeom>
              <a:avLst/>
              <a:gdLst/>
              <a:ahLst/>
              <a:cxnLst/>
              <a:rect l="l" t="t" r="r" b="b"/>
              <a:pathLst>
                <a:path w="3418" h="3240" extrusionOk="0">
                  <a:moveTo>
                    <a:pt x="1739" y="346"/>
                  </a:moveTo>
                  <a:cubicBezTo>
                    <a:pt x="1822" y="346"/>
                    <a:pt x="1881" y="394"/>
                    <a:pt x="1929" y="465"/>
                  </a:cubicBezTo>
                  <a:lnTo>
                    <a:pt x="2096" y="787"/>
                  </a:lnTo>
                  <a:cubicBezTo>
                    <a:pt x="2179" y="953"/>
                    <a:pt x="2334" y="1073"/>
                    <a:pt x="2513" y="1108"/>
                  </a:cubicBezTo>
                  <a:lnTo>
                    <a:pt x="2870" y="1144"/>
                  </a:lnTo>
                  <a:cubicBezTo>
                    <a:pt x="2953" y="1168"/>
                    <a:pt x="3013" y="1203"/>
                    <a:pt x="3048" y="1299"/>
                  </a:cubicBezTo>
                  <a:cubicBezTo>
                    <a:pt x="3072" y="1370"/>
                    <a:pt x="3048" y="1465"/>
                    <a:pt x="2989" y="1525"/>
                  </a:cubicBezTo>
                  <a:lnTo>
                    <a:pt x="2739" y="1775"/>
                  </a:lnTo>
                  <a:cubicBezTo>
                    <a:pt x="2596" y="1906"/>
                    <a:pt x="2536" y="2085"/>
                    <a:pt x="2572" y="2263"/>
                  </a:cubicBezTo>
                  <a:lnTo>
                    <a:pt x="2632" y="2620"/>
                  </a:lnTo>
                  <a:cubicBezTo>
                    <a:pt x="2643" y="2692"/>
                    <a:pt x="2620" y="2787"/>
                    <a:pt x="2536" y="2823"/>
                  </a:cubicBezTo>
                  <a:cubicBezTo>
                    <a:pt x="2493" y="2852"/>
                    <a:pt x="2450" y="2867"/>
                    <a:pt x="2407" y="2867"/>
                  </a:cubicBezTo>
                  <a:cubicBezTo>
                    <a:pt x="2378" y="2867"/>
                    <a:pt x="2350" y="2861"/>
                    <a:pt x="2322" y="2847"/>
                  </a:cubicBezTo>
                  <a:lnTo>
                    <a:pt x="2001" y="2680"/>
                  </a:lnTo>
                  <a:cubicBezTo>
                    <a:pt x="1917" y="2632"/>
                    <a:pt x="1822" y="2620"/>
                    <a:pt x="1739" y="2620"/>
                  </a:cubicBezTo>
                  <a:cubicBezTo>
                    <a:pt x="1643" y="2620"/>
                    <a:pt x="1560" y="2632"/>
                    <a:pt x="1465" y="2680"/>
                  </a:cubicBezTo>
                  <a:lnTo>
                    <a:pt x="1155" y="2847"/>
                  </a:lnTo>
                  <a:cubicBezTo>
                    <a:pt x="1128" y="2865"/>
                    <a:pt x="1097" y="2872"/>
                    <a:pt x="1066" y="2872"/>
                  </a:cubicBezTo>
                  <a:cubicBezTo>
                    <a:pt x="1016" y="2872"/>
                    <a:pt x="966" y="2852"/>
                    <a:pt x="929" y="2823"/>
                  </a:cubicBezTo>
                  <a:cubicBezTo>
                    <a:pt x="858" y="2787"/>
                    <a:pt x="822" y="2692"/>
                    <a:pt x="846" y="2620"/>
                  </a:cubicBezTo>
                  <a:lnTo>
                    <a:pt x="905" y="2263"/>
                  </a:lnTo>
                  <a:cubicBezTo>
                    <a:pt x="929" y="2085"/>
                    <a:pt x="869" y="1894"/>
                    <a:pt x="738" y="1775"/>
                  </a:cubicBezTo>
                  <a:lnTo>
                    <a:pt x="488" y="1525"/>
                  </a:lnTo>
                  <a:cubicBezTo>
                    <a:pt x="429" y="1465"/>
                    <a:pt x="393" y="1382"/>
                    <a:pt x="429" y="1299"/>
                  </a:cubicBezTo>
                  <a:cubicBezTo>
                    <a:pt x="453" y="1227"/>
                    <a:pt x="512" y="1168"/>
                    <a:pt x="608" y="1144"/>
                  </a:cubicBezTo>
                  <a:lnTo>
                    <a:pt x="965" y="1108"/>
                  </a:lnTo>
                  <a:cubicBezTo>
                    <a:pt x="1143" y="1073"/>
                    <a:pt x="1298" y="953"/>
                    <a:pt x="1381" y="787"/>
                  </a:cubicBezTo>
                  <a:lnTo>
                    <a:pt x="1548" y="465"/>
                  </a:lnTo>
                  <a:cubicBezTo>
                    <a:pt x="1572" y="394"/>
                    <a:pt x="1643" y="346"/>
                    <a:pt x="1739" y="346"/>
                  </a:cubicBezTo>
                  <a:close/>
                  <a:moveTo>
                    <a:pt x="1703" y="1"/>
                  </a:moveTo>
                  <a:cubicBezTo>
                    <a:pt x="1489" y="1"/>
                    <a:pt x="1310" y="120"/>
                    <a:pt x="1203" y="311"/>
                  </a:cubicBezTo>
                  <a:lnTo>
                    <a:pt x="1036" y="644"/>
                  </a:lnTo>
                  <a:cubicBezTo>
                    <a:pt x="1012" y="703"/>
                    <a:pt x="953" y="739"/>
                    <a:pt x="869" y="763"/>
                  </a:cubicBezTo>
                  <a:lnTo>
                    <a:pt x="512" y="811"/>
                  </a:lnTo>
                  <a:cubicBezTo>
                    <a:pt x="310" y="834"/>
                    <a:pt x="131" y="989"/>
                    <a:pt x="60" y="1192"/>
                  </a:cubicBezTo>
                  <a:cubicBezTo>
                    <a:pt x="0" y="1406"/>
                    <a:pt x="36" y="1620"/>
                    <a:pt x="203" y="1775"/>
                  </a:cubicBezTo>
                  <a:lnTo>
                    <a:pt x="500" y="2025"/>
                  </a:lnTo>
                  <a:cubicBezTo>
                    <a:pt x="548" y="2073"/>
                    <a:pt x="572" y="2144"/>
                    <a:pt x="560" y="2216"/>
                  </a:cubicBezTo>
                  <a:lnTo>
                    <a:pt x="500" y="2573"/>
                  </a:lnTo>
                  <a:cubicBezTo>
                    <a:pt x="477" y="2787"/>
                    <a:pt x="548" y="2989"/>
                    <a:pt x="727" y="3120"/>
                  </a:cubicBezTo>
                  <a:cubicBezTo>
                    <a:pt x="834" y="3204"/>
                    <a:pt x="929" y="3228"/>
                    <a:pt x="1048" y="3228"/>
                  </a:cubicBezTo>
                  <a:cubicBezTo>
                    <a:pt x="1143" y="3228"/>
                    <a:pt x="1227" y="3216"/>
                    <a:pt x="1322" y="3168"/>
                  </a:cubicBezTo>
                  <a:lnTo>
                    <a:pt x="1631" y="3001"/>
                  </a:lnTo>
                  <a:cubicBezTo>
                    <a:pt x="1661" y="2989"/>
                    <a:pt x="1694" y="2983"/>
                    <a:pt x="1727" y="2983"/>
                  </a:cubicBezTo>
                  <a:cubicBezTo>
                    <a:pt x="1759" y="2983"/>
                    <a:pt x="1792" y="2989"/>
                    <a:pt x="1822" y="3001"/>
                  </a:cubicBezTo>
                  <a:lnTo>
                    <a:pt x="2143" y="3168"/>
                  </a:lnTo>
                  <a:cubicBezTo>
                    <a:pt x="2227" y="3215"/>
                    <a:pt x="2318" y="3239"/>
                    <a:pt x="2409" y="3239"/>
                  </a:cubicBezTo>
                  <a:cubicBezTo>
                    <a:pt x="2524" y="3239"/>
                    <a:pt x="2639" y="3200"/>
                    <a:pt x="2739" y="3120"/>
                  </a:cubicBezTo>
                  <a:cubicBezTo>
                    <a:pt x="2917" y="2989"/>
                    <a:pt x="2989" y="2787"/>
                    <a:pt x="2953" y="2573"/>
                  </a:cubicBezTo>
                  <a:lnTo>
                    <a:pt x="2894" y="2216"/>
                  </a:lnTo>
                  <a:cubicBezTo>
                    <a:pt x="2882" y="2144"/>
                    <a:pt x="2917" y="2085"/>
                    <a:pt x="2953" y="2025"/>
                  </a:cubicBezTo>
                  <a:lnTo>
                    <a:pt x="3215" y="1775"/>
                  </a:lnTo>
                  <a:cubicBezTo>
                    <a:pt x="3358" y="1620"/>
                    <a:pt x="3417" y="1406"/>
                    <a:pt x="3358" y="1192"/>
                  </a:cubicBezTo>
                  <a:cubicBezTo>
                    <a:pt x="3298" y="989"/>
                    <a:pt x="3120" y="834"/>
                    <a:pt x="2894" y="811"/>
                  </a:cubicBezTo>
                  <a:lnTo>
                    <a:pt x="2536" y="763"/>
                  </a:lnTo>
                  <a:cubicBezTo>
                    <a:pt x="2465" y="739"/>
                    <a:pt x="2405" y="703"/>
                    <a:pt x="2382" y="644"/>
                  </a:cubicBezTo>
                  <a:lnTo>
                    <a:pt x="2215" y="311"/>
                  </a:lnTo>
                  <a:cubicBezTo>
                    <a:pt x="2120" y="120"/>
                    <a:pt x="1929" y="1"/>
                    <a:pt x="17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object 8">
            <a:extLst>
              <a:ext uri="{FF2B5EF4-FFF2-40B4-BE49-F238E27FC236}">
                <a16:creationId xmlns:a16="http://schemas.microsoft.com/office/drawing/2014/main" id="{27403FB9-9033-9455-F9A1-8285334291C6}"/>
              </a:ext>
            </a:extLst>
          </p:cNvPr>
          <p:cNvSpPr txBox="1"/>
          <p:nvPr/>
        </p:nvSpPr>
        <p:spPr>
          <a:xfrm>
            <a:off x="5607957" y="4576987"/>
            <a:ext cx="5148580" cy="4206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spc="-10" dirty="0">
                <a:solidFill>
                  <a:schemeClr val="tx1"/>
                </a:solidFill>
                <a:latin typeface="Trebuchet MS"/>
                <a:cs typeface="Trebuchet MS"/>
              </a:rPr>
              <a:t>https://www.oecd-ilibrary.org/economics/data-analytics-in-smes_1de6c6a7-en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spc="-10" dirty="0">
                <a:solidFill>
                  <a:schemeClr val="tx1"/>
                </a:solidFill>
                <a:latin typeface="Trebuchet MS"/>
                <a:cs typeface="Trebuchet MS"/>
              </a:rPr>
              <a:t>https://www.oecd.org/cfe/sme-digitalisation-to-build-back-better-50193089-en.htm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600" spc="-1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6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grpSp>
        <p:nvGrpSpPr>
          <p:cNvPr id="28" name="Google Shape;11214;p60">
            <a:extLst>
              <a:ext uri="{FF2B5EF4-FFF2-40B4-BE49-F238E27FC236}">
                <a16:creationId xmlns:a16="http://schemas.microsoft.com/office/drawing/2014/main" id="{2B00025C-48E4-71DF-589D-60623FC2D557}"/>
              </a:ext>
            </a:extLst>
          </p:cNvPr>
          <p:cNvGrpSpPr/>
          <p:nvPr/>
        </p:nvGrpSpPr>
        <p:grpSpPr>
          <a:xfrm>
            <a:off x="1233223" y="2355208"/>
            <a:ext cx="722598" cy="637936"/>
            <a:chOff x="3996113" y="4291176"/>
            <a:chExt cx="336512" cy="335048"/>
          </a:xfrm>
        </p:grpSpPr>
        <p:sp>
          <p:nvSpPr>
            <p:cNvPr id="29" name="Google Shape;11215;p60">
              <a:extLst>
                <a:ext uri="{FF2B5EF4-FFF2-40B4-BE49-F238E27FC236}">
                  <a16:creationId xmlns:a16="http://schemas.microsoft.com/office/drawing/2014/main" id="{A3A21A71-6682-633E-3DD0-1BE7013D5623}"/>
                </a:ext>
              </a:extLst>
            </p:cNvPr>
            <p:cNvSpPr/>
            <p:nvPr/>
          </p:nvSpPr>
          <p:spPr>
            <a:xfrm>
              <a:off x="4082143" y="4323386"/>
              <a:ext cx="111810" cy="219833"/>
            </a:xfrm>
            <a:custGeom>
              <a:avLst/>
              <a:gdLst/>
              <a:ahLst/>
              <a:cxnLst/>
              <a:rect l="l" t="t" r="r" b="b"/>
              <a:pathLst>
                <a:path w="3513" h="6907" extrusionOk="0">
                  <a:moveTo>
                    <a:pt x="1751" y="322"/>
                  </a:moveTo>
                  <a:cubicBezTo>
                    <a:pt x="1846" y="322"/>
                    <a:pt x="1929" y="394"/>
                    <a:pt x="1929" y="501"/>
                  </a:cubicBezTo>
                  <a:lnTo>
                    <a:pt x="1929" y="942"/>
                  </a:lnTo>
                  <a:cubicBezTo>
                    <a:pt x="1929" y="1037"/>
                    <a:pt x="2001" y="1096"/>
                    <a:pt x="2084" y="1096"/>
                  </a:cubicBezTo>
                  <a:cubicBezTo>
                    <a:pt x="2691" y="1108"/>
                    <a:pt x="3179" y="1596"/>
                    <a:pt x="3179" y="2204"/>
                  </a:cubicBezTo>
                  <a:lnTo>
                    <a:pt x="3179" y="2525"/>
                  </a:lnTo>
                  <a:cubicBezTo>
                    <a:pt x="3179" y="2608"/>
                    <a:pt x="3108" y="2704"/>
                    <a:pt x="3001" y="2704"/>
                  </a:cubicBezTo>
                  <a:cubicBezTo>
                    <a:pt x="2917" y="2704"/>
                    <a:pt x="2822" y="2620"/>
                    <a:pt x="2822" y="2525"/>
                  </a:cubicBezTo>
                  <a:lnTo>
                    <a:pt x="2822" y="2204"/>
                  </a:lnTo>
                  <a:cubicBezTo>
                    <a:pt x="2834" y="1787"/>
                    <a:pt x="2501" y="1454"/>
                    <a:pt x="2060" y="1454"/>
                  </a:cubicBezTo>
                  <a:lnTo>
                    <a:pt x="1608" y="1454"/>
                  </a:lnTo>
                  <a:cubicBezTo>
                    <a:pt x="1096" y="1454"/>
                    <a:pt x="679" y="1870"/>
                    <a:pt x="679" y="2370"/>
                  </a:cubicBezTo>
                  <a:cubicBezTo>
                    <a:pt x="679" y="2882"/>
                    <a:pt x="1096" y="3299"/>
                    <a:pt x="1608" y="3299"/>
                  </a:cubicBezTo>
                  <a:lnTo>
                    <a:pt x="1917" y="3299"/>
                  </a:lnTo>
                  <a:cubicBezTo>
                    <a:pt x="2620" y="3299"/>
                    <a:pt x="3191" y="3859"/>
                    <a:pt x="3191" y="4573"/>
                  </a:cubicBezTo>
                  <a:cubicBezTo>
                    <a:pt x="3191" y="5216"/>
                    <a:pt x="2715" y="5764"/>
                    <a:pt x="2084" y="5835"/>
                  </a:cubicBezTo>
                  <a:cubicBezTo>
                    <a:pt x="2001" y="5859"/>
                    <a:pt x="1941" y="5918"/>
                    <a:pt x="1941" y="5990"/>
                  </a:cubicBezTo>
                  <a:lnTo>
                    <a:pt x="1941" y="6454"/>
                  </a:lnTo>
                  <a:cubicBezTo>
                    <a:pt x="1941" y="6538"/>
                    <a:pt x="1870" y="6633"/>
                    <a:pt x="1762" y="6633"/>
                  </a:cubicBezTo>
                  <a:cubicBezTo>
                    <a:pt x="1667" y="6633"/>
                    <a:pt x="1584" y="6549"/>
                    <a:pt x="1584" y="6454"/>
                  </a:cubicBezTo>
                  <a:lnTo>
                    <a:pt x="1584" y="6002"/>
                  </a:lnTo>
                  <a:cubicBezTo>
                    <a:pt x="1584" y="5918"/>
                    <a:pt x="1512" y="5859"/>
                    <a:pt x="1441" y="5859"/>
                  </a:cubicBezTo>
                  <a:cubicBezTo>
                    <a:pt x="834" y="5835"/>
                    <a:pt x="334" y="5347"/>
                    <a:pt x="334" y="4740"/>
                  </a:cubicBezTo>
                  <a:cubicBezTo>
                    <a:pt x="334" y="4644"/>
                    <a:pt x="417" y="4561"/>
                    <a:pt x="512" y="4561"/>
                  </a:cubicBezTo>
                  <a:cubicBezTo>
                    <a:pt x="608" y="4561"/>
                    <a:pt x="691" y="4633"/>
                    <a:pt x="691" y="4740"/>
                  </a:cubicBezTo>
                  <a:cubicBezTo>
                    <a:pt x="691" y="5156"/>
                    <a:pt x="1036" y="5502"/>
                    <a:pt x="1453" y="5502"/>
                  </a:cubicBezTo>
                  <a:lnTo>
                    <a:pt x="1929" y="5502"/>
                  </a:lnTo>
                  <a:cubicBezTo>
                    <a:pt x="2441" y="5502"/>
                    <a:pt x="2858" y="5085"/>
                    <a:pt x="2858" y="4573"/>
                  </a:cubicBezTo>
                  <a:cubicBezTo>
                    <a:pt x="2858" y="4073"/>
                    <a:pt x="2441" y="3656"/>
                    <a:pt x="1929" y="3656"/>
                  </a:cubicBezTo>
                  <a:lnTo>
                    <a:pt x="1608" y="3656"/>
                  </a:lnTo>
                  <a:cubicBezTo>
                    <a:pt x="905" y="3656"/>
                    <a:pt x="322" y="3085"/>
                    <a:pt x="322" y="2370"/>
                  </a:cubicBezTo>
                  <a:cubicBezTo>
                    <a:pt x="322" y="1727"/>
                    <a:pt x="798" y="1180"/>
                    <a:pt x="1441" y="1108"/>
                  </a:cubicBezTo>
                  <a:cubicBezTo>
                    <a:pt x="1512" y="1096"/>
                    <a:pt x="1572" y="1037"/>
                    <a:pt x="1572" y="953"/>
                  </a:cubicBezTo>
                  <a:lnTo>
                    <a:pt x="1572" y="501"/>
                  </a:lnTo>
                  <a:cubicBezTo>
                    <a:pt x="1572" y="406"/>
                    <a:pt x="1643" y="322"/>
                    <a:pt x="1751" y="322"/>
                  </a:cubicBezTo>
                  <a:close/>
                  <a:moveTo>
                    <a:pt x="1762" y="1"/>
                  </a:moveTo>
                  <a:cubicBezTo>
                    <a:pt x="1500" y="1"/>
                    <a:pt x="1274" y="227"/>
                    <a:pt x="1274" y="501"/>
                  </a:cubicBezTo>
                  <a:lnTo>
                    <a:pt x="1274" y="823"/>
                  </a:lnTo>
                  <a:cubicBezTo>
                    <a:pt x="548" y="977"/>
                    <a:pt x="24" y="1608"/>
                    <a:pt x="24" y="2370"/>
                  </a:cubicBezTo>
                  <a:cubicBezTo>
                    <a:pt x="24" y="3251"/>
                    <a:pt x="738" y="3954"/>
                    <a:pt x="1608" y="3954"/>
                  </a:cubicBezTo>
                  <a:lnTo>
                    <a:pt x="1917" y="3954"/>
                  </a:lnTo>
                  <a:cubicBezTo>
                    <a:pt x="2262" y="3954"/>
                    <a:pt x="2524" y="4216"/>
                    <a:pt x="2524" y="4561"/>
                  </a:cubicBezTo>
                  <a:cubicBezTo>
                    <a:pt x="2524" y="4906"/>
                    <a:pt x="2262" y="5168"/>
                    <a:pt x="1917" y="5168"/>
                  </a:cubicBezTo>
                  <a:lnTo>
                    <a:pt x="1441" y="5168"/>
                  </a:lnTo>
                  <a:cubicBezTo>
                    <a:pt x="1191" y="5168"/>
                    <a:pt x="977" y="4966"/>
                    <a:pt x="977" y="4704"/>
                  </a:cubicBezTo>
                  <a:cubicBezTo>
                    <a:pt x="977" y="4442"/>
                    <a:pt x="750" y="4216"/>
                    <a:pt x="488" y="4216"/>
                  </a:cubicBezTo>
                  <a:cubicBezTo>
                    <a:pt x="215" y="4216"/>
                    <a:pt x="0" y="4442"/>
                    <a:pt x="0" y="4704"/>
                  </a:cubicBezTo>
                  <a:cubicBezTo>
                    <a:pt x="0" y="5442"/>
                    <a:pt x="548" y="6037"/>
                    <a:pt x="1250" y="6121"/>
                  </a:cubicBezTo>
                  <a:lnTo>
                    <a:pt x="1250" y="6418"/>
                  </a:lnTo>
                  <a:cubicBezTo>
                    <a:pt x="1250" y="6692"/>
                    <a:pt x="1465" y="6907"/>
                    <a:pt x="1739" y="6907"/>
                  </a:cubicBezTo>
                  <a:cubicBezTo>
                    <a:pt x="2001" y="6907"/>
                    <a:pt x="2227" y="6692"/>
                    <a:pt x="2227" y="6418"/>
                  </a:cubicBezTo>
                  <a:lnTo>
                    <a:pt x="2227" y="6121"/>
                  </a:lnTo>
                  <a:cubicBezTo>
                    <a:pt x="2953" y="5978"/>
                    <a:pt x="3477" y="5335"/>
                    <a:pt x="3477" y="4573"/>
                  </a:cubicBezTo>
                  <a:cubicBezTo>
                    <a:pt x="3477" y="3692"/>
                    <a:pt x="2763" y="3001"/>
                    <a:pt x="1905" y="3001"/>
                  </a:cubicBezTo>
                  <a:lnTo>
                    <a:pt x="1608" y="3001"/>
                  </a:lnTo>
                  <a:cubicBezTo>
                    <a:pt x="1262" y="3001"/>
                    <a:pt x="989" y="2728"/>
                    <a:pt x="989" y="2382"/>
                  </a:cubicBezTo>
                  <a:cubicBezTo>
                    <a:pt x="989" y="2037"/>
                    <a:pt x="1262" y="1775"/>
                    <a:pt x="1608" y="1775"/>
                  </a:cubicBezTo>
                  <a:lnTo>
                    <a:pt x="2084" y="1775"/>
                  </a:lnTo>
                  <a:cubicBezTo>
                    <a:pt x="2334" y="1775"/>
                    <a:pt x="2536" y="1989"/>
                    <a:pt x="2536" y="2239"/>
                  </a:cubicBezTo>
                  <a:lnTo>
                    <a:pt x="2536" y="2549"/>
                  </a:lnTo>
                  <a:cubicBezTo>
                    <a:pt x="2524" y="2799"/>
                    <a:pt x="2751" y="3013"/>
                    <a:pt x="3013" y="3013"/>
                  </a:cubicBezTo>
                  <a:cubicBezTo>
                    <a:pt x="3286" y="3013"/>
                    <a:pt x="3513" y="2787"/>
                    <a:pt x="3513" y="2525"/>
                  </a:cubicBezTo>
                  <a:lnTo>
                    <a:pt x="3513" y="2204"/>
                  </a:lnTo>
                  <a:cubicBezTo>
                    <a:pt x="3513" y="1477"/>
                    <a:pt x="2953" y="882"/>
                    <a:pt x="2262" y="799"/>
                  </a:cubicBezTo>
                  <a:lnTo>
                    <a:pt x="2262" y="501"/>
                  </a:lnTo>
                  <a:cubicBezTo>
                    <a:pt x="2262" y="227"/>
                    <a:pt x="2036" y="1"/>
                    <a:pt x="17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0" name="Google Shape;11216;p60">
              <a:extLst>
                <a:ext uri="{FF2B5EF4-FFF2-40B4-BE49-F238E27FC236}">
                  <a16:creationId xmlns:a16="http://schemas.microsoft.com/office/drawing/2014/main" id="{B31A4C42-5FB3-F74C-E0E1-A0479C9E6E4A}"/>
                </a:ext>
              </a:extLst>
            </p:cNvPr>
            <p:cNvSpPr/>
            <p:nvPr/>
          </p:nvSpPr>
          <p:spPr>
            <a:xfrm>
              <a:off x="4226894" y="4523485"/>
              <a:ext cx="52324" cy="51942"/>
            </a:xfrm>
            <a:custGeom>
              <a:avLst/>
              <a:gdLst/>
              <a:ahLst/>
              <a:cxnLst/>
              <a:rect l="l" t="t" r="r" b="b"/>
              <a:pathLst>
                <a:path w="1644" h="1632" extrusionOk="0">
                  <a:moveTo>
                    <a:pt x="822" y="310"/>
                  </a:moveTo>
                  <a:cubicBezTo>
                    <a:pt x="1108" y="310"/>
                    <a:pt x="1322" y="536"/>
                    <a:pt x="1322" y="822"/>
                  </a:cubicBezTo>
                  <a:cubicBezTo>
                    <a:pt x="1322" y="1096"/>
                    <a:pt x="1108" y="1322"/>
                    <a:pt x="822" y="1322"/>
                  </a:cubicBezTo>
                  <a:cubicBezTo>
                    <a:pt x="536" y="1322"/>
                    <a:pt x="310" y="1096"/>
                    <a:pt x="310" y="822"/>
                  </a:cubicBezTo>
                  <a:cubicBezTo>
                    <a:pt x="310" y="536"/>
                    <a:pt x="536" y="310"/>
                    <a:pt x="822" y="310"/>
                  </a:cubicBezTo>
                  <a:close/>
                  <a:moveTo>
                    <a:pt x="822" y="0"/>
                  </a:moveTo>
                  <a:cubicBezTo>
                    <a:pt x="370" y="0"/>
                    <a:pt x="0" y="370"/>
                    <a:pt x="0" y="822"/>
                  </a:cubicBezTo>
                  <a:cubicBezTo>
                    <a:pt x="0" y="1263"/>
                    <a:pt x="370" y="1632"/>
                    <a:pt x="822" y="1632"/>
                  </a:cubicBezTo>
                  <a:cubicBezTo>
                    <a:pt x="1263" y="1632"/>
                    <a:pt x="1644" y="1263"/>
                    <a:pt x="1644" y="822"/>
                  </a:cubicBezTo>
                  <a:cubicBezTo>
                    <a:pt x="1644" y="370"/>
                    <a:pt x="1263" y="0"/>
                    <a:pt x="8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1" name="Google Shape;11217;p60">
              <a:extLst>
                <a:ext uri="{FF2B5EF4-FFF2-40B4-BE49-F238E27FC236}">
                  <a16:creationId xmlns:a16="http://schemas.microsoft.com/office/drawing/2014/main" id="{FE74FDF2-9B19-A739-D116-7E6C68B8F826}"/>
                </a:ext>
              </a:extLst>
            </p:cNvPr>
            <p:cNvSpPr/>
            <p:nvPr/>
          </p:nvSpPr>
          <p:spPr>
            <a:xfrm>
              <a:off x="3996113" y="4291176"/>
              <a:ext cx="336512" cy="335048"/>
            </a:xfrm>
            <a:custGeom>
              <a:avLst/>
              <a:gdLst/>
              <a:ahLst/>
              <a:cxnLst/>
              <a:rect l="l" t="t" r="r" b="b"/>
              <a:pathLst>
                <a:path w="10573" h="10527" extrusionOk="0">
                  <a:moveTo>
                    <a:pt x="8216" y="5930"/>
                  </a:moveTo>
                  <a:lnTo>
                    <a:pt x="8335" y="6537"/>
                  </a:lnTo>
                  <a:cubicBezTo>
                    <a:pt x="8359" y="6597"/>
                    <a:pt x="8394" y="6645"/>
                    <a:pt x="8442" y="6657"/>
                  </a:cubicBezTo>
                  <a:cubicBezTo>
                    <a:pt x="8502" y="6668"/>
                    <a:pt x="8549" y="6692"/>
                    <a:pt x="8609" y="6716"/>
                  </a:cubicBezTo>
                  <a:cubicBezTo>
                    <a:pt x="8631" y="6729"/>
                    <a:pt x="8653" y="6734"/>
                    <a:pt x="8674" y="6734"/>
                  </a:cubicBezTo>
                  <a:cubicBezTo>
                    <a:pt x="8710" y="6734"/>
                    <a:pt x="8745" y="6719"/>
                    <a:pt x="8775" y="6704"/>
                  </a:cubicBezTo>
                  <a:lnTo>
                    <a:pt x="9252" y="6311"/>
                  </a:lnTo>
                  <a:lnTo>
                    <a:pt x="9561" y="6585"/>
                  </a:lnTo>
                  <a:lnTo>
                    <a:pt x="9264" y="7121"/>
                  </a:lnTo>
                  <a:cubicBezTo>
                    <a:pt x="9228" y="7157"/>
                    <a:pt x="9228" y="7216"/>
                    <a:pt x="9264" y="7276"/>
                  </a:cubicBezTo>
                  <a:cubicBezTo>
                    <a:pt x="9287" y="7323"/>
                    <a:pt x="9323" y="7371"/>
                    <a:pt x="9347" y="7430"/>
                  </a:cubicBezTo>
                  <a:cubicBezTo>
                    <a:pt x="9383" y="7478"/>
                    <a:pt x="9430" y="7514"/>
                    <a:pt x="9490" y="7514"/>
                  </a:cubicBezTo>
                  <a:lnTo>
                    <a:pt x="10109" y="7538"/>
                  </a:lnTo>
                  <a:lnTo>
                    <a:pt x="10180" y="7942"/>
                  </a:lnTo>
                  <a:lnTo>
                    <a:pt x="9645" y="8157"/>
                  </a:lnTo>
                  <a:cubicBezTo>
                    <a:pt x="9585" y="8181"/>
                    <a:pt x="9561" y="8240"/>
                    <a:pt x="9549" y="8276"/>
                  </a:cubicBezTo>
                  <a:cubicBezTo>
                    <a:pt x="9549" y="8335"/>
                    <a:pt x="9526" y="8383"/>
                    <a:pt x="9514" y="8442"/>
                  </a:cubicBezTo>
                  <a:cubicBezTo>
                    <a:pt x="9502" y="8502"/>
                    <a:pt x="9514" y="8562"/>
                    <a:pt x="9561" y="8597"/>
                  </a:cubicBezTo>
                  <a:lnTo>
                    <a:pt x="10014" y="8990"/>
                  </a:lnTo>
                  <a:lnTo>
                    <a:pt x="9811" y="9347"/>
                  </a:lnTo>
                  <a:lnTo>
                    <a:pt x="9228" y="9157"/>
                  </a:lnTo>
                  <a:cubicBezTo>
                    <a:pt x="9213" y="9154"/>
                    <a:pt x="9198" y="9152"/>
                    <a:pt x="9184" y="9152"/>
                  </a:cubicBezTo>
                  <a:cubicBezTo>
                    <a:pt x="9141" y="9152"/>
                    <a:pt x="9103" y="9166"/>
                    <a:pt x="9085" y="9193"/>
                  </a:cubicBezTo>
                  <a:cubicBezTo>
                    <a:pt x="9037" y="9228"/>
                    <a:pt x="8990" y="9264"/>
                    <a:pt x="8954" y="9288"/>
                  </a:cubicBezTo>
                  <a:cubicBezTo>
                    <a:pt x="8906" y="9324"/>
                    <a:pt x="8871" y="9383"/>
                    <a:pt x="8895" y="9443"/>
                  </a:cubicBezTo>
                  <a:lnTo>
                    <a:pt x="8978" y="10050"/>
                  </a:lnTo>
                  <a:lnTo>
                    <a:pt x="8597" y="10181"/>
                  </a:lnTo>
                  <a:lnTo>
                    <a:pt x="8264" y="9669"/>
                  </a:lnTo>
                  <a:cubicBezTo>
                    <a:pt x="8228" y="9621"/>
                    <a:pt x="8192" y="9585"/>
                    <a:pt x="8133" y="9585"/>
                  </a:cubicBezTo>
                  <a:lnTo>
                    <a:pt x="7954" y="9585"/>
                  </a:lnTo>
                  <a:cubicBezTo>
                    <a:pt x="7894" y="9585"/>
                    <a:pt x="7847" y="9621"/>
                    <a:pt x="7811" y="9669"/>
                  </a:cubicBezTo>
                  <a:lnTo>
                    <a:pt x="7490" y="10181"/>
                  </a:lnTo>
                  <a:lnTo>
                    <a:pt x="7097" y="10050"/>
                  </a:lnTo>
                  <a:lnTo>
                    <a:pt x="7192" y="9443"/>
                  </a:lnTo>
                  <a:cubicBezTo>
                    <a:pt x="7204" y="9383"/>
                    <a:pt x="7180" y="9324"/>
                    <a:pt x="7132" y="9288"/>
                  </a:cubicBezTo>
                  <a:cubicBezTo>
                    <a:pt x="7085" y="9264"/>
                    <a:pt x="7037" y="9216"/>
                    <a:pt x="7001" y="9193"/>
                  </a:cubicBezTo>
                  <a:cubicBezTo>
                    <a:pt x="6970" y="9161"/>
                    <a:pt x="6933" y="9145"/>
                    <a:pt x="6897" y="9145"/>
                  </a:cubicBezTo>
                  <a:cubicBezTo>
                    <a:pt x="6880" y="9145"/>
                    <a:pt x="6863" y="9149"/>
                    <a:pt x="6847" y="9157"/>
                  </a:cubicBezTo>
                  <a:lnTo>
                    <a:pt x="6275" y="9347"/>
                  </a:lnTo>
                  <a:lnTo>
                    <a:pt x="6061" y="8990"/>
                  </a:lnTo>
                  <a:lnTo>
                    <a:pt x="6525" y="8597"/>
                  </a:lnTo>
                  <a:cubicBezTo>
                    <a:pt x="6573" y="8550"/>
                    <a:pt x="6585" y="8502"/>
                    <a:pt x="6573" y="8442"/>
                  </a:cubicBezTo>
                  <a:cubicBezTo>
                    <a:pt x="6549" y="8383"/>
                    <a:pt x="6537" y="8335"/>
                    <a:pt x="6537" y="8276"/>
                  </a:cubicBezTo>
                  <a:cubicBezTo>
                    <a:pt x="6537" y="8216"/>
                    <a:pt x="6489" y="8169"/>
                    <a:pt x="6430" y="8157"/>
                  </a:cubicBezTo>
                  <a:lnTo>
                    <a:pt x="5847" y="7942"/>
                  </a:lnTo>
                  <a:lnTo>
                    <a:pt x="5930" y="7538"/>
                  </a:lnTo>
                  <a:lnTo>
                    <a:pt x="6549" y="7514"/>
                  </a:lnTo>
                  <a:cubicBezTo>
                    <a:pt x="6609" y="7514"/>
                    <a:pt x="6656" y="7490"/>
                    <a:pt x="6680" y="7430"/>
                  </a:cubicBezTo>
                  <a:cubicBezTo>
                    <a:pt x="6716" y="7383"/>
                    <a:pt x="6740" y="7323"/>
                    <a:pt x="6775" y="7276"/>
                  </a:cubicBezTo>
                  <a:cubicBezTo>
                    <a:pt x="6811" y="7240"/>
                    <a:pt x="6811" y="7180"/>
                    <a:pt x="6775" y="7121"/>
                  </a:cubicBezTo>
                  <a:lnTo>
                    <a:pt x="6478" y="6585"/>
                  </a:lnTo>
                  <a:lnTo>
                    <a:pt x="6787" y="6311"/>
                  </a:lnTo>
                  <a:lnTo>
                    <a:pt x="7263" y="6704"/>
                  </a:lnTo>
                  <a:cubicBezTo>
                    <a:pt x="7293" y="6719"/>
                    <a:pt x="7327" y="6729"/>
                    <a:pt x="7363" y="6729"/>
                  </a:cubicBezTo>
                  <a:cubicBezTo>
                    <a:pt x="7385" y="6729"/>
                    <a:pt x="7407" y="6725"/>
                    <a:pt x="7430" y="6716"/>
                  </a:cubicBezTo>
                  <a:cubicBezTo>
                    <a:pt x="7478" y="6704"/>
                    <a:pt x="7537" y="6668"/>
                    <a:pt x="7597" y="6657"/>
                  </a:cubicBezTo>
                  <a:cubicBezTo>
                    <a:pt x="7656" y="6645"/>
                    <a:pt x="7680" y="6597"/>
                    <a:pt x="7704" y="6537"/>
                  </a:cubicBezTo>
                  <a:lnTo>
                    <a:pt x="7823" y="5930"/>
                  </a:lnTo>
                  <a:close/>
                  <a:moveTo>
                    <a:pt x="4454" y="1"/>
                  </a:moveTo>
                  <a:cubicBezTo>
                    <a:pt x="3739" y="1"/>
                    <a:pt x="3025" y="180"/>
                    <a:pt x="2382" y="513"/>
                  </a:cubicBezTo>
                  <a:cubicBezTo>
                    <a:pt x="2310" y="561"/>
                    <a:pt x="2287" y="644"/>
                    <a:pt x="2322" y="715"/>
                  </a:cubicBezTo>
                  <a:cubicBezTo>
                    <a:pt x="2354" y="770"/>
                    <a:pt x="2405" y="799"/>
                    <a:pt x="2458" y="799"/>
                  </a:cubicBezTo>
                  <a:cubicBezTo>
                    <a:pt x="2485" y="799"/>
                    <a:pt x="2512" y="791"/>
                    <a:pt x="2537" y="775"/>
                  </a:cubicBezTo>
                  <a:cubicBezTo>
                    <a:pt x="3132" y="465"/>
                    <a:pt x="3787" y="299"/>
                    <a:pt x="4454" y="299"/>
                  </a:cubicBezTo>
                  <a:cubicBezTo>
                    <a:pt x="6728" y="299"/>
                    <a:pt x="8597" y="2168"/>
                    <a:pt x="8597" y="4442"/>
                  </a:cubicBezTo>
                  <a:cubicBezTo>
                    <a:pt x="8597" y="4847"/>
                    <a:pt x="8537" y="5228"/>
                    <a:pt x="8430" y="5621"/>
                  </a:cubicBezTo>
                  <a:lnTo>
                    <a:pt x="7740" y="5621"/>
                  </a:lnTo>
                  <a:cubicBezTo>
                    <a:pt x="7668" y="5621"/>
                    <a:pt x="7609" y="5656"/>
                    <a:pt x="7597" y="5728"/>
                  </a:cubicBezTo>
                  <a:lnTo>
                    <a:pt x="7466" y="6371"/>
                  </a:lnTo>
                  <a:lnTo>
                    <a:pt x="7442" y="6371"/>
                  </a:lnTo>
                  <a:lnTo>
                    <a:pt x="6942" y="5966"/>
                  </a:lnTo>
                  <a:cubicBezTo>
                    <a:pt x="6912" y="5948"/>
                    <a:pt x="6879" y="5939"/>
                    <a:pt x="6847" y="5939"/>
                  </a:cubicBezTo>
                  <a:cubicBezTo>
                    <a:pt x="6814" y="5939"/>
                    <a:pt x="6781" y="5948"/>
                    <a:pt x="6751" y="5966"/>
                  </a:cubicBezTo>
                  <a:lnTo>
                    <a:pt x="6239" y="6407"/>
                  </a:lnTo>
                  <a:cubicBezTo>
                    <a:pt x="6180" y="6442"/>
                    <a:pt x="6168" y="6537"/>
                    <a:pt x="6216" y="6597"/>
                  </a:cubicBezTo>
                  <a:lnTo>
                    <a:pt x="6525" y="7180"/>
                  </a:lnTo>
                  <a:cubicBezTo>
                    <a:pt x="6525" y="7180"/>
                    <a:pt x="6525" y="7192"/>
                    <a:pt x="6513" y="7192"/>
                  </a:cubicBezTo>
                  <a:lnTo>
                    <a:pt x="5858" y="7204"/>
                  </a:lnTo>
                  <a:cubicBezTo>
                    <a:pt x="5775" y="7204"/>
                    <a:pt x="5716" y="7264"/>
                    <a:pt x="5704" y="7335"/>
                  </a:cubicBezTo>
                  <a:lnTo>
                    <a:pt x="5585" y="7990"/>
                  </a:lnTo>
                  <a:cubicBezTo>
                    <a:pt x="5573" y="8073"/>
                    <a:pt x="5620" y="8145"/>
                    <a:pt x="5680" y="8157"/>
                  </a:cubicBezTo>
                  <a:lnTo>
                    <a:pt x="6013" y="8288"/>
                  </a:lnTo>
                  <a:cubicBezTo>
                    <a:pt x="5525" y="8502"/>
                    <a:pt x="5001" y="8585"/>
                    <a:pt x="4454" y="8585"/>
                  </a:cubicBezTo>
                  <a:cubicBezTo>
                    <a:pt x="2179" y="8585"/>
                    <a:pt x="322" y="6728"/>
                    <a:pt x="322" y="4454"/>
                  </a:cubicBezTo>
                  <a:cubicBezTo>
                    <a:pt x="322" y="3168"/>
                    <a:pt x="894" y="2001"/>
                    <a:pt x="1894" y="1203"/>
                  </a:cubicBezTo>
                  <a:cubicBezTo>
                    <a:pt x="1965" y="1144"/>
                    <a:pt x="1965" y="1061"/>
                    <a:pt x="1929" y="989"/>
                  </a:cubicBezTo>
                  <a:cubicBezTo>
                    <a:pt x="1895" y="942"/>
                    <a:pt x="1850" y="921"/>
                    <a:pt x="1804" y="921"/>
                  </a:cubicBezTo>
                  <a:cubicBezTo>
                    <a:pt x="1769" y="921"/>
                    <a:pt x="1734" y="933"/>
                    <a:pt x="1703" y="953"/>
                  </a:cubicBezTo>
                  <a:cubicBezTo>
                    <a:pt x="632" y="1799"/>
                    <a:pt x="1" y="3085"/>
                    <a:pt x="1" y="4454"/>
                  </a:cubicBezTo>
                  <a:cubicBezTo>
                    <a:pt x="1" y="5645"/>
                    <a:pt x="465" y="6764"/>
                    <a:pt x="1298" y="7597"/>
                  </a:cubicBezTo>
                  <a:cubicBezTo>
                    <a:pt x="2132" y="8431"/>
                    <a:pt x="3251" y="8883"/>
                    <a:pt x="4442" y="8883"/>
                  </a:cubicBezTo>
                  <a:cubicBezTo>
                    <a:pt x="5001" y="8883"/>
                    <a:pt x="5537" y="8788"/>
                    <a:pt x="6049" y="8585"/>
                  </a:cubicBezTo>
                  <a:lnTo>
                    <a:pt x="6049" y="8585"/>
                  </a:lnTo>
                  <a:lnTo>
                    <a:pt x="5775" y="8823"/>
                  </a:lnTo>
                  <a:cubicBezTo>
                    <a:pt x="5716" y="8871"/>
                    <a:pt x="5704" y="8966"/>
                    <a:pt x="5751" y="9026"/>
                  </a:cubicBezTo>
                  <a:lnTo>
                    <a:pt x="6073" y="9585"/>
                  </a:lnTo>
                  <a:cubicBezTo>
                    <a:pt x="6101" y="9632"/>
                    <a:pt x="6158" y="9664"/>
                    <a:pt x="6211" y="9664"/>
                  </a:cubicBezTo>
                  <a:cubicBezTo>
                    <a:pt x="6225" y="9664"/>
                    <a:pt x="6239" y="9662"/>
                    <a:pt x="6251" y="9657"/>
                  </a:cubicBezTo>
                  <a:lnTo>
                    <a:pt x="6882" y="9455"/>
                  </a:lnTo>
                  <a:cubicBezTo>
                    <a:pt x="6882" y="9455"/>
                    <a:pt x="6894" y="9455"/>
                    <a:pt x="6894" y="9466"/>
                  </a:cubicBezTo>
                  <a:lnTo>
                    <a:pt x="6787" y="10121"/>
                  </a:lnTo>
                  <a:cubicBezTo>
                    <a:pt x="6775" y="10193"/>
                    <a:pt x="6823" y="10276"/>
                    <a:pt x="6894" y="10288"/>
                  </a:cubicBezTo>
                  <a:lnTo>
                    <a:pt x="7525" y="10514"/>
                  </a:lnTo>
                  <a:cubicBezTo>
                    <a:pt x="7537" y="10514"/>
                    <a:pt x="7549" y="10526"/>
                    <a:pt x="7585" y="10526"/>
                  </a:cubicBezTo>
                  <a:cubicBezTo>
                    <a:pt x="7644" y="10526"/>
                    <a:pt x="7680" y="10490"/>
                    <a:pt x="7716" y="10455"/>
                  </a:cubicBezTo>
                  <a:lnTo>
                    <a:pt x="8061" y="9883"/>
                  </a:lnTo>
                  <a:lnTo>
                    <a:pt x="8073" y="9883"/>
                  </a:lnTo>
                  <a:lnTo>
                    <a:pt x="8418" y="10455"/>
                  </a:lnTo>
                  <a:cubicBezTo>
                    <a:pt x="8445" y="10499"/>
                    <a:pt x="8497" y="10523"/>
                    <a:pt x="8547" y="10523"/>
                  </a:cubicBezTo>
                  <a:cubicBezTo>
                    <a:pt x="8565" y="10523"/>
                    <a:pt x="8582" y="10520"/>
                    <a:pt x="8597" y="10514"/>
                  </a:cubicBezTo>
                  <a:lnTo>
                    <a:pt x="9216" y="10288"/>
                  </a:lnTo>
                  <a:cubicBezTo>
                    <a:pt x="9287" y="10252"/>
                    <a:pt x="9323" y="10193"/>
                    <a:pt x="9323" y="10121"/>
                  </a:cubicBezTo>
                  <a:lnTo>
                    <a:pt x="9216" y="9466"/>
                  </a:lnTo>
                  <a:cubicBezTo>
                    <a:pt x="9216" y="9466"/>
                    <a:pt x="9228" y="9466"/>
                    <a:pt x="9228" y="9455"/>
                  </a:cubicBezTo>
                  <a:lnTo>
                    <a:pt x="9859" y="9657"/>
                  </a:lnTo>
                  <a:cubicBezTo>
                    <a:pt x="9878" y="9666"/>
                    <a:pt x="9897" y="9671"/>
                    <a:pt x="9916" y="9671"/>
                  </a:cubicBezTo>
                  <a:cubicBezTo>
                    <a:pt x="9966" y="9671"/>
                    <a:pt x="10011" y="9638"/>
                    <a:pt x="10038" y="9585"/>
                  </a:cubicBezTo>
                  <a:lnTo>
                    <a:pt x="10359" y="9026"/>
                  </a:lnTo>
                  <a:cubicBezTo>
                    <a:pt x="10395" y="8966"/>
                    <a:pt x="10395" y="8871"/>
                    <a:pt x="10335" y="8823"/>
                  </a:cubicBezTo>
                  <a:lnTo>
                    <a:pt x="9847" y="8395"/>
                  </a:lnTo>
                  <a:lnTo>
                    <a:pt x="9847" y="8383"/>
                  </a:lnTo>
                  <a:lnTo>
                    <a:pt x="10454" y="8145"/>
                  </a:lnTo>
                  <a:cubicBezTo>
                    <a:pt x="10460" y="8146"/>
                    <a:pt x="10465" y="8146"/>
                    <a:pt x="10470" y="8146"/>
                  </a:cubicBezTo>
                  <a:cubicBezTo>
                    <a:pt x="10532" y="8146"/>
                    <a:pt x="10572" y="8080"/>
                    <a:pt x="10561" y="8014"/>
                  </a:cubicBezTo>
                  <a:lnTo>
                    <a:pt x="10442" y="7359"/>
                  </a:lnTo>
                  <a:cubicBezTo>
                    <a:pt x="10419" y="7288"/>
                    <a:pt x="10359" y="7240"/>
                    <a:pt x="10288" y="7228"/>
                  </a:cubicBezTo>
                  <a:lnTo>
                    <a:pt x="9633" y="7204"/>
                  </a:lnTo>
                  <a:cubicBezTo>
                    <a:pt x="9633" y="7204"/>
                    <a:pt x="9633" y="7192"/>
                    <a:pt x="9621" y="7192"/>
                  </a:cubicBezTo>
                  <a:lnTo>
                    <a:pt x="9930" y="6609"/>
                  </a:lnTo>
                  <a:cubicBezTo>
                    <a:pt x="9966" y="6549"/>
                    <a:pt x="9942" y="6466"/>
                    <a:pt x="9907" y="6418"/>
                  </a:cubicBezTo>
                  <a:lnTo>
                    <a:pt x="9395" y="5990"/>
                  </a:lnTo>
                  <a:cubicBezTo>
                    <a:pt x="9365" y="5966"/>
                    <a:pt x="9332" y="5954"/>
                    <a:pt x="9299" y="5954"/>
                  </a:cubicBezTo>
                  <a:cubicBezTo>
                    <a:pt x="9267" y="5954"/>
                    <a:pt x="9234" y="5966"/>
                    <a:pt x="9204" y="5990"/>
                  </a:cubicBezTo>
                  <a:lnTo>
                    <a:pt x="8692" y="6395"/>
                  </a:lnTo>
                  <a:lnTo>
                    <a:pt x="8680" y="6395"/>
                  </a:lnTo>
                  <a:lnTo>
                    <a:pt x="8609" y="6049"/>
                  </a:lnTo>
                  <a:lnTo>
                    <a:pt x="8609" y="6037"/>
                  </a:lnTo>
                  <a:cubicBezTo>
                    <a:pt x="8799" y="5525"/>
                    <a:pt x="8895" y="5002"/>
                    <a:pt x="8895" y="4454"/>
                  </a:cubicBezTo>
                  <a:cubicBezTo>
                    <a:pt x="8895" y="3263"/>
                    <a:pt x="8430" y="2144"/>
                    <a:pt x="7597" y="1311"/>
                  </a:cubicBezTo>
                  <a:cubicBezTo>
                    <a:pt x="6763" y="477"/>
                    <a:pt x="5644" y="1"/>
                    <a:pt x="445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544" name="Google Shape;10863;p60">
            <a:extLst>
              <a:ext uri="{FF2B5EF4-FFF2-40B4-BE49-F238E27FC236}">
                <a16:creationId xmlns:a16="http://schemas.microsoft.com/office/drawing/2014/main" id="{CAA90B05-696A-7091-F6B2-2EE064DA13F3}"/>
              </a:ext>
            </a:extLst>
          </p:cNvPr>
          <p:cNvGrpSpPr/>
          <p:nvPr/>
        </p:nvGrpSpPr>
        <p:grpSpPr>
          <a:xfrm>
            <a:off x="3732886" y="3214213"/>
            <a:ext cx="637569" cy="505902"/>
            <a:chOff x="854261" y="2908813"/>
            <a:chExt cx="377474" cy="335748"/>
          </a:xfrm>
        </p:grpSpPr>
        <p:sp>
          <p:nvSpPr>
            <p:cNvPr id="545" name="Google Shape;10864;p60">
              <a:extLst>
                <a:ext uri="{FF2B5EF4-FFF2-40B4-BE49-F238E27FC236}">
                  <a16:creationId xmlns:a16="http://schemas.microsoft.com/office/drawing/2014/main" id="{5C913EAF-192C-3D6C-5D43-459D9F36BA7C}"/>
                </a:ext>
              </a:extLst>
            </p:cNvPr>
            <p:cNvSpPr/>
            <p:nvPr/>
          </p:nvSpPr>
          <p:spPr>
            <a:xfrm>
              <a:off x="896337" y="3079695"/>
              <a:ext cx="47391" cy="17091"/>
            </a:xfrm>
            <a:custGeom>
              <a:avLst/>
              <a:gdLst/>
              <a:ahLst/>
              <a:cxnLst/>
              <a:rect l="l" t="t" r="r" b="b"/>
              <a:pathLst>
                <a:path w="1489" h="537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0865;p60">
              <a:extLst>
                <a:ext uri="{FF2B5EF4-FFF2-40B4-BE49-F238E27FC236}">
                  <a16:creationId xmlns:a16="http://schemas.microsoft.com/office/drawing/2014/main" id="{200B2D7D-F7C8-2E4B-797E-AE65ADA8E25C}"/>
                </a:ext>
              </a:extLst>
            </p:cNvPr>
            <p:cNvSpPr/>
            <p:nvPr/>
          </p:nvSpPr>
          <p:spPr>
            <a:xfrm>
              <a:off x="878514" y="3191855"/>
              <a:ext cx="11426" cy="52706"/>
            </a:xfrm>
            <a:custGeom>
              <a:avLst/>
              <a:gdLst/>
              <a:ahLst/>
              <a:cxnLst/>
              <a:rect l="l" t="t" r="r" b="b"/>
              <a:pathLst>
                <a:path w="359" h="1656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10866;p60">
              <a:extLst>
                <a:ext uri="{FF2B5EF4-FFF2-40B4-BE49-F238E27FC236}">
                  <a16:creationId xmlns:a16="http://schemas.microsoft.com/office/drawing/2014/main" id="{E829F425-EF7B-B601-D2D1-5EC07FD5A2EB}"/>
                </a:ext>
              </a:extLst>
            </p:cNvPr>
            <p:cNvSpPr/>
            <p:nvPr/>
          </p:nvSpPr>
          <p:spPr>
            <a:xfrm>
              <a:off x="854261" y="3050159"/>
              <a:ext cx="219451" cy="194052"/>
            </a:xfrm>
            <a:custGeom>
              <a:avLst/>
              <a:gdLst/>
              <a:ahLst/>
              <a:cxnLst/>
              <a:rect l="l" t="t" r="r" b="b"/>
              <a:pathLst>
                <a:path w="6895" h="6097" extrusionOk="0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10867;p60">
              <a:extLst>
                <a:ext uri="{FF2B5EF4-FFF2-40B4-BE49-F238E27FC236}">
                  <a16:creationId xmlns:a16="http://schemas.microsoft.com/office/drawing/2014/main" id="{67A08514-C4A9-4AA9-0295-A4BF5FE27BB1}"/>
                </a:ext>
              </a:extLst>
            </p:cNvPr>
            <p:cNvSpPr/>
            <p:nvPr/>
          </p:nvSpPr>
          <p:spPr>
            <a:xfrm>
              <a:off x="1008115" y="2908813"/>
              <a:ext cx="223620" cy="188355"/>
            </a:xfrm>
            <a:custGeom>
              <a:avLst/>
              <a:gdLst/>
              <a:ahLst/>
              <a:cxnLst/>
              <a:rect l="l" t="t" r="r" b="b"/>
              <a:pathLst>
                <a:path w="7026" h="5918" extrusionOk="0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10868;p60">
              <a:extLst>
                <a:ext uri="{FF2B5EF4-FFF2-40B4-BE49-F238E27FC236}">
                  <a16:creationId xmlns:a16="http://schemas.microsoft.com/office/drawing/2014/main" id="{42361AFC-D00B-D4EA-A694-DBEC8CB642ED}"/>
                </a:ext>
              </a:extLst>
            </p:cNvPr>
            <p:cNvSpPr/>
            <p:nvPr/>
          </p:nvSpPr>
          <p:spPr>
            <a:xfrm>
              <a:off x="1037301" y="2944046"/>
              <a:ext cx="165248" cy="105763"/>
            </a:xfrm>
            <a:custGeom>
              <a:avLst/>
              <a:gdLst/>
              <a:ahLst/>
              <a:cxnLst/>
              <a:rect l="l" t="t" r="r" b="b"/>
              <a:pathLst>
                <a:path w="5192" h="3323" extrusionOk="0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" name="Google Shape;11953;p61">
            <a:extLst>
              <a:ext uri="{FF2B5EF4-FFF2-40B4-BE49-F238E27FC236}">
                <a16:creationId xmlns:a16="http://schemas.microsoft.com/office/drawing/2014/main" id="{C8216CD4-1B86-19E7-D10E-D3EEFA50CF0B}"/>
              </a:ext>
            </a:extLst>
          </p:cNvPr>
          <p:cNvGrpSpPr/>
          <p:nvPr/>
        </p:nvGrpSpPr>
        <p:grpSpPr>
          <a:xfrm>
            <a:off x="6384083" y="2314809"/>
            <a:ext cx="705829" cy="619152"/>
            <a:chOff x="3522521" y="1975857"/>
            <a:chExt cx="367013" cy="331278"/>
          </a:xfrm>
        </p:grpSpPr>
        <p:sp>
          <p:nvSpPr>
            <p:cNvPr id="619" name="Google Shape;11954;p61">
              <a:extLst>
                <a:ext uri="{FF2B5EF4-FFF2-40B4-BE49-F238E27FC236}">
                  <a16:creationId xmlns:a16="http://schemas.microsoft.com/office/drawing/2014/main" id="{BF95D1F4-DA42-6CC7-DC51-39F53526A9C7}"/>
                </a:ext>
              </a:extLst>
            </p:cNvPr>
            <p:cNvSpPr/>
            <p:nvPr/>
          </p:nvSpPr>
          <p:spPr>
            <a:xfrm>
              <a:off x="3665841" y="1975857"/>
              <a:ext cx="91302" cy="91682"/>
            </a:xfrm>
            <a:custGeom>
              <a:avLst/>
              <a:gdLst/>
              <a:ahLst/>
              <a:cxnLst/>
              <a:rect l="l" t="t" r="r" b="b"/>
              <a:pathLst>
                <a:path w="2882" h="2894" extrusionOk="0">
                  <a:moveTo>
                    <a:pt x="1429" y="703"/>
                  </a:moveTo>
                  <a:cubicBezTo>
                    <a:pt x="1846" y="703"/>
                    <a:pt x="2167" y="1036"/>
                    <a:pt x="2167" y="1453"/>
                  </a:cubicBezTo>
                  <a:cubicBezTo>
                    <a:pt x="2167" y="1870"/>
                    <a:pt x="1834" y="2191"/>
                    <a:pt x="1429" y="2191"/>
                  </a:cubicBezTo>
                  <a:cubicBezTo>
                    <a:pt x="1024" y="2191"/>
                    <a:pt x="679" y="1870"/>
                    <a:pt x="679" y="1453"/>
                  </a:cubicBezTo>
                  <a:cubicBezTo>
                    <a:pt x="679" y="1048"/>
                    <a:pt x="1013" y="703"/>
                    <a:pt x="1429" y="703"/>
                  </a:cubicBezTo>
                  <a:close/>
                  <a:moveTo>
                    <a:pt x="1441" y="0"/>
                  </a:moveTo>
                  <a:cubicBezTo>
                    <a:pt x="1358" y="0"/>
                    <a:pt x="1274" y="84"/>
                    <a:pt x="1274" y="167"/>
                  </a:cubicBezTo>
                  <a:lnTo>
                    <a:pt x="1274" y="393"/>
                  </a:lnTo>
                  <a:cubicBezTo>
                    <a:pt x="1096" y="417"/>
                    <a:pt x="953" y="476"/>
                    <a:pt x="822" y="584"/>
                  </a:cubicBezTo>
                  <a:lnTo>
                    <a:pt x="655" y="417"/>
                  </a:lnTo>
                  <a:cubicBezTo>
                    <a:pt x="626" y="387"/>
                    <a:pt x="581" y="372"/>
                    <a:pt x="536" y="372"/>
                  </a:cubicBezTo>
                  <a:cubicBezTo>
                    <a:pt x="492" y="372"/>
                    <a:pt x="447" y="387"/>
                    <a:pt x="417" y="417"/>
                  </a:cubicBezTo>
                  <a:cubicBezTo>
                    <a:pt x="358" y="476"/>
                    <a:pt x="358" y="596"/>
                    <a:pt x="417" y="655"/>
                  </a:cubicBezTo>
                  <a:lnTo>
                    <a:pt x="584" y="822"/>
                  </a:lnTo>
                  <a:cubicBezTo>
                    <a:pt x="477" y="953"/>
                    <a:pt x="417" y="1119"/>
                    <a:pt x="381" y="1286"/>
                  </a:cubicBezTo>
                  <a:lnTo>
                    <a:pt x="167" y="1286"/>
                  </a:lnTo>
                  <a:cubicBezTo>
                    <a:pt x="72" y="1286"/>
                    <a:pt x="0" y="1358"/>
                    <a:pt x="0" y="1453"/>
                  </a:cubicBezTo>
                  <a:cubicBezTo>
                    <a:pt x="0" y="1536"/>
                    <a:pt x="72" y="1608"/>
                    <a:pt x="167" y="1608"/>
                  </a:cubicBezTo>
                  <a:lnTo>
                    <a:pt x="381" y="1608"/>
                  </a:lnTo>
                  <a:cubicBezTo>
                    <a:pt x="417" y="1786"/>
                    <a:pt x="477" y="1941"/>
                    <a:pt x="584" y="2072"/>
                  </a:cubicBezTo>
                  <a:lnTo>
                    <a:pt x="417" y="2239"/>
                  </a:lnTo>
                  <a:cubicBezTo>
                    <a:pt x="358" y="2298"/>
                    <a:pt x="358" y="2417"/>
                    <a:pt x="417" y="2477"/>
                  </a:cubicBezTo>
                  <a:cubicBezTo>
                    <a:pt x="441" y="2501"/>
                    <a:pt x="489" y="2524"/>
                    <a:pt x="536" y="2524"/>
                  </a:cubicBezTo>
                  <a:cubicBezTo>
                    <a:pt x="572" y="2524"/>
                    <a:pt x="620" y="2501"/>
                    <a:pt x="655" y="2477"/>
                  </a:cubicBezTo>
                  <a:lnTo>
                    <a:pt x="810" y="2310"/>
                  </a:lnTo>
                  <a:cubicBezTo>
                    <a:pt x="953" y="2417"/>
                    <a:pt x="1108" y="2477"/>
                    <a:pt x="1274" y="2501"/>
                  </a:cubicBezTo>
                  <a:lnTo>
                    <a:pt x="1274" y="2727"/>
                  </a:lnTo>
                  <a:cubicBezTo>
                    <a:pt x="1274" y="2822"/>
                    <a:pt x="1346" y="2893"/>
                    <a:pt x="1441" y="2893"/>
                  </a:cubicBezTo>
                  <a:cubicBezTo>
                    <a:pt x="1536" y="2893"/>
                    <a:pt x="1608" y="2822"/>
                    <a:pt x="1608" y="2727"/>
                  </a:cubicBezTo>
                  <a:lnTo>
                    <a:pt x="1608" y="2501"/>
                  </a:lnTo>
                  <a:cubicBezTo>
                    <a:pt x="1786" y="2477"/>
                    <a:pt x="1929" y="2417"/>
                    <a:pt x="2072" y="2310"/>
                  </a:cubicBezTo>
                  <a:lnTo>
                    <a:pt x="2227" y="2477"/>
                  </a:lnTo>
                  <a:cubicBezTo>
                    <a:pt x="2263" y="2501"/>
                    <a:pt x="2310" y="2524"/>
                    <a:pt x="2346" y="2524"/>
                  </a:cubicBezTo>
                  <a:cubicBezTo>
                    <a:pt x="2394" y="2524"/>
                    <a:pt x="2441" y="2501"/>
                    <a:pt x="2465" y="2477"/>
                  </a:cubicBezTo>
                  <a:cubicBezTo>
                    <a:pt x="2525" y="2417"/>
                    <a:pt x="2525" y="2298"/>
                    <a:pt x="2465" y="2239"/>
                  </a:cubicBezTo>
                  <a:lnTo>
                    <a:pt x="2298" y="2072"/>
                  </a:lnTo>
                  <a:cubicBezTo>
                    <a:pt x="2406" y="1941"/>
                    <a:pt x="2465" y="1774"/>
                    <a:pt x="2501" y="1608"/>
                  </a:cubicBezTo>
                  <a:lnTo>
                    <a:pt x="2715" y="1608"/>
                  </a:lnTo>
                  <a:cubicBezTo>
                    <a:pt x="2810" y="1608"/>
                    <a:pt x="2882" y="1536"/>
                    <a:pt x="2882" y="1453"/>
                  </a:cubicBezTo>
                  <a:cubicBezTo>
                    <a:pt x="2882" y="1358"/>
                    <a:pt x="2810" y="1286"/>
                    <a:pt x="2727" y="1286"/>
                  </a:cubicBezTo>
                  <a:lnTo>
                    <a:pt x="2501" y="1286"/>
                  </a:lnTo>
                  <a:cubicBezTo>
                    <a:pt x="2465" y="1108"/>
                    <a:pt x="2406" y="953"/>
                    <a:pt x="2310" y="822"/>
                  </a:cubicBezTo>
                  <a:lnTo>
                    <a:pt x="2465" y="655"/>
                  </a:lnTo>
                  <a:cubicBezTo>
                    <a:pt x="2525" y="596"/>
                    <a:pt x="2525" y="476"/>
                    <a:pt x="2465" y="417"/>
                  </a:cubicBezTo>
                  <a:cubicBezTo>
                    <a:pt x="2435" y="387"/>
                    <a:pt x="2391" y="372"/>
                    <a:pt x="2346" y="372"/>
                  </a:cubicBezTo>
                  <a:cubicBezTo>
                    <a:pt x="2301" y="372"/>
                    <a:pt x="2257" y="387"/>
                    <a:pt x="2227" y="417"/>
                  </a:cubicBezTo>
                  <a:lnTo>
                    <a:pt x="2072" y="584"/>
                  </a:lnTo>
                  <a:cubicBezTo>
                    <a:pt x="1929" y="476"/>
                    <a:pt x="1775" y="417"/>
                    <a:pt x="1608" y="393"/>
                  </a:cubicBezTo>
                  <a:lnTo>
                    <a:pt x="1608" y="167"/>
                  </a:lnTo>
                  <a:cubicBezTo>
                    <a:pt x="1608" y="84"/>
                    <a:pt x="1536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1955;p61">
              <a:extLst>
                <a:ext uri="{FF2B5EF4-FFF2-40B4-BE49-F238E27FC236}">
                  <a16:creationId xmlns:a16="http://schemas.microsoft.com/office/drawing/2014/main" id="{C1BF0C41-DFCA-8622-71DF-8CED4F1F4126}"/>
                </a:ext>
              </a:extLst>
            </p:cNvPr>
            <p:cNvSpPr/>
            <p:nvPr/>
          </p:nvSpPr>
          <p:spPr>
            <a:xfrm>
              <a:off x="3693751" y="2004147"/>
              <a:ext cx="34721" cy="35101"/>
            </a:xfrm>
            <a:custGeom>
              <a:avLst/>
              <a:gdLst/>
              <a:ahLst/>
              <a:cxnLst/>
              <a:rect l="l" t="t" r="r" b="b"/>
              <a:pathLst>
                <a:path w="1096" h="1108" extrusionOk="0">
                  <a:moveTo>
                    <a:pt x="548" y="345"/>
                  </a:moveTo>
                  <a:cubicBezTo>
                    <a:pt x="667" y="345"/>
                    <a:pt x="751" y="441"/>
                    <a:pt x="751" y="560"/>
                  </a:cubicBezTo>
                  <a:cubicBezTo>
                    <a:pt x="751" y="679"/>
                    <a:pt x="667" y="762"/>
                    <a:pt x="548" y="762"/>
                  </a:cubicBezTo>
                  <a:cubicBezTo>
                    <a:pt x="429" y="762"/>
                    <a:pt x="334" y="679"/>
                    <a:pt x="334" y="560"/>
                  </a:cubicBezTo>
                  <a:cubicBezTo>
                    <a:pt x="334" y="441"/>
                    <a:pt x="429" y="345"/>
                    <a:pt x="548" y="345"/>
                  </a:cubicBezTo>
                  <a:close/>
                  <a:moveTo>
                    <a:pt x="548" y="0"/>
                  </a:moveTo>
                  <a:cubicBezTo>
                    <a:pt x="251" y="0"/>
                    <a:pt x="1" y="262"/>
                    <a:pt x="1" y="560"/>
                  </a:cubicBezTo>
                  <a:cubicBezTo>
                    <a:pt x="1" y="857"/>
                    <a:pt x="251" y="1107"/>
                    <a:pt x="548" y="1107"/>
                  </a:cubicBezTo>
                  <a:cubicBezTo>
                    <a:pt x="846" y="1107"/>
                    <a:pt x="1096" y="857"/>
                    <a:pt x="1096" y="560"/>
                  </a:cubicBezTo>
                  <a:cubicBezTo>
                    <a:pt x="1096" y="262"/>
                    <a:pt x="846" y="0"/>
                    <a:pt x="54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11956;p61">
              <a:extLst>
                <a:ext uri="{FF2B5EF4-FFF2-40B4-BE49-F238E27FC236}">
                  <a16:creationId xmlns:a16="http://schemas.microsoft.com/office/drawing/2014/main" id="{5CAAD815-CF65-7F03-784B-0E147E33E989}"/>
                </a:ext>
              </a:extLst>
            </p:cNvPr>
            <p:cNvSpPr/>
            <p:nvPr/>
          </p:nvSpPr>
          <p:spPr>
            <a:xfrm>
              <a:off x="3679052" y="2008297"/>
              <a:ext cx="210482" cy="228983"/>
            </a:xfrm>
            <a:custGeom>
              <a:avLst/>
              <a:gdLst/>
              <a:ahLst/>
              <a:cxnLst/>
              <a:rect l="l" t="t" r="r" b="b"/>
              <a:pathLst>
                <a:path w="6644" h="7228" extrusionOk="0">
                  <a:moveTo>
                    <a:pt x="4179" y="334"/>
                  </a:moveTo>
                  <a:lnTo>
                    <a:pt x="4179" y="762"/>
                  </a:lnTo>
                  <a:lnTo>
                    <a:pt x="4179" y="786"/>
                  </a:lnTo>
                  <a:cubicBezTo>
                    <a:pt x="4179" y="869"/>
                    <a:pt x="4239" y="941"/>
                    <a:pt x="4334" y="965"/>
                  </a:cubicBezTo>
                  <a:cubicBezTo>
                    <a:pt x="4596" y="988"/>
                    <a:pt x="4846" y="1107"/>
                    <a:pt x="5072" y="1274"/>
                  </a:cubicBezTo>
                  <a:cubicBezTo>
                    <a:pt x="5102" y="1299"/>
                    <a:pt x="5138" y="1311"/>
                    <a:pt x="5174" y="1311"/>
                  </a:cubicBezTo>
                  <a:cubicBezTo>
                    <a:pt x="5225" y="1311"/>
                    <a:pt x="5276" y="1287"/>
                    <a:pt x="5310" y="1238"/>
                  </a:cubicBezTo>
                  <a:lnTo>
                    <a:pt x="5322" y="1227"/>
                  </a:lnTo>
                  <a:lnTo>
                    <a:pt x="5620" y="929"/>
                  </a:lnTo>
                  <a:lnTo>
                    <a:pt x="5715" y="1024"/>
                  </a:lnTo>
                  <a:lnTo>
                    <a:pt x="5418" y="1322"/>
                  </a:lnTo>
                  <a:lnTo>
                    <a:pt x="5406" y="1334"/>
                  </a:lnTo>
                  <a:cubicBezTo>
                    <a:pt x="5322" y="1393"/>
                    <a:pt x="5322" y="1500"/>
                    <a:pt x="5370" y="1572"/>
                  </a:cubicBezTo>
                  <a:cubicBezTo>
                    <a:pt x="5537" y="1798"/>
                    <a:pt x="5632" y="2048"/>
                    <a:pt x="5679" y="2310"/>
                  </a:cubicBezTo>
                  <a:cubicBezTo>
                    <a:pt x="5703" y="2405"/>
                    <a:pt x="5775" y="2465"/>
                    <a:pt x="5858" y="2465"/>
                  </a:cubicBezTo>
                  <a:lnTo>
                    <a:pt x="6311" y="2465"/>
                  </a:lnTo>
                  <a:lnTo>
                    <a:pt x="6311" y="2572"/>
                  </a:lnTo>
                  <a:lnTo>
                    <a:pt x="5846" y="2572"/>
                  </a:lnTo>
                  <a:cubicBezTo>
                    <a:pt x="5763" y="2572"/>
                    <a:pt x="5679" y="2631"/>
                    <a:pt x="5668" y="2715"/>
                  </a:cubicBezTo>
                  <a:cubicBezTo>
                    <a:pt x="5632" y="2989"/>
                    <a:pt x="5525" y="3239"/>
                    <a:pt x="5358" y="3465"/>
                  </a:cubicBezTo>
                  <a:cubicBezTo>
                    <a:pt x="5298" y="3536"/>
                    <a:pt x="5310" y="3643"/>
                    <a:pt x="5382" y="3703"/>
                  </a:cubicBezTo>
                  <a:lnTo>
                    <a:pt x="5406" y="3715"/>
                  </a:lnTo>
                  <a:lnTo>
                    <a:pt x="5715" y="4024"/>
                  </a:lnTo>
                  <a:lnTo>
                    <a:pt x="5620" y="4120"/>
                  </a:lnTo>
                  <a:lnTo>
                    <a:pt x="5310" y="3798"/>
                  </a:lnTo>
                  <a:cubicBezTo>
                    <a:pt x="5310" y="3798"/>
                    <a:pt x="5310" y="3786"/>
                    <a:pt x="5298" y="3786"/>
                  </a:cubicBezTo>
                  <a:cubicBezTo>
                    <a:pt x="5266" y="3747"/>
                    <a:pt x="5218" y="3729"/>
                    <a:pt x="5171" y="3729"/>
                  </a:cubicBezTo>
                  <a:cubicBezTo>
                    <a:pt x="5132" y="3729"/>
                    <a:pt x="5092" y="3741"/>
                    <a:pt x="5060" y="3763"/>
                  </a:cubicBezTo>
                  <a:cubicBezTo>
                    <a:pt x="4846" y="3917"/>
                    <a:pt x="4584" y="4024"/>
                    <a:pt x="4310" y="4072"/>
                  </a:cubicBezTo>
                  <a:cubicBezTo>
                    <a:pt x="4227" y="4084"/>
                    <a:pt x="4167" y="4155"/>
                    <a:pt x="4167" y="4251"/>
                  </a:cubicBezTo>
                  <a:lnTo>
                    <a:pt x="4167" y="4263"/>
                  </a:lnTo>
                  <a:lnTo>
                    <a:pt x="4167" y="4715"/>
                  </a:lnTo>
                  <a:lnTo>
                    <a:pt x="4060" y="4715"/>
                  </a:lnTo>
                  <a:lnTo>
                    <a:pt x="4060" y="4275"/>
                  </a:lnTo>
                  <a:lnTo>
                    <a:pt x="4060" y="4263"/>
                  </a:lnTo>
                  <a:cubicBezTo>
                    <a:pt x="4060" y="4179"/>
                    <a:pt x="4001" y="4096"/>
                    <a:pt x="3917" y="4084"/>
                  </a:cubicBezTo>
                  <a:cubicBezTo>
                    <a:pt x="3644" y="4060"/>
                    <a:pt x="3393" y="3941"/>
                    <a:pt x="3167" y="3774"/>
                  </a:cubicBezTo>
                  <a:cubicBezTo>
                    <a:pt x="3136" y="3749"/>
                    <a:pt x="3099" y="3736"/>
                    <a:pt x="3061" y="3736"/>
                  </a:cubicBezTo>
                  <a:cubicBezTo>
                    <a:pt x="3012" y="3736"/>
                    <a:pt x="2963" y="3758"/>
                    <a:pt x="2929" y="3798"/>
                  </a:cubicBezTo>
                  <a:cubicBezTo>
                    <a:pt x="2929" y="3798"/>
                    <a:pt x="2929" y="3822"/>
                    <a:pt x="2917" y="3822"/>
                  </a:cubicBezTo>
                  <a:lnTo>
                    <a:pt x="2608" y="4132"/>
                  </a:lnTo>
                  <a:lnTo>
                    <a:pt x="2512" y="4036"/>
                  </a:lnTo>
                  <a:lnTo>
                    <a:pt x="2810" y="3739"/>
                  </a:lnTo>
                  <a:lnTo>
                    <a:pt x="2822" y="3727"/>
                  </a:lnTo>
                  <a:cubicBezTo>
                    <a:pt x="2822" y="3727"/>
                    <a:pt x="2846" y="3727"/>
                    <a:pt x="2846" y="3715"/>
                  </a:cubicBezTo>
                  <a:cubicBezTo>
                    <a:pt x="2917" y="3655"/>
                    <a:pt x="2917" y="3548"/>
                    <a:pt x="2870" y="3477"/>
                  </a:cubicBezTo>
                  <a:cubicBezTo>
                    <a:pt x="2703" y="3262"/>
                    <a:pt x="2608" y="3001"/>
                    <a:pt x="2560" y="2727"/>
                  </a:cubicBezTo>
                  <a:cubicBezTo>
                    <a:pt x="2548" y="2643"/>
                    <a:pt x="2465" y="2584"/>
                    <a:pt x="2381" y="2584"/>
                  </a:cubicBezTo>
                  <a:lnTo>
                    <a:pt x="1929" y="2584"/>
                  </a:lnTo>
                  <a:lnTo>
                    <a:pt x="1929" y="2465"/>
                  </a:lnTo>
                  <a:lnTo>
                    <a:pt x="2381" y="2465"/>
                  </a:lnTo>
                  <a:cubicBezTo>
                    <a:pt x="2465" y="2465"/>
                    <a:pt x="2548" y="2405"/>
                    <a:pt x="2560" y="2310"/>
                  </a:cubicBezTo>
                  <a:cubicBezTo>
                    <a:pt x="2584" y="2048"/>
                    <a:pt x="2703" y="1798"/>
                    <a:pt x="2870" y="1572"/>
                  </a:cubicBezTo>
                  <a:cubicBezTo>
                    <a:pt x="2929" y="1500"/>
                    <a:pt x="2917" y="1393"/>
                    <a:pt x="2846" y="1334"/>
                  </a:cubicBezTo>
                  <a:lnTo>
                    <a:pt x="2822" y="1322"/>
                  </a:lnTo>
                  <a:lnTo>
                    <a:pt x="2524" y="1024"/>
                  </a:lnTo>
                  <a:lnTo>
                    <a:pt x="2620" y="929"/>
                  </a:lnTo>
                  <a:lnTo>
                    <a:pt x="2917" y="1227"/>
                  </a:lnTo>
                  <a:lnTo>
                    <a:pt x="2929" y="1238"/>
                  </a:lnTo>
                  <a:cubicBezTo>
                    <a:pt x="2963" y="1286"/>
                    <a:pt x="3012" y="1306"/>
                    <a:pt x="3062" y="1306"/>
                  </a:cubicBezTo>
                  <a:cubicBezTo>
                    <a:pt x="3099" y="1306"/>
                    <a:pt x="3137" y="1295"/>
                    <a:pt x="3167" y="1274"/>
                  </a:cubicBezTo>
                  <a:cubicBezTo>
                    <a:pt x="3393" y="1107"/>
                    <a:pt x="3644" y="1000"/>
                    <a:pt x="3917" y="953"/>
                  </a:cubicBezTo>
                  <a:cubicBezTo>
                    <a:pt x="4001" y="941"/>
                    <a:pt x="4060" y="869"/>
                    <a:pt x="4060" y="774"/>
                  </a:cubicBezTo>
                  <a:lnTo>
                    <a:pt x="4060" y="762"/>
                  </a:lnTo>
                  <a:lnTo>
                    <a:pt x="4060" y="334"/>
                  </a:lnTo>
                  <a:close/>
                  <a:moveTo>
                    <a:pt x="3894" y="0"/>
                  </a:moveTo>
                  <a:cubicBezTo>
                    <a:pt x="3810" y="0"/>
                    <a:pt x="3739" y="84"/>
                    <a:pt x="3739" y="167"/>
                  </a:cubicBezTo>
                  <a:lnTo>
                    <a:pt x="3739" y="667"/>
                  </a:lnTo>
                  <a:cubicBezTo>
                    <a:pt x="3513" y="703"/>
                    <a:pt x="3298" y="798"/>
                    <a:pt x="3108" y="929"/>
                  </a:cubicBezTo>
                  <a:lnTo>
                    <a:pt x="2762" y="584"/>
                  </a:lnTo>
                  <a:cubicBezTo>
                    <a:pt x="2733" y="554"/>
                    <a:pt x="2688" y="539"/>
                    <a:pt x="2643" y="539"/>
                  </a:cubicBezTo>
                  <a:cubicBezTo>
                    <a:pt x="2599" y="539"/>
                    <a:pt x="2554" y="554"/>
                    <a:pt x="2524" y="584"/>
                  </a:cubicBezTo>
                  <a:lnTo>
                    <a:pt x="2203" y="917"/>
                  </a:lnTo>
                  <a:cubicBezTo>
                    <a:pt x="2167" y="941"/>
                    <a:pt x="2155" y="988"/>
                    <a:pt x="2155" y="1036"/>
                  </a:cubicBezTo>
                  <a:cubicBezTo>
                    <a:pt x="2155" y="1084"/>
                    <a:pt x="2167" y="1119"/>
                    <a:pt x="2203" y="1155"/>
                  </a:cubicBezTo>
                  <a:lnTo>
                    <a:pt x="2536" y="1500"/>
                  </a:lnTo>
                  <a:cubicBezTo>
                    <a:pt x="2417" y="1691"/>
                    <a:pt x="2334" y="1893"/>
                    <a:pt x="2274" y="2119"/>
                  </a:cubicBezTo>
                  <a:lnTo>
                    <a:pt x="1786" y="2119"/>
                  </a:lnTo>
                  <a:cubicBezTo>
                    <a:pt x="1691" y="2119"/>
                    <a:pt x="1619" y="2191"/>
                    <a:pt x="1619" y="2286"/>
                  </a:cubicBezTo>
                  <a:lnTo>
                    <a:pt x="1619" y="2751"/>
                  </a:lnTo>
                  <a:cubicBezTo>
                    <a:pt x="1619" y="2834"/>
                    <a:pt x="1691" y="2905"/>
                    <a:pt x="1786" y="2905"/>
                  </a:cubicBezTo>
                  <a:lnTo>
                    <a:pt x="2274" y="2905"/>
                  </a:lnTo>
                  <a:cubicBezTo>
                    <a:pt x="2322" y="3084"/>
                    <a:pt x="2381" y="3251"/>
                    <a:pt x="2465" y="3417"/>
                  </a:cubicBezTo>
                  <a:lnTo>
                    <a:pt x="1084" y="3417"/>
                  </a:lnTo>
                  <a:cubicBezTo>
                    <a:pt x="988" y="3417"/>
                    <a:pt x="917" y="3489"/>
                    <a:pt x="917" y="3584"/>
                  </a:cubicBezTo>
                  <a:cubicBezTo>
                    <a:pt x="917" y="3667"/>
                    <a:pt x="988" y="3739"/>
                    <a:pt x="1084" y="3739"/>
                  </a:cubicBezTo>
                  <a:lnTo>
                    <a:pt x="2334" y="3739"/>
                  </a:lnTo>
                  <a:lnTo>
                    <a:pt x="2203" y="3882"/>
                  </a:lnTo>
                  <a:cubicBezTo>
                    <a:pt x="2143" y="3941"/>
                    <a:pt x="2143" y="4060"/>
                    <a:pt x="2203" y="4120"/>
                  </a:cubicBezTo>
                  <a:lnTo>
                    <a:pt x="2524" y="4441"/>
                  </a:lnTo>
                  <a:cubicBezTo>
                    <a:pt x="2560" y="4477"/>
                    <a:pt x="2608" y="4489"/>
                    <a:pt x="2643" y="4489"/>
                  </a:cubicBezTo>
                  <a:cubicBezTo>
                    <a:pt x="2691" y="4489"/>
                    <a:pt x="2739" y="4477"/>
                    <a:pt x="2762" y="4441"/>
                  </a:cubicBezTo>
                  <a:lnTo>
                    <a:pt x="3108" y="4096"/>
                  </a:lnTo>
                  <a:cubicBezTo>
                    <a:pt x="3286" y="4215"/>
                    <a:pt x="3489" y="4310"/>
                    <a:pt x="3703" y="4358"/>
                  </a:cubicBezTo>
                  <a:lnTo>
                    <a:pt x="3703" y="4370"/>
                  </a:lnTo>
                  <a:lnTo>
                    <a:pt x="3703" y="5144"/>
                  </a:lnTo>
                  <a:lnTo>
                    <a:pt x="155" y="5144"/>
                  </a:lnTo>
                  <a:cubicBezTo>
                    <a:pt x="72" y="5144"/>
                    <a:pt x="0" y="5215"/>
                    <a:pt x="0" y="5310"/>
                  </a:cubicBezTo>
                  <a:cubicBezTo>
                    <a:pt x="0" y="5394"/>
                    <a:pt x="72" y="5465"/>
                    <a:pt x="155" y="5465"/>
                  </a:cubicBezTo>
                  <a:lnTo>
                    <a:pt x="4417" y="5465"/>
                  </a:lnTo>
                  <a:lnTo>
                    <a:pt x="4120" y="7037"/>
                  </a:lnTo>
                  <a:cubicBezTo>
                    <a:pt x="4108" y="7120"/>
                    <a:pt x="4167" y="7215"/>
                    <a:pt x="4251" y="7227"/>
                  </a:cubicBezTo>
                  <a:lnTo>
                    <a:pt x="4286" y="7227"/>
                  </a:lnTo>
                  <a:cubicBezTo>
                    <a:pt x="4358" y="7227"/>
                    <a:pt x="4429" y="7168"/>
                    <a:pt x="4441" y="7096"/>
                  </a:cubicBezTo>
                  <a:lnTo>
                    <a:pt x="4787" y="5322"/>
                  </a:lnTo>
                  <a:cubicBezTo>
                    <a:pt x="4798" y="5275"/>
                    <a:pt x="4787" y="5215"/>
                    <a:pt x="4763" y="5191"/>
                  </a:cubicBezTo>
                  <a:cubicBezTo>
                    <a:pt x="4727" y="5144"/>
                    <a:pt x="4679" y="5132"/>
                    <a:pt x="4620" y="5132"/>
                  </a:cubicBezTo>
                  <a:lnTo>
                    <a:pt x="4048" y="5132"/>
                  </a:lnTo>
                  <a:lnTo>
                    <a:pt x="4048" y="5013"/>
                  </a:lnTo>
                  <a:lnTo>
                    <a:pt x="4370" y="5013"/>
                  </a:lnTo>
                  <a:cubicBezTo>
                    <a:pt x="4465" y="5013"/>
                    <a:pt x="4536" y="4929"/>
                    <a:pt x="4536" y="4846"/>
                  </a:cubicBezTo>
                  <a:lnTo>
                    <a:pt x="4536" y="4358"/>
                  </a:lnTo>
                  <a:cubicBezTo>
                    <a:pt x="4763" y="4310"/>
                    <a:pt x="4965" y="4215"/>
                    <a:pt x="5168" y="4084"/>
                  </a:cubicBezTo>
                  <a:lnTo>
                    <a:pt x="5501" y="4429"/>
                  </a:lnTo>
                  <a:cubicBezTo>
                    <a:pt x="5537" y="4453"/>
                    <a:pt x="5584" y="4477"/>
                    <a:pt x="5620" y="4477"/>
                  </a:cubicBezTo>
                  <a:cubicBezTo>
                    <a:pt x="5668" y="4477"/>
                    <a:pt x="5715" y="4453"/>
                    <a:pt x="5739" y="4429"/>
                  </a:cubicBezTo>
                  <a:lnTo>
                    <a:pt x="6072" y="4096"/>
                  </a:lnTo>
                  <a:cubicBezTo>
                    <a:pt x="6096" y="4072"/>
                    <a:pt x="6108" y="4024"/>
                    <a:pt x="6108" y="3977"/>
                  </a:cubicBezTo>
                  <a:cubicBezTo>
                    <a:pt x="6108" y="3941"/>
                    <a:pt x="6096" y="3894"/>
                    <a:pt x="6072" y="3858"/>
                  </a:cubicBezTo>
                  <a:lnTo>
                    <a:pt x="5727" y="3524"/>
                  </a:lnTo>
                  <a:cubicBezTo>
                    <a:pt x="5846" y="3322"/>
                    <a:pt x="5930" y="3120"/>
                    <a:pt x="5989" y="2893"/>
                  </a:cubicBezTo>
                  <a:lnTo>
                    <a:pt x="6489" y="2893"/>
                  </a:lnTo>
                  <a:cubicBezTo>
                    <a:pt x="6572" y="2893"/>
                    <a:pt x="6644" y="2822"/>
                    <a:pt x="6644" y="2727"/>
                  </a:cubicBezTo>
                  <a:lnTo>
                    <a:pt x="6644" y="2274"/>
                  </a:lnTo>
                  <a:cubicBezTo>
                    <a:pt x="6632" y="2191"/>
                    <a:pt x="6561" y="2119"/>
                    <a:pt x="6477" y="2119"/>
                  </a:cubicBezTo>
                  <a:lnTo>
                    <a:pt x="5977" y="2119"/>
                  </a:lnTo>
                  <a:cubicBezTo>
                    <a:pt x="5941" y="1893"/>
                    <a:pt x="5846" y="1691"/>
                    <a:pt x="5715" y="1500"/>
                  </a:cubicBezTo>
                  <a:lnTo>
                    <a:pt x="6060" y="1155"/>
                  </a:lnTo>
                  <a:cubicBezTo>
                    <a:pt x="6084" y="1119"/>
                    <a:pt x="6096" y="1084"/>
                    <a:pt x="6096" y="1036"/>
                  </a:cubicBezTo>
                  <a:cubicBezTo>
                    <a:pt x="6096" y="988"/>
                    <a:pt x="6084" y="941"/>
                    <a:pt x="6060" y="917"/>
                  </a:cubicBezTo>
                  <a:lnTo>
                    <a:pt x="5727" y="584"/>
                  </a:lnTo>
                  <a:cubicBezTo>
                    <a:pt x="5697" y="554"/>
                    <a:pt x="5653" y="539"/>
                    <a:pt x="5608" y="539"/>
                  </a:cubicBezTo>
                  <a:cubicBezTo>
                    <a:pt x="5563" y="539"/>
                    <a:pt x="5519" y="554"/>
                    <a:pt x="5489" y="584"/>
                  </a:cubicBezTo>
                  <a:lnTo>
                    <a:pt x="5144" y="929"/>
                  </a:lnTo>
                  <a:cubicBezTo>
                    <a:pt x="4953" y="810"/>
                    <a:pt x="4751" y="726"/>
                    <a:pt x="4525" y="667"/>
                  </a:cubicBezTo>
                  <a:lnTo>
                    <a:pt x="4525" y="167"/>
                  </a:lnTo>
                  <a:cubicBezTo>
                    <a:pt x="4525" y="84"/>
                    <a:pt x="4453" y="0"/>
                    <a:pt x="435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11957;p61">
              <a:extLst>
                <a:ext uri="{FF2B5EF4-FFF2-40B4-BE49-F238E27FC236}">
                  <a16:creationId xmlns:a16="http://schemas.microsoft.com/office/drawing/2014/main" id="{F95E2113-C860-F71D-5103-F240826D8CA5}"/>
                </a:ext>
              </a:extLst>
            </p:cNvPr>
            <p:cNvSpPr/>
            <p:nvPr/>
          </p:nvSpPr>
          <p:spPr>
            <a:xfrm>
              <a:off x="3772951" y="2050907"/>
              <a:ext cx="73973" cy="73593"/>
            </a:xfrm>
            <a:custGeom>
              <a:avLst/>
              <a:gdLst/>
              <a:ahLst/>
              <a:cxnLst/>
              <a:rect l="l" t="t" r="r" b="b"/>
              <a:pathLst>
                <a:path w="2335" h="2323" extrusionOk="0">
                  <a:moveTo>
                    <a:pt x="1156" y="322"/>
                  </a:moveTo>
                  <a:cubicBezTo>
                    <a:pt x="1620" y="322"/>
                    <a:pt x="1989" y="703"/>
                    <a:pt x="1989" y="1167"/>
                  </a:cubicBezTo>
                  <a:cubicBezTo>
                    <a:pt x="1989" y="1620"/>
                    <a:pt x="1620" y="2001"/>
                    <a:pt x="1156" y="2001"/>
                  </a:cubicBezTo>
                  <a:cubicBezTo>
                    <a:pt x="691" y="2001"/>
                    <a:pt x="322" y="1620"/>
                    <a:pt x="322" y="1167"/>
                  </a:cubicBezTo>
                  <a:cubicBezTo>
                    <a:pt x="322" y="703"/>
                    <a:pt x="691" y="322"/>
                    <a:pt x="1156" y="322"/>
                  </a:cubicBezTo>
                  <a:close/>
                  <a:moveTo>
                    <a:pt x="1156" y="1"/>
                  </a:moveTo>
                  <a:cubicBezTo>
                    <a:pt x="513" y="1"/>
                    <a:pt x="1" y="524"/>
                    <a:pt x="1" y="1167"/>
                  </a:cubicBezTo>
                  <a:cubicBezTo>
                    <a:pt x="1" y="1798"/>
                    <a:pt x="513" y="2322"/>
                    <a:pt x="1156" y="2322"/>
                  </a:cubicBezTo>
                  <a:cubicBezTo>
                    <a:pt x="1799" y="2322"/>
                    <a:pt x="2323" y="1798"/>
                    <a:pt x="2323" y="1167"/>
                  </a:cubicBezTo>
                  <a:cubicBezTo>
                    <a:pt x="2334" y="524"/>
                    <a:pt x="1811" y="1"/>
                    <a:pt x="115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11958;p61">
              <a:extLst>
                <a:ext uri="{FF2B5EF4-FFF2-40B4-BE49-F238E27FC236}">
                  <a16:creationId xmlns:a16="http://schemas.microsoft.com/office/drawing/2014/main" id="{18A899D4-E7DA-2D71-2762-09D25D77036A}"/>
                </a:ext>
              </a:extLst>
            </p:cNvPr>
            <p:cNvSpPr/>
            <p:nvPr/>
          </p:nvSpPr>
          <p:spPr>
            <a:xfrm>
              <a:off x="3790312" y="2069028"/>
              <a:ext cx="38491" cy="38491"/>
            </a:xfrm>
            <a:custGeom>
              <a:avLst/>
              <a:gdLst/>
              <a:ahLst/>
              <a:cxnLst/>
              <a:rect l="l" t="t" r="r" b="b"/>
              <a:pathLst>
                <a:path w="1215" h="1215" extrusionOk="0">
                  <a:moveTo>
                    <a:pt x="608" y="322"/>
                  </a:moveTo>
                  <a:cubicBezTo>
                    <a:pt x="763" y="322"/>
                    <a:pt x="882" y="441"/>
                    <a:pt x="882" y="595"/>
                  </a:cubicBezTo>
                  <a:cubicBezTo>
                    <a:pt x="882" y="738"/>
                    <a:pt x="763" y="857"/>
                    <a:pt x="608" y="857"/>
                  </a:cubicBezTo>
                  <a:cubicBezTo>
                    <a:pt x="465" y="857"/>
                    <a:pt x="346" y="738"/>
                    <a:pt x="346" y="595"/>
                  </a:cubicBezTo>
                  <a:cubicBezTo>
                    <a:pt x="346" y="441"/>
                    <a:pt x="465" y="322"/>
                    <a:pt x="608" y="322"/>
                  </a:cubicBezTo>
                  <a:close/>
                  <a:moveTo>
                    <a:pt x="608" y="0"/>
                  </a:moveTo>
                  <a:cubicBezTo>
                    <a:pt x="286" y="0"/>
                    <a:pt x="1" y="262"/>
                    <a:pt x="1" y="607"/>
                  </a:cubicBezTo>
                  <a:cubicBezTo>
                    <a:pt x="1" y="929"/>
                    <a:pt x="262" y="1215"/>
                    <a:pt x="608" y="1215"/>
                  </a:cubicBezTo>
                  <a:cubicBezTo>
                    <a:pt x="941" y="1215"/>
                    <a:pt x="1215" y="953"/>
                    <a:pt x="1215" y="607"/>
                  </a:cubicBezTo>
                  <a:cubicBezTo>
                    <a:pt x="1215" y="262"/>
                    <a:pt x="953" y="0"/>
                    <a:pt x="6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11959;p61">
              <a:extLst>
                <a:ext uri="{FF2B5EF4-FFF2-40B4-BE49-F238E27FC236}">
                  <a16:creationId xmlns:a16="http://schemas.microsoft.com/office/drawing/2014/main" id="{3980CC01-E79E-C5ED-E8B2-9EC3D1C2ADE4}"/>
                </a:ext>
              </a:extLst>
            </p:cNvPr>
            <p:cNvSpPr/>
            <p:nvPr/>
          </p:nvSpPr>
          <p:spPr>
            <a:xfrm>
              <a:off x="3522521" y="2081447"/>
              <a:ext cx="294212" cy="225688"/>
            </a:xfrm>
            <a:custGeom>
              <a:avLst/>
              <a:gdLst/>
              <a:ahLst/>
              <a:cxnLst/>
              <a:rect l="l" t="t" r="r" b="b"/>
              <a:pathLst>
                <a:path w="9287" h="7124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6954"/>
                  </a:lnTo>
                  <a:cubicBezTo>
                    <a:pt x="0" y="7121"/>
                    <a:pt x="143" y="7121"/>
                    <a:pt x="262" y="7121"/>
                  </a:cubicBezTo>
                  <a:cubicBezTo>
                    <a:pt x="351" y="7121"/>
                    <a:pt x="2483" y="7124"/>
                    <a:pt x="4603" y="7124"/>
                  </a:cubicBezTo>
                  <a:cubicBezTo>
                    <a:pt x="6724" y="7124"/>
                    <a:pt x="8835" y="7121"/>
                    <a:pt x="8882" y="7109"/>
                  </a:cubicBezTo>
                  <a:cubicBezTo>
                    <a:pt x="8942" y="7085"/>
                    <a:pt x="8989" y="7026"/>
                    <a:pt x="9001" y="6966"/>
                  </a:cubicBezTo>
                  <a:lnTo>
                    <a:pt x="9287" y="5466"/>
                  </a:lnTo>
                  <a:cubicBezTo>
                    <a:pt x="9275" y="5395"/>
                    <a:pt x="9216" y="5299"/>
                    <a:pt x="9120" y="5287"/>
                  </a:cubicBezTo>
                  <a:cubicBezTo>
                    <a:pt x="9113" y="5286"/>
                    <a:pt x="9106" y="5286"/>
                    <a:pt x="9099" y="5286"/>
                  </a:cubicBezTo>
                  <a:cubicBezTo>
                    <a:pt x="9021" y="5286"/>
                    <a:pt x="8941" y="5342"/>
                    <a:pt x="8930" y="5418"/>
                  </a:cubicBezTo>
                  <a:lnTo>
                    <a:pt x="8680" y="6788"/>
                  </a:lnTo>
                  <a:lnTo>
                    <a:pt x="357" y="6788"/>
                  </a:lnTo>
                  <a:lnTo>
                    <a:pt x="1036" y="3192"/>
                  </a:lnTo>
                  <a:lnTo>
                    <a:pt x="4429" y="3192"/>
                  </a:lnTo>
                  <a:cubicBezTo>
                    <a:pt x="4524" y="3192"/>
                    <a:pt x="4596" y="3120"/>
                    <a:pt x="4596" y="3025"/>
                  </a:cubicBezTo>
                  <a:cubicBezTo>
                    <a:pt x="4596" y="2930"/>
                    <a:pt x="4524" y="2858"/>
                    <a:pt x="4429" y="2858"/>
                  </a:cubicBezTo>
                  <a:lnTo>
                    <a:pt x="905" y="2858"/>
                  </a:lnTo>
                  <a:cubicBezTo>
                    <a:pt x="834" y="2858"/>
                    <a:pt x="750" y="2918"/>
                    <a:pt x="738" y="2989"/>
                  </a:cubicBezTo>
                  <a:lnTo>
                    <a:pt x="322" y="5168"/>
                  </a:lnTo>
                  <a:lnTo>
                    <a:pt x="322" y="334"/>
                  </a:lnTo>
                  <a:lnTo>
                    <a:pt x="2453" y="334"/>
                  </a:lnTo>
                  <a:lnTo>
                    <a:pt x="3536" y="1418"/>
                  </a:lnTo>
                  <a:cubicBezTo>
                    <a:pt x="3572" y="1442"/>
                    <a:pt x="3608" y="1465"/>
                    <a:pt x="3655" y="1465"/>
                  </a:cubicBezTo>
                  <a:lnTo>
                    <a:pt x="5358" y="1465"/>
                  </a:lnTo>
                  <a:cubicBezTo>
                    <a:pt x="5441" y="1465"/>
                    <a:pt x="5513" y="1394"/>
                    <a:pt x="5513" y="1299"/>
                  </a:cubicBezTo>
                  <a:cubicBezTo>
                    <a:pt x="5513" y="1204"/>
                    <a:pt x="5441" y="1132"/>
                    <a:pt x="5358" y="1132"/>
                  </a:cubicBezTo>
                  <a:lnTo>
                    <a:pt x="3727" y="1132"/>
                  </a:lnTo>
                  <a:lnTo>
                    <a:pt x="2643" y="49"/>
                  </a:lnTo>
                  <a:cubicBezTo>
                    <a:pt x="2619" y="13"/>
                    <a:pt x="2572" y="1"/>
                    <a:pt x="25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11960;p61">
              <a:extLst>
                <a:ext uri="{FF2B5EF4-FFF2-40B4-BE49-F238E27FC236}">
                  <a16:creationId xmlns:a16="http://schemas.microsoft.com/office/drawing/2014/main" id="{CD9435D5-6C41-542C-E040-E9CCA8F1BC0E}"/>
                </a:ext>
              </a:extLst>
            </p:cNvPr>
            <p:cNvSpPr/>
            <p:nvPr/>
          </p:nvSpPr>
          <p:spPr>
            <a:xfrm>
              <a:off x="3810682" y="2248812"/>
              <a:ext cx="1774" cy="253"/>
            </a:xfrm>
            <a:custGeom>
              <a:avLst/>
              <a:gdLst/>
              <a:ahLst/>
              <a:cxnLst/>
              <a:rect l="l" t="t" r="r" b="b"/>
              <a:pathLst>
                <a:path w="56" h="8" extrusionOk="0">
                  <a:moveTo>
                    <a:pt x="1" y="1"/>
                  </a:moveTo>
                  <a:cubicBezTo>
                    <a:pt x="1" y="1"/>
                    <a:pt x="7" y="2"/>
                    <a:pt x="24" y="4"/>
                  </a:cubicBezTo>
                  <a:cubicBezTo>
                    <a:pt x="44" y="7"/>
                    <a:pt x="52" y="8"/>
                    <a:pt x="53" y="8"/>
                  </a:cubicBezTo>
                  <a:cubicBezTo>
                    <a:pt x="55" y="8"/>
                    <a:pt x="3" y="1"/>
                    <a:pt x="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" grpId="0" animBg="1"/>
      <p:bldP spid="551" grpId="0" animBg="1"/>
      <p:bldP spid="553" grpId="0" animBg="1"/>
      <p:bldP spid="556" grpId="0"/>
      <p:bldP spid="559" grpId="0"/>
      <p:bldP spid="5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4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PREREQUSITES FOR ADOPTION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360" name="Google Shape;1360;p45"/>
          <p:cNvGraphicFramePr/>
          <p:nvPr/>
        </p:nvGraphicFramePr>
        <p:xfrm>
          <a:off x="1620911" y="1370692"/>
          <a:ext cx="5556737" cy="3176573"/>
        </p:xfrm>
        <a:graphic>
          <a:graphicData uri="http://schemas.openxmlformats.org/drawingml/2006/table">
            <a:tbl>
              <a:tblPr>
                <a:noFill/>
                <a:tableStyleId>{6CAA7EAD-770A-4BA6-A570-980CF8E8E115}</a:tableStyleId>
              </a:tblPr>
              <a:tblGrid>
                <a:gridCol w="460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chemeClr val="accent2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CHECKLIST</a:t>
                      </a:r>
                      <a:endParaRPr sz="2000" dirty="0">
                        <a:solidFill>
                          <a:schemeClr val="accent2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60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" sz="15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Excel is OK</a:t>
                      </a:r>
                      <a:endParaRPr sz="15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X</a:t>
                      </a:r>
                      <a:endParaRPr sz="15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997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Maven Pro"/>
                          <a:cs typeface="Trebuchet MS"/>
                          <a:sym typeface="Arial"/>
                        </a:rPr>
                        <a:t>Managerial</a:t>
                      </a:r>
                      <a:r>
                        <a:rPr lang="en-US" sz="1500" b="1" dirty="0">
                          <a:solidFill>
                            <a:srgbClr val="C81F8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Maven Pro"/>
                          <a:cs typeface="Trebuchet MS"/>
                          <a:sym typeface="Arial"/>
                        </a:rPr>
                        <a:t>Awareness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X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Maven Pro"/>
                          <a:cs typeface="Trebuchet MS"/>
                          <a:sym typeface="Arial"/>
                        </a:rPr>
                        <a:t>From 1 to 10 GB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X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9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ro-MD" sz="1500" b="0" i="0" u="none" strike="noStrike" cap="none" dirty="0">
                          <a:solidFill>
                            <a:schemeClr val="dk1"/>
                          </a:solidFill>
                          <a:latin typeface="Maven Pro"/>
                          <a:cs typeface="Trebuchet MS"/>
                          <a:sym typeface="Arial"/>
                        </a:rPr>
                        <a:t>On Premise Computing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X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ro-MD" sz="1500" b="0" i="0" u="none" strike="noStrike" cap="none" dirty="0">
                          <a:solidFill>
                            <a:schemeClr val="dk1"/>
                          </a:solidFill>
                          <a:latin typeface="Maven Pro"/>
                          <a:cs typeface="Trebuchet MS"/>
                          <a:sym typeface="Arial"/>
                        </a:rPr>
                        <a:t>Hire A Data Scientis</a:t>
                      </a: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Maven Pro"/>
                          <a:cs typeface="Trebuchet MS"/>
                          <a:sym typeface="Arial"/>
                        </a:rPr>
                        <a:t>t</a:t>
                      </a:r>
                      <a:endParaRPr lang="ro-MD" sz="1500" b="0" i="0" u="none" strike="noStrike" cap="none" dirty="0">
                        <a:solidFill>
                          <a:schemeClr val="dk1"/>
                        </a:solidFill>
                        <a:latin typeface="Maven Pro"/>
                        <a:cs typeface="Trebuchet MS"/>
                        <a:sym typeface="A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X</a:t>
                      </a:r>
                      <a:endParaRPr sz="15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64" name="Google Shape;1364;p45"/>
          <p:cNvSpPr/>
          <p:nvPr/>
        </p:nvSpPr>
        <p:spPr>
          <a:xfrm>
            <a:off x="5071604" y="1489774"/>
            <a:ext cx="577800" cy="57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5" name="Google Shape;1365;p45"/>
          <p:cNvGrpSpPr/>
          <p:nvPr/>
        </p:nvGrpSpPr>
        <p:grpSpPr>
          <a:xfrm>
            <a:off x="5215442" y="1585904"/>
            <a:ext cx="320022" cy="359778"/>
            <a:chOff x="3567553" y="1499912"/>
            <a:chExt cx="320022" cy="359778"/>
          </a:xfrm>
        </p:grpSpPr>
        <p:sp>
          <p:nvSpPr>
            <p:cNvPr id="1366" name="Google Shape;1366;p45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5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5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5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5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5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19880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USING DATA SCIECNE TO SOLVE CONTACT CENTER CHALLENGES</a:t>
            </a:r>
            <a:endParaRPr sz="2500" dirty="0"/>
          </a:p>
        </p:txBody>
      </p:sp>
      <p:sp>
        <p:nvSpPr>
          <p:cNvPr id="210" name="Google Shape;210;p16"/>
          <p:cNvSpPr txBox="1"/>
          <p:nvPr/>
        </p:nvSpPr>
        <p:spPr>
          <a:xfrm>
            <a:off x="786276" y="2666969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DEEP AND COMPLEX IVR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12" name="Google Shape;212;p16"/>
          <p:cNvSpPr/>
          <p:nvPr/>
        </p:nvSpPr>
        <p:spPr>
          <a:xfrm rot="10800000">
            <a:off x="3462180" y="2114958"/>
            <a:ext cx="2279671" cy="1087679"/>
          </a:xfrm>
          <a:custGeom>
            <a:avLst/>
            <a:gdLst/>
            <a:ahLst/>
            <a:cxnLst/>
            <a:rect l="l" t="t" r="r" b="b"/>
            <a:pathLst>
              <a:path w="66087" h="33020" extrusionOk="0">
                <a:moveTo>
                  <a:pt x="33019" y="0"/>
                </a:moveTo>
                <a:cubicBezTo>
                  <a:pt x="14818" y="0"/>
                  <a:pt x="0" y="14808"/>
                  <a:pt x="0" y="33019"/>
                </a:cubicBezTo>
                <a:lnTo>
                  <a:pt x="1659" y="33019"/>
                </a:lnTo>
                <a:cubicBezTo>
                  <a:pt x="1659" y="15718"/>
                  <a:pt x="15718" y="1659"/>
                  <a:pt x="33019" y="1659"/>
                </a:cubicBezTo>
                <a:cubicBezTo>
                  <a:pt x="50321" y="1659"/>
                  <a:pt x="64427" y="15718"/>
                  <a:pt x="64427" y="33019"/>
                </a:cubicBezTo>
                <a:lnTo>
                  <a:pt x="66086" y="33019"/>
                </a:lnTo>
                <a:cubicBezTo>
                  <a:pt x="66086" y="14808"/>
                  <a:pt x="51269" y="0"/>
                  <a:pt x="330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6"/>
          <p:cNvSpPr/>
          <p:nvPr/>
        </p:nvSpPr>
        <p:spPr>
          <a:xfrm rot="10800000">
            <a:off x="5093733" y="2981410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6"/>
          <p:cNvSpPr/>
          <p:nvPr/>
        </p:nvSpPr>
        <p:spPr>
          <a:xfrm rot="10800000">
            <a:off x="3630764" y="2750906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"/>
          <p:cNvSpPr/>
          <p:nvPr/>
        </p:nvSpPr>
        <p:spPr>
          <a:xfrm rot="10800000">
            <a:off x="4539316" y="3108223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6"/>
          <p:cNvSpPr/>
          <p:nvPr/>
        </p:nvSpPr>
        <p:spPr>
          <a:xfrm rot="10800000">
            <a:off x="5458032" y="2650154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6"/>
          <p:cNvSpPr/>
          <p:nvPr/>
        </p:nvSpPr>
        <p:spPr>
          <a:xfrm rot="10800000">
            <a:off x="3516363" y="2454553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3578433" y="3383486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ENABLERS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6151385" y="3327874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DRIVE REVENUE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6120329" y="2092300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BOOST CUSTOMER SATISFACTION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697633" y="1635100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LONG HOLDING TIMES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cxnSp>
        <p:nvCxnSpPr>
          <p:cNvPr id="240" name="Google Shape;240;p16"/>
          <p:cNvCxnSpPr>
            <a:cxnSpLocks/>
            <a:stCxn id="228" idx="3"/>
            <a:endCxn id="217" idx="6"/>
          </p:cNvCxnSpPr>
          <p:nvPr/>
        </p:nvCxnSpPr>
        <p:spPr>
          <a:xfrm>
            <a:off x="2737933" y="1863700"/>
            <a:ext cx="778430" cy="65280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" name="Google Shape;241;p16"/>
          <p:cNvCxnSpPr>
            <a:cxnSpLocks/>
            <a:stCxn id="214" idx="6"/>
          </p:cNvCxnSpPr>
          <p:nvPr/>
        </p:nvCxnSpPr>
        <p:spPr>
          <a:xfrm rot="10800000" flipV="1">
            <a:off x="2848284" y="2812855"/>
            <a:ext cx="782481" cy="10697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16"/>
          <p:cNvCxnSpPr>
            <a:cxnSpLocks/>
            <a:stCxn id="216" idx="2"/>
          </p:cNvCxnSpPr>
          <p:nvPr/>
        </p:nvCxnSpPr>
        <p:spPr>
          <a:xfrm flipV="1">
            <a:off x="5581932" y="2274174"/>
            <a:ext cx="795523" cy="43793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243;p16"/>
          <p:cNvCxnSpPr>
            <a:cxnSpLocks/>
            <a:stCxn id="213" idx="2"/>
          </p:cNvCxnSpPr>
          <p:nvPr/>
        </p:nvCxnSpPr>
        <p:spPr>
          <a:xfrm>
            <a:off x="5217633" y="3043360"/>
            <a:ext cx="1248465" cy="53525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244;p16"/>
          <p:cNvCxnSpPr>
            <a:cxnSpLocks/>
            <a:stCxn id="215" idx="0"/>
            <a:endCxn id="219" idx="0"/>
          </p:cNvCxnSpPr>
          <p:nvPr/>
        </p:nvCxnSpPr>
        <p:spPr>
          <a:xfrm flipH="1">
            <a:off x="4598566" y="3232123"/>
            <a:ext cx="2700" cy="1515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210;p16">
            <a:extLst>
              <a:ext uri="{FF2B5EF4-FFF2-40B4-BE49-F238E27FC236}">
                <a16:creationId xmlns:a16="http://schemas.microsoft.com/office/drawing/2014/main" id="{B095BE03-2A63-4C9F-2C57-7BEDE39A9BFB}"/>
              </a:ext>
            </a:extLst>
          </p:cNvPr>
          <p:cNvSpPr txBox="1"/>
          <p:nvPr/>
        </p:nvSpPr>
        <p:spPr>
          <a:xfrm>
            <a:off x="618157" y="3529029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INCREASING COSTS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cxnSp>
        <p:nvCxnSpPr>
          <p:cNvPr id="12" name="Google Shape;241;p16">
            <a:extLst>
              <a:ext uri="{FF2B5EF4-FFF2-40B4-BE49-F238E27FC236}">
                <a16:creationId xmlns:a16="http://schemas.microsoft.com/office/drawing/2014/main" id="{147EC238-812E-F815-AB88-BC31AA77716E}"/>
              </a:ext>
            </a:extLst>
          </p:cNvPr>
          <p:cNvCxnSpPr>
            <a:cxnSpLocks/>
            <a:stCxn id="15" idx="6"/>
          </p:cNvCxnSpPr>
          <p:nvPr/>
        </p:nvCxnSpPr>
        <p:spPr>
          <a:xfrm rot="10800000" flipV="1">
            <a:off x="2539925" y="3111774"/>
            <a:ext cx="1436931" cy="673299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214;p16">
            <a:extLst>
              <a:ext uri="{FF2B5EF4-FFF2-40B4-BE49-F238E27FC236}">
                <a16:creationId xmlns:a16="http://schemas.microsoft.com/office/drawing/2014/main" id="{358E7B31-1376-DC2C-54E7-70BD25B3334D}"/>
              </a:ext>
            </a:extLst>
          </p:cNvPr>
          <p:cNvSpPr/>
          <p:nvPr/>
        </p:nvSpPr>
        <p:spPr>
          <a:xfrm rot="10800000">
            <a:off x="3976855" y="3049825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28;p16">
            <a:extLst>
              <a:ext uri="{FF2B5EF4-FFF2-40B4-BE49-F238E27FC236}">
                <a16:creationId xmlns:a16="http://schemas.microsoft.com/office/drawing/2014/main" id="{97EEDF87-BDB7-9355-3AFC-0F4625FAE13C}"/>
              </a:ext>
            </a:extLst>
          </p:cNvPr>
          <p:cNvSpPr txBox="1"/>
          <p:nvPr/>
        </p:nvSpPr>
        <p:spPr>
          <a:xfrm>
            <a:off x="3356228" y="1754202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PREDICTIVE ANALYTICS</a:t>
            </a:r>
            <a:endParaRPr sz="11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0" name="Google Shape;228;p16">
            <a:extLst>
              <a:ext uri="{FF2B5EF4-FFF2-40B4-BE49-F238E27FC236}">
                <a16:creationId xmlns:a16="http://schemas.microsoft.com/office/drawing/2014/main" id="{72E21427-A9BA-2920-ED08-2678202E4334}"/>
              </a:ext>
            </a:extLst>
          </p:cNvPr>
          <p:cNvSpPr txBox="1"/>
          <p:nvPr/>
        </p:nvSpPr>
        <p:spPr>
          <a:xfrm>
            <a:off x="3355782" y="2301826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VISUALISATION of IVR</a:t>
            </a:r>
            <a:endParaRPr sz="11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7" name="Google Shape;11318;p60">
            <a:extLst>
              <a:ext uri="{FF2B5EF4-FFF2-40B4-BE49-F238E27FC236}">
                <a16:creationId xmlns:a16="http://schemas.microsoft.com/office/drawing/2014/main" id="{08B8413E-04C0-E553-8D80-D8FBBA28C46F}"/>
              </a:ext>
            </a:extLst>
          </p:cNvPr>
          <p:cNvSpPr/>
          <p:nvPr/>
        </p:nvSpPr>
        <p:spPr>
          <a:xfrm>
            <a:off x="352310" y="1680820"/>
            <a:ext cx="457200" cy="365760"/>
          </a:xfrm>
          <a:custGeom>
            <a:avLst/>
            <a:gdLst/>
            <a:ahLst/>
            <a:cxnLst/>
            <a:rect l="l" t="t" r="r" b="b"/>
            <a:pathLst>
              <a:path w="10919" h="9109" extrusionOk="0">
                <a:moveTo>
                  <a:pt x="2917" y="310"/>
                </a:moveTo>
                <a:cubicBezTo>
                  <a:pt x="3119" y="310"/>
                  <a:pt x="3286" y="476"/>
                  <a:pt x="3286" y="679"/>
                </a:cubicBezTo>
                <a:lnTo>
                  <a:pt x="3286" y="1036"/>
                </a:lnTo>
                <a:cubicBezTo>
                  <a:pt x="3250" y="1322"/>
                  <a:pt x="3012" y="1560"/>
                  <a:pt x="2715" y="1560"/>
                </a:cubicBezTo>
                <a:cubicBezTo>
                  <a:pt x="2417" y="1560"/>
                  <a:pt x="2179" y="1322"/>
                  <a:pt x="2179" y="1024"/>
                </a:cubicBezTo>
                <a:lnTo>
                  <a:pt x="2179" y="679"/>
                </a:lnTo>
                <a:cubicBezTo>
                  <a:pt x="2179" y="476"/>
                  <a:pt x="2346" y="310"/>
                  <a:pt x="2560" y="310"/>
                </a:cubicBezTo>
                <a:close/>
                <a:moveTo>
                  <a:pt x="5715" y="310"/>
                </a:moveTo>
                <a:cubicBezTo>
                  <a:pt x="5917" y="310"/>
                  <a:pt x="6084" y="476"/>
                  <a:pt x="6084" y="679"/>
                </a:cubicBezTo>
                <a:lnTo>
                  <a:pt x="6084" y="1036"/>
                </a:lnTo>
                <a:cubicBezTo>
                  <a:pt x="6048" y="1322"/>
                  <a:pt x="5810" y="1560"/>
                  <a:pt x="5513" y="1560"/>
                </a:cubicBezTo>
                <a:cubicBezTo>
                  <a:pt x="5215" y="1560"/>
                  <a:pt x="4977" y="1322"/>
                  <a:pt x="4977" y="1024"/>
                </a:cubicBezTo>
                <a:lnTo>
                  <a:pt x="4977" y="679"/>
                </a:lnTo>
                <a:cubicBezTo>
                  <a:pt x="4977" y="476"/>
                  <a:pt x="5144" y="310"/>
                  <a:pt x="5358" y="310"/>
                </a:cubicBezTo>
                <a:close/>
                <a:moveTo>
                  <a:pt x="8513" y="310"/>
                </a:moveTo>
                <a:cubicBezTo>
                  <a:pt x="8715" y="310"/>
                  <a:pt x="8882" y="476"/>
                  <a:pt x="8882" y="679"/>
                </a:cubicBezTo>
                <a:lnTo>
                  <a:pt x="8882" y="1036"/>
                </a:lnTo>
                <a:cubicBezTo>
                  <a:pt x="8846" y="1322"/>
                  <a:pt x="8608" y="1560"/>
                  <a:pt x="8311" y="1560"/>
                </a:cubicBezTo>
                <a:cubicBezTo>
                  <a:pt x="8013" y="1560"/>
                  <a:pt x="7775" y="1322"/>
                  <a:pt x="7775" y="1024"/>
                </a:cubicBezTo>
                <a:lnTo>
                  <a:pt x="7775" y="679"/>
                </a:lnTo>
                <a:cubicBezTo>
                  <a:pt x="7775" y="476"/>
                  <a:pt x="7941" y="310"/>
                  <a:pt x="8156" y="310"/>
                </a:cubicBezTo>
                <a:close/>
                <a:moveTo>
                  <a:pt x="2893" y="1881"/>
                </a:moveTo>
                <a:lnTo>
                  <a:pt x="2893" y="1977"/>
                </a:lnTo>
                <a:cubicBezTo>
                  <a:pt x="2893" y="2036"/>
                  <a:pt x="2905" y="2096"/>
                  <a:pt x="2941" y="2143"/>
                </a:cubicBezTo>
                <a:lnTo>
                  <a:pt x="2715" y="2358"/>
                </a:lnTo>
                <a:lnTo>
                  <a:pt x="2691" y="2358"/>
                </a:lnTo>
                <a:lnTo>
                  <a:pt x="2465" y="2143"/>
                </a:lnTo>
                <a:cubicBezTo>
                  <a:pt x="2500" y="2096"/>
                  <a:pt x="2512" y="2036"/>
                  <a:pt x="2512" y="1977"/>
                </a:cubicBezTo>
                <a:lnTo>
                  <a:pt x="2512" y="1881"/>
                </a:lnTo>
                <a:close/>
                <a:moveTo>
                  <a:pt x="5715" y="1881"/>
                </a:moveTo>
                <a:lnTo>
                  <a:pt x="5715" y="1977"/>
                </a:lnTo>
                <a:cubicBezTo>
                  <a:pt x="5715" y="2036"/>
                  <a:pt x="5727" y="2096"/>
                  <a:pt x="5751" y="2143"/>
                </a:cubicBezTo>
                <a:lnTo>
                  <a:pt x="5536" y="2358"/>
                </a:lnTo>
                <a:lnTo>
                  <a:pt x="5501" y="2358"/>
                </a:lnTo>
                <a:lnTo>
                  <a:pt x="5274" y="2143"/>
                </a:lnTo>
                <a:cubicBezTo>
                  <a:pt x="5310" y="2096"/>
                  <a:pt x="5322" y="2036"/>
                  <a:pt x="5322" y="1977"/>
                </a:cubicBezTo>
                <a:lnTo>
                  <a:pt x="5322" y="1881"/>
                </a:lnTo>
                <a:close/>
                <a:moveTo>
                  <a:pt x="8501" y="1881"/>
                </a:moveTo>
                <a:lnTo>
                  <a:pt x="8501" y="1977"/>
                </a:lnTo>
                <a:cubicBezTo>
                  <a:pt x="8501" y="2036"/>
                  <a:pt x="8525" y="2096"/>
                  <a:pt x="8549" y="2143"/>
                </a:cubicBezTo>
                <a:lnTo>
                  <a:pt x="8334" y="2358"/>
                </a:lnTo>
                <a:lnTo>
                  <a:pt x="8299" y="2358"/>
                </a:lnTo>
                <a:lnTo>
                  <a:pt x="8072" y="2143"/>
                </a:lnTo>
                <a:cubicBezTo>
                  <a:pt x="8108" y="2096"/>
                  <a:pt x="8120" y="2036"/>
                  <a:pt x="8120" y="1977"/>
                </a:cubicBezTo>
                <a:lnTo>
                  <a:pt x="8120" y="1881"/>
                </a:lnTo>
                <a:close/>
                <a:moveTo>
                  <a:pt x="9906" y="3286"/>
                </a:moveTo>
                <a:cubicBezTo>
                  <a:pt x="10120" y="3286"/>
                  <a:pt x="10275" y="3453"/>
                  <a:pt x="10275" y="3655"/>
                </a:cubicBezTo>
                <a:lnTo>
                  <a:pt x="10275" y="4012"/>
                </a:lnTo>
                <a:cubicBezTo>
                  <a:pt x="10263" y="4298"/>
                  <a:pt x="10013" y="4536"/>
                  <a:pt x="9716" y="4536"/>
                </a:cubicBezTo>
                <a:cubicBezTo>
                  <a:pt x="9418" y="4536"/>
                  <a:pt x="9180" y="4298"/>
                  <a:pt x="9180" y="4001"/>
                </a:cubicBezTo>
                <a:lnTo>
                  <a:pt x="9180" y="3655"/>
                </a:lnTo>
                <a:cubicBezTo>
                  <a:pt x="9180" y="3453"/>
                  <a:pt x="9346" y="3286"/>
                  <a:pt x="9549" y="3286"/>
                </a:cubicBezTo>
                <a:close/>
                <a:moveTo>
                  <a:pt x="1512" y="3286"/>
                </a:moveTo>
                <a:cubicBezTo>
                  <a:pt x="1691" y="3286"/>
                  <a:pt x="1857" y="3453"/>
                  <a:pt x="1857" y="3655"/>
                </a:cubicBezTo>
                <a:lnTo>
                  <a:pt x="1857" y="4012"/>
                </a:lnTo>
                <a:cubicBezTo>
                  <a:pt x="1857" y="4310"/>
                  <a:pt x="1619" y="4548"/>
                  <a:pt x="1322" y="4548"/>
                </a:cubicBezTo>
                <a:cubicBezTo>
                  <a:pt x="1024" y="4548"/>
                  <a:pt x="786" y="4310"/>
                  <a:pt x="786" y="4012"/>
                </a:cubicBezTo>
                <a:lnTo>
                  <a:pt x="786" y="3655"/>
                </a:lnTo>
                <a:cubicBezTo>
                  <a:pt x="786" y="3453"/>
                  <a:pt x="953" y="3286"/>
                  <a:pt x="1155" y="3286"/>
                </a:cubicBezTo>
                <a:close/>
                <a:moveTo>
                  <a:pt x="4310" y="3286"/>
                </a:moveTo>
                <a:cubicBezTo>
                  <a:pt x="4489" y="3286"/>
                  <a:pt x="4655" y="3453"/>
                  <a:pt x="4655" y="3655"/>
                </a:cubicBezTo>
                <a:lnTo>
                  <a:pt x="4655" y="4012"/>
                </a:lnTo>
                <a:cubicBezTo>
                  <a:pt x="4655" y="4310"/>
                  <a:pt x="4417" y="4548"/>
                  <a:pt x="4120" y="4548"/>
                </a:cubicBezTo>
                <a:cubicBezTo>
                  <a:pt x="3822" y="4548"/>
                  <a:pt x="3584" y="4310"/>
                  <a:pt x="3584" y="4012"/>
                </a:cubicBezTo>
                <a:lnTo>
                  <a:pt x="3584" y="3655"/>
                </a:lnTo>
                <a:cubicBezTo>
                  <a:pt x="3584" y="3453"/>
                  <a:pt x="3750" y="3286"/>
                  <a:pt x="3953" y="3286"/>
                </a:cubicBezTo>
                <a:close/>
                <a:moveTo>
                  <a:pt x="7108" y="3286"/>
                </a:moveTo>
                <a:cubicBezTo>
                  <a:pt x="7287" y="3286"/>
                  <a:pt x="7453" y="3453"/>
                  <a:pt x="7453" y="3655"/>
                </a:cubicBezTo>
                <a:lnTo>
                  <a:pt x="7453" y="4012"/>
                </a:lnTo>
                <a:cubicBezTo>
                  <a:pt x="7453" y="4310"/>
                  <a:pt x="7215" y="4548"/>
                  <a:pt x="6918" y="4548"/>
                </a:cubicBezTo>
                <a:cubicBezTo>
                  <a:pt x="6620" y="4548"/>
                  <a:pt x="6382" y="4310"/>
                  <a:pt x="6382" y="4012"/>
                </a:cubicBezTo>
                <a:lnTo>
                  <a:pt x="6382" y="3655"/>
                </a:lnTo>
                <a:cubicBezTo>
                  <a:pt x="6382" y="3453"/>
                  <a:pt x="6548" y="3286"/>
                  <a:pt x="6751" y="3286"/>
                </a:cubicBezTo>
                <a:close/>
                <a:moveTo>
                  <a:pt x="1500" y="4858"/>
                </a:moveTo>
                <a:lnTo>
                  <a:pt x="1500" y="4953"/>
                </a:lnTo>
                <a:cubicBezTo>
                  <a:pt x="1500" y="5013"/>
                  <a:pt x="1512" y="5072"/>
                  <a:pt x="1548" y="5120"/>
                </a:cubicBezTo>
                <a:lnTo>
                  <a:pt x="1322" y="5334"/>
                </a:lnTo>
                <a:lnTo>
                  <a:pt x="1286" y="5334"/>
                </a:lnTo>
                <a:lnTo>
                  <a:pt x="1072" y="5120"/>
                </a:lnTo>
                <a:cubicBezTo>
                  <a:pt x="1095" y="5072"/>
                  <a:pt x="1107" y="5013"/>
                  <a:pt x="1107" y="4953"/>
                </a:cubicBezTo>
                <a:lnTo>
                  <a:pt x="1107" y="4858"/>
                </a:lnTo>
                <a:close/>
                <a:moveTo>
                  <a:pt x="4298" y="4858"/>
                </a:moveTo>
                <a:lnTo>
                  <a:pt x="4298" y="4953"/>
                </a:lnTo>
                <a:cubicBezTo>
                  <a:pt x="4298" y="5013"/>
                  <a:pt x="4310" y="5072"/>
                  <a:pt x="4334" y="5120"/>
                </a:cubicBezTo>
                <a:lnTo>
                  <a:pt x="4120" y="5334"/>
                </a:lnTo>
                <a:lnTo>
                  <a:pt x="4084" y="5334"/>
                </a:lnTo>
                <a:lnTo>
                  <a:pt x="3870" y="5120"/>
                </a:lnTo>
                <a:cubicBezTo>
                  <a:pt x="3893" y="5072"/>
                  <a:pt x="3905" y="5013"/>
                  <a:pt x="3905" y="4953"/>
                </a:cubicBezTo>
                <a:lnTo>
                  <a:pt x="3905" y="4858"/>
                </a:lnTo>
                <a:close/>
                <a:moveTo>
                  <a:pt x="7108" y="4858"/>
                </a:moveTo>
                <a:lnTo>
                  <a:pt x="7108" y="4953"/>
                </a:lnTo>
                <a:cubicBezTo>
                  <a:pt x="7108" y="5013"/>
                  <a:pt x="7120" y="5072"/>
                  <a:pt x="7156" y="5120"/>
                </a:cubicBezTo>
                <a:lnTo>
                  <a:pt x="6929" y="5334"/>
                </a:lnTo>
                <a:lnTo>
                  <a:pt x="6906" y="5334"/>
                </a:lnTo>
                <a:lnTo>
                  <a:pt x="6679" y="5120"/>
                </a:lnTo>
                <a:cubicBezTo>
                  <a:pt x="6703" y="5072"/>
                  <a:pt x="6715" y="5013"/>
                  <a:pt x="6715" y="4953"/>
                </a:cubicBezTo>
                <a:lnTo>
                  <a:pt x="6715" y="4858"/>
                </a:lnTo>
                <a:close/>
                <a:moveTo>
                  <a:pt x="9906" y="4858"/>
                </a:moveTo>
                <a:lnTo>
                  <a:pt x="9906" y="4953"/>
                </a:lnTo>
                <a:cubicBezTo>
                  <a:pt x="9906" y="5013"/>
                  <a:pt x="9918" y="5072"/>
                  <a:pt x="9954" y="5120"/>
                </a:cubicBezTo>
                <a:lnTo>
                  <a:pt x="9727" y="5334"/>
                </a:lnTo>
                <a:lnTo>
                  <a:pt x="9704" y="5334"/>
                </a:lnTo>
                <a:lnTo>
                  <a:pt x="9477" y="5120"/>
                </a:lnTo>
                <a:cubicBezTo>
                  <a:pt x="9501" y="5072"/>
                  <a:pt x="9525" y="5013"/>
                  <a:pt x="9525" y="4953"/>
                </a:cubicBezTo>
                <a:lnTo>
                  <a:pt x="9525" y="4858"/>
                </a:lnTo>
                <a:close/>
                <a:moveTo>
                  <a:pt x="2453" y="0"/>
                </a:moveTo>
                <a:cubicBezTo>
                  <a:pt x="2084" y="0"/>
                  <a:pt x="1762" y="310"/>
                  <a:pt x="1762" y="679"/>
                </a:cubicBezTo>
                <a:lnTo>
                  <a:pt x="1762" y="1036"/>
                </a:lnTo>
                <a:cubicBezTo>
                  <a:pt x="1762" y="1322"/>
                  <a:pt x="1905" y="1572"/>
                  <a:pt x="2119" y="1726"/>
                </a:cubicBezTo>
                <a:lnTo>
                  <a:pt x="2119" y="1977"/>
                </a:lnTo>
                <a:cubicBezTo>
                  <a:pt x="2119" y="1977"/>
                  <a:pt x="2119" y="1988"/>
                  <a:pt x="2107" y="1988"/>
                </a:cubicBezTo>
                <a:lnTo>
                  <a:pt x="1691" y="2203"/>
                </a:lnTo>
                <a:cubicBezTo>
                  <a:pt x="1512" y="2286"/>
                  <a:pt x="1405" y="2465"/>
                  <a:pt x="1405" y="2655"/>
                </a:cubicBezTo>
                <a:lnTo>
                  <a:pt x="1405" y="2989"/>
                </a:lnTo>
                <a:lnTo>
                  <a:pt x="1036" y="2989"/>
                </a:lnTo>
                <a:cubicBezTo>
                  <a:pt x="667" y="2989"/>
                  <a:pt x="357" y="3298"/>
                  <a:pt x="357" y="3667"/>
                </a:cubicBezTo>
                <a:lnTo>
                  <a:pt x="357" y="4024"/>
                </a:lnTo>
                <a:cubicBezTo>
                  <a:pt x="357" y="4310"/>
                  <a:pt x="488" y="4560"/>
                  <a:pt x="714" y="4715"/>
                </a:cubicBezTo>
                <a:lnTo>
                  <a:pt x="714" y="4965"/>
                </a:lnTo>
                <a:cubicBezTo>
                  <a:pt x="714" y="4965"/>
                  <a:pt x="714" y="4977"/>
                  <a:pt x="691" y="4977"/>
                </a:cubicBezTo>
                <a:lnTo>
                  <a:pt x="274" y="5191"/>
                </a:lnTo>
                <a:cubicBezTo>
                  <a:pt x="95" y="5275"/>
                  <a:pt x="0" y="5453"/>
                  <a:pt x="0" y="5656"/>
                </a:cubicBezTo>
                <a:lnTo>
                  <a:pt x="0" y="7382"/>
                </a:lnTo>
                <a:cubicBezTo>
                  <a:pt x="0" y="7513"/>
                  <a:pt x="36" y="7644"/>
                  <a:pt x="119" y="7751"/>
                </a:cubicBezTo>
                <a:lnTo>
                  <a:pt x="298" y="8013"/>
                </a:lnTo>
                <a:cubicBezTo>
                  <a:pt x="333" y="8073"/>
                  <a:pt x="357" y="8156"/>
                  <a:pt x="357" y="8227"/>
                </a:cubicBezTo>
                <a:lnTo>
                  <a:pt x="357" y="8942"/>
                </a:lnTo>
                <a:cubicBezTo>
                  <a:pt x="357" y="9025"/>
                  <a:pt x="429" y="9108"/>
                  <a:pt x="512" y="9108"/>
                </a:cubicBezTo>
                <a:cubicBezTo>
                  <a:pt x="607" y="9108"/>
                  <a:pt x="679" y="9025"/>
                  <a:pt x="679" y="8942"/>
                </a:cubicBezTo>
                <a:lnTo>
                  <a:pt x="679" y="8227"/>
                </a:lnTo>
                <a:cubicBezTo>
                  <a:pt x="679" y="8096"/>
                  <a:pt x="631" y="7953"/>
                  <a:pt x="560" y="7858"/>
                </a:cubicBezTo>
                <a:lnTo>
                  <a:pt x="381" y="7584"/>
                </a:lnTo>
                <a:cubicBezTo>
                  <a:pt x="333" y="7525"/>
                  <a:pt x="321" y="7453"/>
                  <a:pt x="321" y="7382"/>
                </a:cubicBezTo>
                <a:lnTo>
                  <a:pt x="321" y="5656"/>
                </a:lnTo>
                <a:cubicBezTo>
                  <a:pt x="321" y="5572"/>
                  <a:pt x="369" y="5513"/>
                  <a:pt x="429" y="5477"/>
                </a:cubicBezTo>
                <a:lnTo>
                  <a:pt x="714" y="5322"/>
                </a:lnTo>
                <a:lnTo>
                  <a:pt x="976" y="5596"/>
                </a:lnTo>
                <a:cubicBezTo>
                  <a:pt x="1036" y="5656"/>
                  <a:pt x="1131" y="5691"/>
                  <a:pt x="1214" y="5691"/>
                </a:cubicBezTo>
                <a:cubicBezTo>
                  <a:pt x="1310" y="5691"/>
                  <a:pt x="1381" y="5667"/>
                  <a:pt x="1453" y="5596"/>
                </a:cubicBezTo>
                <a:lnTo>
                  <a:pt x="1726" y="5322"/>
                </a:lnTo>
                <a:lnTo>
                  <a:pt x="2000" y="5477"/>
                </a:lnTo>
                <a:cubicBezTo>
                  <a:pt x="2060" y="5501"/>
                  <a:pt x="2107" y="5572"/>
                  <a:pt x="2107" y="5656"/>
                </a:cubicBezTo>
                <a:lnTo>
                  <a:pt x="2107" y="7382"/>
                </a:lnTo>
                <a:cubicBezTo>
                  <a:pt x="2107" y="7453"/>
                  <a:pt x="2096" y="7525"/>
                  <a:pt x="2048" y="7584"/>
                </a:cubicBezTo>
                <a:lnTo>
                  <a:pt x="1869" y="7858"/>
                </a:lnTo>
                <a:cubicBezTo>
                  <a:pt x="1798" y="7977"/>
                  <a:pt x="1750" y="8096"/>
                  <a:pt x="1750" y="8227"/>
                </a:cubicBezTo>
                <a:lnTo>
                  <a:pt x="1750" y="8942"/>
                </a:lnTo>
                <a:cubicBezTo>
                  <a:pt x="1750" y="9025"/>
                  <a:pt x="1822" y="9108"/>
                  <a:pt x="1917" y="9108"/>
                </a:cubicBezTo>
                <a:cubicBezTo>
                  <a:pt x="2000" y="9108"/>
                  <a:pt x="2084" y="9025"/>
                  <a:pt x="2084" y="8942"/>
                </a:cubicBezTo>
                <a:lnTo>
                  <a:pt x="2084" y="8227"/>
                </a:lnTo>
                <a:cubicBezTo>
                  <a:pt x="2084" y="8156"/>
                  <a:pt x="2096" y="8073"/>
                  <a:pt x="2143" y="8013"/>
                </a:cubicBezTo>
                <a:lnTo>
                  <a:pt x="2322" y="7751"/>
                </a:lnTo>
                <a:cubicBezTo>
                  <a:pt x="2393" y="7632"/>
                  <a:pt x="2441" y="7513"/>
                  <a:pt x="2441" y="7382"/>
                </a:cubicBezTo>
                <a:lnTo>
                  <a:pt x="2441" y="5656"/>
                </a:lnTo>
                <a:cubicBezTo>
                  <a:pt x="2441" y="5453"/>
                  <a:pt x="2334" y="5275"/>
                  <a:pt x="2155" y="5191"/>
                </a:cubicBezTo>
                <a:lnTo>
                  <a:pt x="1738" y="4977"/>
                </a:lnTo>
                <a:lnTo>
                  <a:pt x="1726" y="4965"/>
                </a:lnTo>
                <a:lnTo>
                  <a:pt x="1726" y="4703"/>
                </a:lnTo>
                <a:cubicBezTo>
                  <a:pt x="1929" y="4536"/>
                  <a:pt x="2084" y="4298"/>
                  <a:pt x="2084" y="4012"/>
                </a:cubicBezTo>
                <a:lnTo>
                  <a:pt x="2084" y="3655"/>
                </a:lnTo>
                <a:cubicBezTo>
                  <a:pt x="2084" y="3405"/>
                  <a:pt x="1929" y="3179"/>
                  <a:pt x="1726" y="3060"/>
                </a:cubicBezTo>
                <a:lnTo>
                  <a:pt x="1726" y="2643"/>
                </a:lnTo>
                <a:cubicBezTo>
                  <a:pt x="1726" y="2572"/>
                  <a:pt x="1762" y="2512"/>
                  <a:pt x="1822" y="2465"/>
                </a:cubicBezTo>
                <a:lnTo>
                  <a:pt x="2107" y="2322"/>
                </a:lnTo>
                <a:lnTo>
                  <a:pt x="2381" y="2584"/>
                </a:lnTo>
                <a:cubicBezTo>
                  <a:pt x="2441" y="2643"/>
                  <a:pt x="2524" y="2691"/>
                  <a:pt x="2619" y="2691"/>
                </a:cubicBezTo>
                <a:cubicBezTo>
                  <a:pt x="2703" y="2691"/>
                  <a:pt x="2774" y="2655"/>
                  <a:pt x="2858" y="2584"/>
                </a:cubicBezTo>
                <a:lnTo>
                  <a:pt x="3119" y="2322"/>
                </a:lnTo>
                <a:lnTo>
                  <a:pt x="3405" y="2465"/>
                </a:lnTo>
                <a:cubicBezTo>
                  <a:pt x="3465" y="2500"/>
                  <a:pt x="3512" y="2572"/>
                  <a:pt x="3512" y="2643"/>
                </a:cubicBezTo>
                <a:lnTo>
                  <a:pt x="3512" y="3060"/>
                </a:lnTo>
                <a:cubicBezTo>
                  <a:pt x="3298" y="3179"/>
                  <a:pt x="3155" y="3405"/>
                  <a:pt x="3155" y="3655"/>
                </a:cubicBezTo>
                <a:lnTo>
                  <a:pt x="3155" y="4012"/>
                </a:lnTo>
                <a:cubicBezTo>
                  <a:pt x="3155" y="4298"/>
                  <a:pt x="3286" y="4548"/>
                  <a:pt x="3512" y="4703"/>
                </a:cubicBezTo>
                <a:lnTo>
                  <a:pt x="3512" y="4953"/>
                </a:lnTo>
                <a:cubicBezTo>
                  <a:pt x="3512" y="4953"/>
                  <a:pt x="3512" y="4965"/>
                  <a:pt x="3489" y="4965"/>
                </a:cubicBezTo>
                <a:lnTo>
                  <a:pt x="3072" y="5179"/>
                </a:lnTo>
                <a:cubicBezTo>
                  <a:pt x="2893" y="5263"/>
                  <a:pt x="2798" y="5441"/>
                  <a:pt x="2798" y="5632"/>
                </a:cubicBezTo>
                <a:lnTo>
                  <a:pt x="2798" y="7358"/>
                </a:lnTo>
                <a:cubicBezTo>
                  <a:pt x="2798" y="7501"/>
                  <a:pt x="2834" y="7632"/>
                  <a:pt x="2917" y="7739"/>
                </a:cubicBezTo>
                <a:lnTo>
                  <a:pt x="3096" y="8001"/>
                </a:lnTo>
                <a:cubicBezTo>
                  <a:pt x="3131" y="8061"/>
                  <a:pt x="3155" y="8132"/>
                  <a:pt x="3155" y="8215"/>
                </a:cubicBezTo>
                <a:lnTo>
                  <a:pt x="3155" y="8930"/>
                </a:lnTo>
                <a:cubicBezTo>
                  <a:pt x="3155" y="9013"/>
                  <a:pt x="3227" y="9085"/>
                  <a:pt x="3310" y="9085"/>
                </a:cubicBezTo>
                <a:cubicBezTo>
                  <a:pt x="3405" y="9085"/>
                  <a:pt x="3477" y="9013"/>
                  <a:pt x="3477" y="8930"/>
                </a:cubicBezTo>
                <a:lnTo>
                  <a:pt x="3477" y="8215"/>
                </a:lnTo>
                <a:cubicBezTo>
                  <a:pt x="3477" y="8073"/>
                  <a:pt x="3429" y="7942"/>
                  <a:pt x="3358" y="7834"/>
                </a:cubicBezTo>
                <a:lnTo>
                  <a:pt x="3179" y="7572"/>
                </a:lnTo>
                <a:cubicBezTo>
                  <a:pt x="3131" y="7513"/>
                  <a:pt x="3119" y="7441"/>
                  <a:pt x="3119" y="7358"/>
                </a:cubicBezTo>
                <a:lnTo>
                  <a:pt x="3119" y="5632"/>
                </a:lnTo>
                <a:cubicBezTo>
                  <a:pt x="3119" y="5560"/>
                  <a:pt x="3167" y="5501"/>
                  <a:pt x="3227" y="5453"/>
                </a:cubicBezTo>
                <a:lnTo>
                  <a:pt x="3512" y="5310"/>
                </a:lnTo>
                <a:lnTo>
                  <a:pt x="3774" y="5572"/>
                </a:lnTo>
                <a:cubicBezTo>
                  <a:pt x="3834" y="5632"/>
                  <a:pt x="3929" y="5679"/>
                  <a:pt x="4012" y="5679"/>
                </a:cubicBezTo>
                <a:cubicBezTo>
                  <a:pt x="4108" y="5679"/>
                  <a:pt x="4179" y="5656"/>
                  <a:pt x="4251" y="5572"/>
                </a:cubicBezTo>
                <a:lnTo>
                  <a:pt x="4524" y="5310"/>
                </a:lnTo>
                <a:lnTo>
                  <a:pt x="4798" y="5453"/>
                </a:lnTo>
                <a:cubicBezTo>
                  <a:pt x="4858" y="5489"/>
                  <a:pt x="4905" y="5560"/>
                  <a:pt x="4905" y="5632"/>
                </a:cubicBezTo>
                <a:lnTo>
                  <a:pt x="4905" y="7358"/>
                </a:lnTo>
                <a:cubicBezTo>
                  <a:pt x="4905" y="7441"/>
                  <a:pt x="4893" y="7513"/>
                  <a:pt x="4846" y="7572"/>
                </a:cubicBezTo>
                <a:lnTo>
                  <a:pt x="4667" y="7834"/>
                </a:lnTo>
                <a:cubicBezTo>
                  <a:pt x="4596" y="7953"/>
                  <a:pt x="4548" y="8073"/>
                  <a:pt x="4548" y="8215"/>
                </a:cubicBezTo>
                <a:lnTo>
                  <a:pt x="4548" y="8930"/>
                </a:lnTo>
                <a:cubicBezTo>
                  <a:pt x="4548" y="9013"/>
                  <a:pt x="4620" y="9085"/>
                  <a:pt x="4715" y="9085"/>
                </a:cubicBezTo>
                <a:cubicBezTo>
                  <a:pt x="4798" y="9085"/>
                  <a:pt x="4882" y="9013"/>
                  <a:pt x="4882" y="8930"/>
                </a:cubicBezTo>
                <a:lnTo>
                  <a:pt x="4882" y="8215"/>
                </a:lnTo>
                <a:cubicBezTo>
                  <a:pt x="4882" y="8132"/>
                  <a:pt x="4893" y="8061"/>
                  <a:pt x="4941" y="8001"/>
                </a:cubicBezTo>
                <a:lnTo>
                  <a:pt x="5120" y="7739"/>
                </a:lnTo>
                <a:cubicBezTo>
                  <a:pt x="5191" y="7620"/>
                  <a:pt x="5239" y="7501"/>
                  <a:pt x="5239" y="7358"/>
                </a:cubicBezTo>
                <a:lnTo>
                  <a:pt x="5239" y="5632"/>
                </a:lnTo>
                <a:cubicBezTo>
                  <a:pt x="5239" y="5441"/>
                  <a:pt x="5132" y="5263"/>
                  <a:pt x="4953" y="5179"/>
                </a:cubicBezTo>
                <a:lnTo>
                  <a:pt x="4536" y="4965"/>
                </a:lnTo>
                <a:lnTo>
                  <a:pt x="4524" y="4953"/>
                </a:lnTo>
                <a:lnTo>
                  <a:pt x="4524" y="4703"/>
                </a:lnTo>
                <a:cubicBezTo>
                  <a:pt x="4727" y="4536"/>
                  <a:pt x="4882" y="4298"/>
                  <a:pt x="4882" y="4012"/>
                </a:cubicBezTo>
                <a:lnTo>
                  <a:pt x="4882" y="3655"/>
                </a:lnTo>
                <a:cubicBezTo>
                  <a:pt x="4882" y="3405"/>
                  <a:pt x="4727" y="3179"/>
                  <a:pt x="4524" y="3060"/>
                </a:cubicBezTo>
                <a:lnTo>
                  <a:pt x="4524" y="2643"/>
                </a:lnTo>
                <a:cubicBezTo>
                  <a:pt x="4524" y="2572"/>
                  <a:pt x="4560" y="2512"/>
                  <a:pt x="4620" y="2465"/>
                </a:cubicBezTo>
                <a:lnTo>
                  <a:pt x="4905" y="2322"/>
                </a:lnTo>
                <a:lnTo>
                  <a:pt x="5179" y="2584"/>
                </a:lnTo>
                <a:cubicBezTo>
                  <a:pt x="5239" y="2643"/>
                  <a:pt x="5322" y="2691"/>
                  <a:pt x="5417" y="2691"/>
                </a:cubicBezTo>
                <a:cubicBezTo>
                  <a:pt x="5501" y="2691"/>
                  <a:pt x="5572" y="2655"/>
                  <a:pt x="5655" y="2584"/>
                </a:cubicBezTo>
                <a:lnTo>
                  <a:pt x="5917" y="2322"/>
                </a:lnTo>
                <a:lnTo>
                  <a:pt x="6203" y="2465"/>
                </a:lnTo>
                <a:cubicBezTo>
                  <a:pt x="6263" y="2500"/>
                  <a:pt x="6310" y="2572"/>
                  <a:pt x="6310" y="2643"/>
                </a:cubicBezTo>
                <a:lnTo>
                  <a:pt x="6310" y="3060"/>
                </a:lnTo>
                <a:cubicBezTo>
                  <a:pt x="6096" y="3179"/>
                  <a:pt x="5953" y="3405"/>
                  <a:pt x="5953" y="3655"/>
                </a:cubicBezTo>
                <a:lnTo>
                  <a:pt x="5953" y="4012"/>
                </a:lnTo>
                <a:cubicBezTo>
                  <a:pt x="5953" y="4298"/>
                  <a:pt x="6084" y="4548"/>
                  <a:pt x="6310" y="4703"/>
                </a:cubicBezTo>
                <a:lnTo>
                  <a:pt x="6310" y="4953"/>
                </a:lnTo>
                <a:cubicBezTo>
                  <a:pt x="6310" y="4953"/>
                  <a:pt x="6310" y="4965"/>
                  <a:pt x="6287" y="4965"/>
                </a:cubicBezTo>
                <a:lnTo>
                  <a:pt x="5870" y="5179"/>
                </a:lnTo>
                <a:cubicBezTo>
                  <a:pt x="5691" y="5263"/>
                  <a:pt x="5596" y="5441"/>
                  <a:pt x="5596" y="5632"/>
                </a:cubicBezTo>
                <a:lnTo>
                  <a:pt x="5596" y="7358"/>
                </a:lnTo>
                <a:cubicBezTo>
                  <a:pt x="5596" y="7501"/>
                  <a:pt x="5632" y="7632"/>
                  <a:pt x="5715" y="7739"/>
                </a:cubicBezTo>
                <a:lnTo>
                  <a:pt x="5894" y="8001"/>
                </a:lnTo>
                <a:cubicBezTo>
                  <a:pt x="5929" y="8061"/>
                  <a:pt x="5953" y="8132"/>
                  <a:pt x="5953" y="8215"/>
                </a:cubicBezTo>
                <a:lnTo>
                  <a:pt x="5953" y="8930"/>
                </a:lnTo>
                <a:cubicBezTo>
                  <a:pt x="5953" y="9013"/>
                  <a:pt x="6025" y="9085"/>
                  <a:pt x="6108" y="9085"/>
                </a:cubicBezTo>
                <a:cubicBezTo>
                  <a:pt x="6203" y="9085"/>
                  <a:pt x="6275" y="9013"/>
                  <a:pt x="6275" y="8930"/>
                </a:cubicBezTo>
                <a:lnTo>
                  <a:pt x="6275" y="8215"/>
                </a:lnTo>
                <a:cubicBezTo>
                  <a:pt x="6275" y="8073"/>
                  <a:pt x="6227" y="7942"/>
                  <a:pt x="6156" y="7834"/>
                </a:cubicBezTo>
                <a:lnTo>
                  <a:pt x="5977" y="7572"/>
                </a:lnTo>
                <a:cubicBezTo>
                  <a:pt x="5929" y="7513"/>
                  <a:pt x="5917" y="7441"/>
                  <a:pt x="5917" y="7358"/>
                </a:cubicBezTo>
                <a:lnTo>
                  <a:pt x="5917" y="5632"/>
                </a:lnTo>
                <a:cubicBezTo>
                  <a:pt x="5917" y="5560"/>
                  <a:pt x="5965" y="5501"/>
                  <a:pt x="6025" y="5453"/>
                </a:cubicBezTo>
                <a:lnTo>
                  <a:pt x="6310" y="5310"/>
                </a:lnTo>
                <a:lnTo>
                  <a:pt x="6572" y="5572"/>
                </a:lnTo>
                <a:cubicBezTo>
                  <a:pt x="6632" y="5632"/>
                  <a:pt x="6727" y="5679"/>
                  <a:pt x="6810" y="5679"/>
                </a:cubicBezTo>
                <a:cubicBezTo>
                  <a:pt x="6906" y="5679"/>
                  <a:pt x="6977" y="5656"/>
                  <a:pt x="7049" y="5572"/>
                </a:cubicBezTo>
                <a:lnTo>
                  <a:pt x="7322" y="5310"/>
                </a:lnTo>
                <a:lnTo>
                  <a:pt x="7596" y="5453"/>
                </a:lnTo>
                <a:cubicBezTo>
                  <a:pt x="7656" y="5489"/>
                  <a:pt x="7703" y="5560"/>
                  <a:pt x="7703" y="5632"/>
                </a:cubicBezTo>
                <a:lnTo>
                  <a:pt x="7703" y="7358"/>
                </a:lnTo>
                <a:cubicBezTo>
                  <a:pt x="7703" y="7441"/>
                  <a:pt x="7691" y="7513"/>
                  <a:pt x="7644" y="7572"/>
                </a:cubicBezTo>
                <a:lnTo>
                  <a:pt x="7465" y="7834"/>
                </a:lnTo>
                <a:cubicBezTo>
                  <a:pt x="7394" y="7953"/>
                  <a:pt x="7346" y="8073"/>
                  <a:pt x="7346" y="8215"/>
                </a:cubicBezTo>
                <a:lnTo>
                  <a:pt x="7346" y="8930"/>
                </a:lnTo>
                <a:cubicBezTo>
                  <a:pt x="7346" y="9013"/>
                  <a:pt x="7418" y="9085"/>
                  <a:pt x="7513" y="9085"/>
                </a:cubicBezTo>
                <a:cubicBezTo>
                  <a:pt x="7596" y="9085"/>
                  <a:pt x="7680" y="9013"/>
                  <a:pt x="7680" y="8930"/>
                </a:cubicBezTo>
                <a:lnTo>
                  <a:pt x="7680" y="8215"/>
                </a:lnTo>
                <a:cubicBezTo>
                  <a:pt x="7680" y="8132"/>
                  <a:pt x="7691" y="8061"/>
                  <a:pt x="7739" y="8001"/>
                </a:cubicBezTo>
                <a:lnTo>
                  <a:pt x="7918" y="7739"/>
                </a:lnTo>
                <a:cubicBezTo>
                  <a:pt x="7989" y="7620"/>
                  <a:pt x="8037" y="7501"/>
                  <a:pt x="8037" y="7358"/>
                </a:cubicBezTo>
                <a:lnTo>
                  <a:pt x="8037" y="5632"/>
                </a:lnTo>
                <a:cubicBezTo>
                  <a:pt x="8037" y="5441"/>
                  <a:pt x="7930" y="5263"/>
                  <a:pt x="7751" y="5179"/>
                </a:cubicBezTo>
                <a:lnTo>
                  <a:pt x="7334" y="4965"/>
                </a:lnTo>
                <a:lnTo>
                  <a:pt x="7322" y="4953"/>
                </a:lnTo>
                <a:lnTo>
                  <a:pt x="7322" y="4703"/>
                </a:lnTo>
                <a:cubicBezTo>
                  <a:pt x="7525" y="4536"/>
                  <a:pt x="7680" y="4298"/>
                  <a:pt x="7680" y="4012"/>
                </a:cubicBezTo>
                <a:lnTo>
                  <a:pt x="7680" y="3655"/>
                </a:lnTo>
                <a:cubicBezTo>
                  <a:pt x="7680" y="3405"/>
                  <a:pt x="7525" y="3179"/>
                  <a:pt x="7322" y="3060"/>
                </a:cubicBezTo>
                <a:lnTo>
                  <a:pt x="7322" y="2643"/>
                </a:lnTo>
                <a:cubicBezTo>
                  <a:pt x="7322" y="2572"/>
                  <a:pt x="7358" y="2512"/>
                  <a:pt x="7418" y="2465"/>
                </a:cubicBezTo>
                <a:lnTo>
                  <a:pt x="7703" y="2322"/>
                </a:lnTo>
                <a:lnTo>
                  <a:pt x="7977" y="2584"/>
                </a:lnTo>
                <a:cubicBezTo>
                  <a:pt x="8037" y="2643"/>
                  <a:pt x="8120" y="2691"/>
                  <a:pt x="8215" y="2691"/>
                </a:cubicBezTo>
                <a:cubicBezTo>
                  <a:pt x="8299" y="2691"/>
                  <a:pt x="8370" y="2655"/>
                  <a:pt x="8453" y="2584"/>
                </a:cubicBezTo>
                <a:lnTo>
                  <a:pt x="8715" y="2322"/>
                </a:lnTo>
                <a:lnTo>
                  <a:pt x="9001" y="2465"/>
                </a:lnTo>
                <a:cubicBezTo>
                  <a:pt x="9061" y="2500"/>
                  <a:pt x="9108" y="2572"/>
                  <a:pt x="9108" y="2643"/>
                </a:cubicBezTo>
                <a:lnTo>
                  <a:pt x="9108" y="3060"/>
                </a:lnTo>
                <a:cubicBezTo>
                  <a:pt x="8894" y="3179"/>
                  <a:pt x="8751" y="3405"/>
                  <a:pt x="8751" y="3655"/>
                </a:cubicBezTo>
                <a:lnTo>
                  <a:pt x="8751" y="4012"/>
                </a:lnTo>
                <a:cubicBezTo>
                  <a:pt x="8751" y="4298"/>
                  <a:pt x="8882" y="4548"/>
                  <a:pt x="9108" y="4703"/>
                </a:cubicBezTo>
                <a:lnTo>
                  <a:pt x="9108" y="4953"/>
                </a:lnTo>
                <a:cubicBezTo>
                  <a:pt x="9108" y="4953"/>
                  <a:pt x="9108" y="4965"/>
                  <a:pt x="9084" y="4965"/>
                </a:cubicBezTo>
                <a:lnTo>
                  <a:pt x="8668" y="5179"/>
                </a:lnTo>
                <a:cubicBezTo>
                  <a:pt x="8489" y="5263"/>
                  <a:pt x="8394" y="5441"/>
                  <a:pt x="8394" y="5632"/>
                </a:cubicBezTo>
                <a:lnTo>
                  <a:pt x="8394" y="7358"/>
                </a:lnTo>
                <a:cubicBezTo>
                  <a:pt x="8394" y="7501"/>
                  <a:pt x="8430" y="7632"/>
                  <a:pt x="8513" y="7739"/>
                </a:cubicBezTo>
                <a:lnTo>
                  <a:pt x="8692" y="8001"/>
                </a:lnTo>
                <a:cubicBezTo>
                  <a:pt x="8727" y="8061"/>
                  <a:pt x="8751" y="8132"/>
                  <a:pt x="8751" y="8215"/>
                </a:cubicBezTo>
                <a:lnTo>
                  <a:pt x="8751" y="8930"/>
                </a:lnTo>
                <a:cubicBezTo>
                  <a:pt x="8751" y="9013"/>
                  <a:pt x="8823" y="9085"/>
                  <a:pt x="8906" y="9085"/>
                </a:cubicBezTo>
                <a:cubicBezTo>
                  <a:pt x="9001" y="9085"/>
                  <a:pt x="9073" y="9013"/>
                  <a:pt x="9073" y="8930"/>
                </a:cubicBezTo>
                <a:lnTo>
                  <a:pt x="9073" y="8215"/>
                </a:lnTo>
                <a:cubicBezTo>
                  <a:pt x="9073" y="8073"/>
                  <a:pt x="9025" y="7942"/>
                  <a:pt x="8954" y="7834"/>
                </a:cubicBezTo>
                <a:lnTo>
                  <a:pt x="8775" y="7572"/>
                </a:lnTo>
                <a:cubicBezTo>
                  <a:pt x="8727" y="7513"/>
                  <a:pt x="8715" y="7441"/>
                  <a:pt x="8715" y="7358"/>
                </a:cubicBezTo>
                <a:lnTo>
                  <a:pt x="8715" y="5632"/>
                </a:lnTo>
                <a:cubicBezTo>
                  <a:pt x="8715" y="5560"/>
                  <a:pt x="8763" y="5501"/>
                  <a:pt x="8823" y="5453"/>
                </a:cubicBezTo>
                <a:lnTo>
                  <a:pt x="9108" y="5310"/>
                </a:lnTo>
                <a:lnTo>
                  <a:pt x="9370" y="5572"/>
                </a:lnTo>
                <a:cubicBezTo>
                  <a:pt x="9430" y="5632"/>
                  <a:pt x="9525" y="5679"/>
                  <a:pt x="9608" y="5679"/>
                </a:cubicBezTo>
                <a:cubicBezTo>
                  <a:pt x="9704" y="5679"/>
                  <a:pt x="9775" y="5656"/>
                  <a:pt x="9846" y="5572"/>
                </a:cubicBezTo>
                <a:lnTo>
                  <a:pt x="10120" y="5310"/>
                </a:lnTo>
                <a:lnTo>
                  <a:pt x="10394" y="5453"/>
                </a:lnTo>
                <a:cubicBezTo>
                  <a:pt x="10454" y="5489"/>
                  <a:pt x="10501" y="5560"/>
                  <a:pt x="10501" y="5632"/>
                </a:cubicBezTo>
                <a:lnTo>
                  <a:pt x="10501" y="7358"/>
                </a:lnTo>
                <a:cubicBezTo>
                  <a:pt x="10501" y="7441"/>
                  <a:pt x="10489" y="7513"/>
                  <a:pt x="10442" y="7572"/>
                </a:cubicBezTo>
                <a:lnTo>
                  <a:pt x="10263" y="7834"/>
                </a:lnTo>
                <a:cubicBezTo>
                  <a:pt x="10192" y="7953"/>
                  <a:pt x="10144" y="8073"/>
                  <a:pt x="10144" y="8215"/>
                </a:cubicBezTo>
                <a:lnTo>
                  <a:pt x="10144" y="8930"/>
                </a:lnTo>
                <a:cubicBezTo>
                  <a:pt x="10144" y="9013"/>
                  <a:pt x="10216" y="9085"/>
                  <a:pt x="10311" y="9085"/>
                </a:cubicBezTo>
                <a:cubicBezTo>
                  <a:pt x="10394" y="9085"/>
                  <a:pt x="10478" y="9013"/>
                  <a:pt x="10478" y="8930"/>
                </a:cubicBezTo>
                <a:lnTo>
                  <a:pt x="10478" y="8215"/>
                </a:lnTo>
                <a:cubicBezTo>
                  <a:pt x="10478" y="8132"/>
                  <a:pt x="10489" y="8061"/>
                  <a:pt x="10537" y="8001"/>
                </a:cubicBezTo>
                <a:lnTo>
                  <a:pt x="10716" y="7739"/>
                </a:lnTo>
                <a:cubicBezTo>
                  <a:pt x="10787" y="7620"/>
                  <a:pt x="10835" y="7501"/>
                  <a:pt x="10835" y="7358"/>
                </a:cubicBezTo>
                <a:lnTo>
                  <a:pt x="10835" y="5632"/>
                </a:lnTo>
                <a:cubicBezTo>
                  <a:pt x="10918" y="5429"/>
                  <a:pt x="10811" y="5251"/>
                  <a:pt x="10632" y="5155"/>
                </a:cubicBezTo>
                <a:lnTo>
                  <a:pt x="10216" y="4953"/>
                </a:lnTo>
                <a:lnTo>
                  <a:pt x="10204" y="4941"/>
                </a:lnTo>
                <a:lnTo>
                  <a:pt x="10204" y="4703"/>
                </a:lnTo>
                <a:cubicBezTo>
                  <a:pt x="10418" y="4536"/>
                  <a:pt x="10561" y="4298"/>
                  <a:pt x="10561" y="4012"/>
                </a:cubicBezTo>
                <a:lnTo>
                  <a:pt x="10561" y="3655"/>
                </a:lnTo>
                <a:cubicBezTo>
                  <a:pt x="10561" y="3286"/>
                  <a:pt x="10251" y="2977"/>
                  <a:pt x="9882" y="2977"/>
                </a:cubicBezTo>
                <a:lnTo>
                  <a:pt x="9501" y="2977"/>
                </a:lnTo>
                <a:lnTo>
                  <a:pt x="9501" y="2643"/>
                </a:lnTo>
                <a:cubicBezTo>
                  <a:pt x="9501" y="2453"/>
                  <a:pt x="9406" y="2274"/>
                  <a:pt x="9227" y="2179"/>
                </a:cubicBezTo>
                <a:lnTo>
                  <a:pt x="8811" y="1977"/>
                </a:lnTo>
                <a:lnTo>
                  <a:pt x="8787" y="1953"/>
                </a:lnTo>
                <a:lnTo>
                  <a:pt x="8787" y="1726"/>
                </a:lnTo>
                <a:cubicBezTo>
                  <a:pt x="9001" y="1560"/>
                  <a:pt x="9144" y="1322"/>
                  <a:pt x="9144" y="1036"/>
                </a:cubicBezTo>
                <a:lnTo>
                  <a:pt x="9144" y="679"/>
                </a:lnTo>
                <a:cubicBezTo>
                  <a:pt x="9144" y="310"/>
                  <a:pt x="8834" y="0"/>
                  <a:pt x="8465" y="0"/>
                </a:cubicBezTo>
                <a:lnTo>
                  <a:pt x="8108" y="0"/>
                </a:lnTo>
                <a:cubicBezTo>
                  <a:pt x="7739" y="0"/>
                  <a:pt x="7418" y="310"/>
                  <a:pt x="7418" y="679"/>
                </a:cubicBezTo>
                <a:lnTo>
                  <a:pt x="7418" y="1036"/>
                </a:lnTo>
                <a:cubicBezTo>
                  <a:pt x="7418" y="1322"/>
                  <a:pt x="7560" y="1572"/>
                  <a:pt x="7775" y="1726"/>
                </a:cubicBezTo>
                <a:lnTo>
                  <a:pt x="7775" y="1977"/>
                </a:lnTo>
                <a:cubicBezTo>
                  <a:pt x="7775" y="1977"/>
                  <a:pt x="7775" y="1988"/>
                  <a:pt x="7763" y="1988"/>
                </a:cubicBezTo>
                <a:lnTo>
                  <a:pt x="7346" y="2203"/>
                </a:lnTo>
                <a:cubicBezTo>
                  <a:pt x="7168" y="2286"/>
                  <a:pt x="7060" y="2465"/>
                  <a:pt x="7060" y="2655"/>
                </a:cubicBezTo>
                <a:lnTo>
                  <a:pt x="7060" y="2989"/>
                </a:lnTo>
                <a:lnTo>
                  <a:pt x="6679" y="2989"/>
                </a:lnTo>
                <a:lnTo>
                  <a:pt x="6679" y="2655"/>
                </a:lnTo>
                <a:cubicBezTo>
                  <a:pt x="6679" y="2465"/>
                  <a:pt x="6572" y="2286"/>
                  <a:pt x="6394" y="2203"/>
                </a:cubicBezTo>
                <a:lnTo>
                  <a:pt x="5977" y="1988"/>
                </a:lnTo>
                <a:lnTo>
                  <a:pt x="5965" y="1977"/>
                </a:lnTo>
                <a:lnTo>
                  <a:pt x="5965" y="1726"/>
                </a:lnTo>
                <a:cubicBezTo>
                  <a:pt x="6167" y="1560"/>
                  <a:pt x="6322" y="1322"/>
                  <a:pt x="6322" y="1036"/>
                </a:cubicBezTo>
                <a:lnTo>
                  <a:pt x="6322" y="679"/>
                </a:lnTo>
                <a:cubicBezTo>
                  <a:pt x="6322" y="310"/>
                  <a:pt x="6013" y="0"/>
                  <a:pt x="5632" y="0"/>
                </a:cubicBezTo>
                <a:lnTo>
                  <a:pt x="5274" y="0"/>
                </a:lnTo>
                <a:cubicBezTo>
                  <a:pt x="4905" y="0"/>
                  <a:pt x="4596" y="310"/>
                  <a:pt x="4596" y="679"/>
                </a:cubicBezTo>
                <a:lnTo>
                  <a:pt x="4596" y="1036"/>
                </a:lnTo>
                <a:cubicBezTo>
                  <a:pt x="4596" y="1322"/>
                  <a:pt x="4727" y="1572"/>
                  <a:pt x="4953" y="1726"/>
                </a:cubicBezTo>
                <a:lnTo>
                  <a:pt x="4953" y="1977"/>
                </a:lnTo>
                <a:cubicBezTo>
                  <a:pt x="4953" y="1977"/>
                  <a:pt x="4953" y="1988"/>
                  <a:pt x="4941" y="1988"/>
                </a:cubicBezTo>
                <a:lnTo>
                  <a:pt x="4524" y="2203"/>
                </a:lnTo>
                <a:cubicBezTo>
                  <a:pt x="4346" y="2286"/>
                  <a:pt x="4239" y="2465"/>
                  <a:pt x="4239" y="2655"/>
                </a:cubicBezTo>
                <a:lnTo>
                  <a:pt x="4239" y="2989"/>
                </a:lnTo>
                <a:lnTo>
                  <a:pt x="3846" y="2989"/>
                </a:lnTo>
                <a:lnTo>
                  <a:pt x="3846" y="2655"/>
                </a:lnTo>
                <a:cubicBezTo>
                  <a:pt x="3846" y="2465"/>
                  <a:pt x="3750" y="2286"/>
                  <a:pt x="3572" y="2203"/>
                </a:cubicBezTo>
                <a:lnTo>
                  <a:pt x="3155" y="1988"/>
                </a:lnTo>
                <a:lnTo>
                  <a:pt x="3131" y="1977"/>
                </a:lnTo>
                <a:lnTo>
                  <a:pt x="3131" y="1726"/>
                </a:lnTo>
                <a:cubicBezTo>
                  <a:pt x="3346" y="1560"/>
                  <a:pt x="3489" y="1322"/>
                  <a:pt x="3489" y="1036"/>
                </a:cubicBezTo>
                <a:lnTo>
                  <a:pt x="3489" y="679"/>
                </a:lnTo>
                <a:cubicBezTo>
                  <a:pt x="3489" y="310"/>
                  <a:pt x="3179" y="0"/>
                  <a:pt x="2810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Picture 248">
            <a:extLst>
              <a:ext uri="{FF2B5EF4-FFF2-40B4-BE49-F238E27FC236}">
                <a16:creationId xmlns:a16="http://schemas.microsoft.com/office/drawing/2014/main" id="{23E2F14E-1A96-4407-B3A5-EDEC4E6EB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50" y="2705157"/>
            <a:ext cx="457200" cy="457200"/>
          </a:xfrm>
          <a:prstGeom prst="rect">
            <a:avLst/>
          </a:prstGeom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051AB73D-06E1-17B4-1E1B-A4106B49C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20" y="3593306"/>
            <a:ext cx="45720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5159A5-C8AD-D4AB-200C-233389610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694" y="1901282"/>
            <a:ext cx="290595" cy="290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092DCE-C625-CEA8-7C2D-9E1AC90390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1418" y="2433021"/>
            <a:ext cx="293565" cy="2935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1DD001-875C-DF65-BDBD-67C6B7F10D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255" y="1964765"/>
            <a:ext cx="526745" cy="5267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F49D5A-435B-630E-5B37-24EBE6D796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0159" y="3315648"/>
            <a:ext cx="460939" cy="4609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44"/>
          <p:cNvSpPr txBox="1">
            <a:spLocks noGrp="1"/>
          </p:cNvSpPr>
          <p:nvPr>
            <p:ph type="title"/>
          </p:nvPr>
        </p:nvSpPr>
        <p:spPr>
          <a:xfrm>
            <a:off x="787619" y="-114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Decomposition of Time Series</a:t>
            </a:r>
            <a:endParaRPr dirty="0"/>
          </a:p>
        </p:txBody>
      </p:sp>
      <p:sp>
        <p:nvSpPr>
          <p:cNvPr id="1335" name="Google Shape;1335;p44"/>
          <p:cNvSpPr txBox="1"/>
          <p:nvPr/>
        </p:nvSpPr>
        <p:spPr>
          <a:xfrm>
            <a:off x="7221875" y="2865383"/>
            <a:ext cx="825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rPr>
              <a:t>10%</a:t>
            </a:r>
            <a:endParaRPr sz="2400" dirty="0">
              <a:solidFill>
                <a:schemeClr val="accent2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337" name="Google Shape;1337;p44"/>
          <p:cNvSpPr txBox="1"/>
          <p:nvPr/>
        </p:nvSpPr>
        <p:spPr>
          <a:xfrm>
            <a:off x="6856782" y="4561383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RANDOM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339" name="Google Shape;1339;p44"/>
          <p:cNvSpPr txBox="1"/>
          <p:nvPr/>
        </p:nvSpPr>
        <p:spPr>
          <a:xfrm>
            <a:off x="4159194" y="2865487"/>
            <a:ext cx="825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rPr>
              <a:t>20%</a:t>
            </a:r>
            <a:endParaRPr sz="2400" dirty="0">
              <a:solidFill>
                <a:schemeClr val="accent2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341" name="Google Shape;1341;p44"/>
          <p:cNvSpPr txBox="1"/>
          <p:nvPr/>
        </p:nvSpPr>
        <p:spPr>
          <a:xfrm>
            <a:off x="3477450" y="4539736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SEASONAL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343" name="Google Shape;1343;p44"/>
          <p:cNvSpPr txBox="1"/>
          <p:nvPr/>
        </p:nvSpPr>
        <p:spPr>
          <a:xfrm>
            <a:off x="1096519" y="2865384"/>
            <a:ext cx="825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rPr>
              <a:t>70%</a:t>
            </a:r>
            <a:endParaRPr sz="2400" dirty="0">
              <a:solidFill>
                <a:schemeClr val="accent2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345" name="Google Shape;1345;p44"/>
          <p:cNvSpPr txBox="1"/>
          <p:nvPr/>
        </p:nvSpPr>
        <p:spPr>
          <a:xfrm>
            <a:off x="366030" y="4539736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TREND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347" name="Google Shape;1347;p44"/>
          <p:cNvSpPr txBox="1"/>
          <p:nvPr/>
        </p:nvSpPr>
        <p:spPr>
          <a:xfrm>
            <a:off x="3626244" y="1931252"/>
            <a:ext cx="1891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OBSERVATIONS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cxnSp>
        <p:nvCxnSpPr>
          <p:cNvPr id="1352" name="Google Shape;1352;p44"/>
          <p:cNvCxnSpPr>
            <a:stCxn id="1347" idx="2"/>
            <a:endCxn id="1343" idx="0"/>
          </p:cNvCxnSpPr>
          <p:nvPr/>
        </p:nvCxnSpPr>
        <p:spPr>
          <a:xfrm rot="5400000">
            <a:off x="2802191" y="1095581"/>
            <a:ext cx="476932" cy="306267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D6E1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1353" name="Google Shape;1353;p44"/>
          <p:cNvCxnSpPr>
            <a:stCxn id="1347" idx="2"/>
            <a:endCxn id="1335" idx="0"/>
          </p:cNvCxnSpPr>
          <p:nvPr/>
        </p:nvCxnSpPr>
        <p:spPr>
          <a:xfrm rot="16200000" flipH="1">
            <a:off x="5864869" y="1095576"/>
            <a:ext cx="476931" cy="306268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D6E1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1354" name="Google Shape;1354;p44"/>
          <p:cNvCxnSpPr>
            <a:stCxn id="1347" idx="2"/>
            <a:endCxn id="1339" idx="0"/>
          </p:cNvCxnSpPr>
          <p:nvPr/>
        </p:nvCxnSpPr>
        <p:spPr>
          <a:xfrm>
            <a:off x="4571994" y="2388452"/>
            <a:ext cx="0" cy="477035"/>
          </a:xfrm>
          <a:prstGeom prst="straightConnector1">
            <a:avLst/>
          </a:prstGeom>
          <a:noFill/>
          <a:ln w="19050" cap="flat" cmpd="sng">
            <a:solidFill>
              <a:srgbClr val="FFD6E1"/>
            </a:solidFill>
            <a:prstDash val="dash"/>
            <a:round/>
            <a:headEnd type="oval" w="med" len="med"/>
            <a:tailEnd type="oval" w="med" len="med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C81E4CB-C432-5369-29C7-CC3E97630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660" y="561201"/>
            <a:ext cx="5022668" cy="1401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F0B235-B64C-0309-DC27-8C7B8936A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64" y="3276984"/>
            <a:ext cx="2646673" cy="13112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6F3F9C-D229-6BD5-7D1C-19B5360D4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909" y="3286733"/>
            <a:ext cx="2555627" cy="13203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19E002-99E8-1D76-8614-E0131613BC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7147" y="3283720"/>
            <a:ext cx="2734056" cy="13181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A8BDB74-3AFE-F9AD-5F91-3DE4278B87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9376" y="3852377"/>
            <a:ext cx="180836" cy="1808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608EF58-3683-4314-0A3A-F91413D9F6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8138" y="3852377"/>
            <a:ext cx="180836" cy="1808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2860948" y="0"/>
            <a:ext cx="7704000" cy="355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Test and Train Split</a:t>
            </a:r>
            <a:endParaRPr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BF302C-A615-3335-E4F9-1926BB4C0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50" y="493123"/>
            <a:ext cx="8837023" cy="2191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F151DD-98FD-E9F3-5920-78A3F2A4C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50" y="2733645"/>
            <a:ext cx="8833104" cy="231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7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F804C89-4C77-FBCF-3B08-63ED84BBB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15" y="633663"/>
            <a:ext cx="4360755" cy="4403558"/>
          </a:xfrm>
          <a:prstGeom prst="rect">
            <a:avLst/>
          </a:prstGeom>
        </p:spPr>
      </p:pic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0" y="200875"/>
            <a:ext cx="94676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Forecasting with Default Settings</a:t>
            </a:r>
            <a:endParaRPr sz="2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22833-4056-10D7-FAB4-5D1A5E600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526" y="829766"/>
            <a:ext cx="1023078" cy="792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497581-960C-CB12-4714-E12357272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077" y="1812814"/>
            <a:ext cx="2632165" cy="18802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D40B77A-9FCE-7458-202A-804672E957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1782" y="1892746"/>
            <a:ext cx="338161" cy="338161"/>
          </a:xfrm>
          <a:prstGeom prst="rect">
            <a:avLst/>
          </a:prstGeom>
        </p:spPr>
      </p:pic>
      <p:sp>
        <p:nvSpPr>
          <p:cNvPr id="3" name="Left Brace 2">
            <a:extLst>
              <a:ext uri="{FF2B5EF4-FFF2-40B4-BE49-F238E27FC236}">
                <a16:creationId xmlns:a16="http://schemas.microsoft.com/office/drawing/2014/main" id="{A0454A1C-47A0-0CA3-F07B-8E17E8F78EF9}"/>
              </a:ext>
            </a:extLst>
          </p:cNvPr>
          <p:cNvSpPr/>
          <p:nvPr/>
        </p:nvSpPr>
        <p:spPr>
          <a:xfrm flipH="1">
            <a:off x="3869391" y="853593"/>
            <a:ext cx="276691" cy="675278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52C90-11BA-04EF-E893-1727629422F3}"/>
              </a:ext>
            </a:extLst>
          </p:cNvPr>
          <p:cNvSpPr txBox="1"/>
          <p:nvPr/>
        </p:nvSpPr>
        <p:spPr>
          <a:xfrm>
            <a:off x="4496340" y="1052474"/>
            <a:ext cx="1606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Modelling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F31BF828-1EC0-E0AA-709D-85EA8CDAB19A}"/>
              </a:ext>
            </a:extLst>
          </p:cNvPr>
          <p:cNvSpPr/>
          <p:nvPr/>
        </p:nvSpPr>
        <p:spPr>
          <a:xfrm flipH="1">
            <a:off x="3942640" y="2341184"/>
            <a:ext cx="306585" cy="2524422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ED1C9C-F127-422D-1AE4-516B98260B1F}"/>
              </a:ext>
            </a:extLst>
          </p:cNvPr>
          <p:cNvSpPr txBox="1"/>
          <p:nvPr/>
        </p:nvSpPr>
        <p:spPr>
          <a:xfrm>
            <a:off x="4481070" y="3467358"/>
            <a:ext cx="1606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Visualization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C87BBC4-91F5-664A-A5D9-FCD8235919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8960" y="3918235"/>
            <a:ext cx="843806" cy="9738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11FA82-00A4-61E7-633D-62609F2BA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3279" y="3434314"/>
            <a:ext cx="338161" cy="3381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5A0170-FCEA-F760-EAF0-2526389EED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2159" y="732172"/>
            <a:ext cx="491098" cy="5662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0DE600-4258-590B-E3D6-BA21F7844B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7252" y="747303"/>
            <a:ext cx="491099" cy="5686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884661-76E1-9B0F-3F7C-BB154B0EDE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5713" y="1141815"/>
            <a:ext cx="491651" cy="5669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EB4E277-37EC-6F49-125A-847C3A1C0F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6811" y="1134293"/>
            <a:ext cx="489620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71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2789102" y="0"/>
            <a:ext cx="7704000" cy="355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Forecast with Default Settings</a:t>
            </a:r>
            <a:endParaRPr sz="2000" dirty="0"/>
          </a:p>
        </p:txBody>
      </p:sp>
      <p:sp>
        <p:nvSpPr>
          <p:cNvPr id="2" name="Google Shape;207;p16">
            <a:extLst>
              <a:ext uri="{FF2B5EF4-FFF2-40B4-BE49-F238E27FC236}">
                <a16:creationId xmlns:a16="http://schemas.microsoft.com/office/drawing/2014/main" id="{FA6EB4FD-0934-4AAB-FD0E-11E1F511956A}"/>
              </a:ext>
            </a:extLst>
          </p:cNvPr>
          <p:cNvSpPr txBox="1">
            <a:spLocks/>
          </p:cNvSpPr>
          <p:nvPr/>
        </p:nvSpPr>
        <p:spPr>
          <a:xfrm>
            <a:off x="132400" y="389131"/>
            <a:ext cx="7704000" cy="26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100" dirty="0"/>
              <a:t>Overall Forecast Error of 8% 50 days ahead Error of 4%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71834D-FA05-FB5A-DED0-42BF021CB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00" y="650790"/>
            <a:ext cx="8879200" cy="20040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6FA763-7095-A315-37AB-4549A1939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00" y="2916510"/>
            <a:ext cx="8879200" cy="2059350"/>
          </a:xfrm>
          <a:prstGeom prst="rect">
            <a:avLst/>
          </a:prstGeom>
        </p:spPr>
      </p:pic>
      <p:sp>
        <p:nvSpPr>
          <p:cNvPr id="8" name="Google Shape;207;p16">
            <a:extLst>
              <a:ext uri="{FF2B5EF4-FFF2-40B4-BE49-F238E27FC236}">
                <a16:creationId xmlns:a16="http://schemas.microsoft.com/office/drawing/2014/main" id="{F64B872E-3D50-2261-A8F8-7258F8C3DF2B}"/>
              </a:ext>
            </a:extLst>
          </p:cNvPr>
          <p:cNvSpPr txBox="1">
            <a:spLocks/>
          </p:cNvSpPr>
          <p:nvPr/>
        </p:nvSpPr>
        <p:spPr>
          <a:xfrm>
            <a:off x="0" y="2654850"/>
            <a:ext cx="7704000" cy="26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000" dirty="0"/>
              <a:t>   </a:t>
            </a:r>
            <a:r>
              <a:rPr lang="en-US" sz="1100" dirty="0"/>
              <a:t>Overall Forecast Error of 10% 50 days ahead Error of 7%</a:t>
            </a:r>
          </a:p>
        </p:txBody>
      </p:sp>
    </p:spTree>
    <p:extLst>
      <p:ext uri="{BB962C8B-B14F-4D97-AF65-F5344CB8AC3E}">
        <p14:creationId xmlns:p14="http://schemas.microsoft.com/office/powerpoint/2010/main" val="2010711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2743381" y="91848"/>
            <a:ext cx="7704000" cy="355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/>
              <a:t>Forecast Horizon Vs Forecast Accuracy</a:t>
            </a:r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520A97-BA52-F3B5-D065-51C701681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30" y="658906"/>
            <a:ext cx="8863148" cy="429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51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2762976" y="71846"/>
            <a:ext cx="7704000" cy="355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Importance</a:t>
            </a:r>
            <a:r>
              <a:rPr lang="ro-MD" sz="2000" dirty="0"/>
              <a:t> of EDA in Modelling</a:t>
            </a:r>
            <a:endParaRPr sz="2000" dirty="0"/>
          </a:p>
        </p:txBody>
      </p:sp>
      <p:sp>
        <p:nvSpPr>
          <p:cNvPr id="8" name="Google Shape;228;p16">
            <a:extLst>
              <a:ext uri="{FF2B5EF4-FFF2-40B4-BE49-F238E27FC236}">
                <a16:creationId xmlns:a16="http://schemas.microsoft.com/office/drawing/2014/main" id="{9489242F-599A-4C12-52AD-49DC889C77F3}"/>
              </a:ext>
            </a:extLst>
          </p:cNvPr>
          <p:cNvSpPr txBox="1"/>
          <p:nvPr/>
        </p:nvSpPr>
        <p:spPr>
          <a:xfrm>
            <a:off x="246965" y="527039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REMOVE OUTLIERS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7A9FA3-0ED7-B589-E479-DE80DA9FA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055" y="529046"/>
            <a:ext cx="374810" cy="374810"/>
          </a:xfrm>
          <a:prstGeom prst="rect">
            <a:avLst/>
          </a:prstGeom>
        </p:spPr>
      </p:pic>
      <p:sp>
        <p:nvSpPr>
          <p:cNvPr id="15" name="Google Shape;228;p16">
            <a:extLst>
              <a:ext uri="{FF2B5EF4-FFF2-40B4-BE49-F238E27FC236}">
                <a16:creationId xmlns:a16="http://schemas.microsoft.com/office/drawing/2014/main" id="{BEF29CC3-C7D5-51FA-74CB-7DF633486128}"/>
              </a:ext>
            </a:extLst>
          </p:cNvPr>
          <p:cNvSpPr txBox="1"/>
          <p:nvPr/>
        </p:nvSpPr>
        <p:spPr>
          <a:xfrm>
            <a:off x="3161205" y="527039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PARAMETERS TUNING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ED55DC-9BEC-E543-0777-E8FC7B620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505" y="630277"/>
            <a:ext cx="317291" cy="317291"/>
          </a:xfrm>
          <a:prstGeom prst="rect">
            <a:avLst/>
          </a:prstGeom>
        </p:spPr>
      </p:pic>
      <p:sp>
        <p:nvSpPr>
          <p:cNvPr id="20" name="Google Shape;228;p16">
            <a:extLst>
              <a:ext uri="{FF2B5EF4-FFF2-40B4-BE49-F238E27FC236}">
                <a16:creationId xmlns:a16="http://schemas.microsoft.com/office/drawing/2014/main" id="{AB604B4D-40D3-A84B-BFE9-DABAB4BCF992}"/>
              </a:ext>
            </a:extLst>
          </p:cNvPr>
          <p:cNvSpPr txBox="1"/>
          <p:nvPr/>
        </p:nvSpPr>
        <p:spPr>
          <a:xfrm>
            <a:off x="6221655" y="529046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PREDICTION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E44009C-8CFA-CCF5-F860-445245638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273" y="552229"/>
            <a:ext cx="328444" cy="3284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FA282D-44D3-85E7-CEC7-87016CE4CE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9" y="984240"/>
            <a:ext cx="2894011" cy="40068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2503AE-A393-166C-7C7D-D56BE49E7F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2755" y="984238"/>
            <a:ext cx="3091828" cy="40068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2FF9EF-76E8-DD2D-7573-9008500AE1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057" y="984238"/>
            <a:ext cx="2722534" cy="400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3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2710724" y="0"/>
            <a:ext cx="7704000" cy="355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Accuracy Improvement after Preprocessing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F6D98-E45F-4962-7486-F122EF4F8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76" y="660525"/>
            <a:ext cx="8878824" cy="1968375"/>
          </a:xfrm>
          <a:prstGeom prst="rect">
            <a:avLst/>
          </a:prstGeom>
        </p:spPr>
      </p:pic>
      <p:sp>
        <p:nvSpPr>
          <p:cNvPr id="5" name="Google Shape;207;p16">
            <a:extLst>
              <a:ext uri="{FF2B5EF4-FFF2-40B4-BE49-F238E27FC236}">
                <a16:creationId xmlns:a16="http://schemas.microsoft.com/office/drawing/2014/main" id="{4F416929-332C-21D9-DECB-96895B23B37C}"/>
              </a:ext>
            </a:extLst>
          </p:cNvPr>
          <p:cNvSpPr txBox="1">
            <a:spLocks/>
          </p:cNvSpPr>
          <p:nvPr/>
        </p:nvSpPr>
        <p:spPr>
          <a:xfrm>
            <a:off x="56200" y="373380"/>
            <a:ext cx="7704000" cy="35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000" dirty="0"/>
              <a:t>Overall Forecast Error of 6% 50 days ahead Error of 2%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FC0FA2-F013-CD74-F0F8-4718D8567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00" y="2833433"/>
            <a:ext cx="9011600" cy="2187448"/>
          </a:xfrm>
          <a:prstGeom prst="rect">
            <a:avLst/>
          </a:prstGeom>
        </p:spPr>
      </p:pic>
      <p:sp>
        <p:nvSpPr>
          <p:cNvPr id="9" name="Google Shape;207;p16">
            <a:extLst>
              <a:ext uri="{FF2B5EF4-FFF2-40B4-BE49-F238E27FC236}">
                <a16:creationId xmlns:a16="http://schemas.microsoft.com/office/drawing/2014/main" id="{46C003E0-9890-C91B-8315-D3313D722D84}"/>
              </a:ext>
            </a:extLst>
          </p:cNvPr>
          <p:cNvSpPr txBox="1">
            <a:spLocks/>
          </p:cNvSpPr>
          <p:nvPr/>
        </p:nvSpPr>
        <p:spPr>
          <a:xfrm>
            <a:off x="56200" y="2569752"/>
            <a:ext cx="7704000" cy="35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000" dirty="0"/>
              <a:t>Overall Forecast Error of 8% 50 days ahead Error of 5%</a:t>
            </a:r>
          </a:p>
        </p:txBody>
      </p:sp>
    </p:spTree>
    <p:extLst>
      <p:ext uri="{BB962C8B-B14F-4D97-AF65-F5344CB8AC3E}">
        <p14:creationId xmlns:p14="http://schemas.microsoft.com/office/powerpoint/2010/main" val="2813154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PROCESSING PIPELINE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8" name="Google Shape;868;p32"/>
          <p:cNvSpPr/>
          <p:nvPr/>
        </p:nvSpPr>
        <p:spPr>
          <a:xfrm>
            <a:off x="1361238" y="1317050"/>
            <a:ext cx="10470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32"/>
          <p:cNvSpPr/>
          <p:nvPr/>
        </p:nvSpPr>
        <p:spPr>
          <a:xfrm>
            <a:off x="2879953" y="2310032"/>
            <a:ext cx="10470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32"/>
          <p:cNvSpPr/>
          <p:nvPr/>
        </p:nvSpPr>
        <p:spPr>
          <a:xfrm>
            <a:off x="3377993" y="2314943"/>
            <a:ext cx="549000" cy="712341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32"/>
          <p:cNvSpPr/>
          <p:nvPr/>
        </p:nvSpPr>
        <p:spPr>
          <a:xfrm>
            <a:off x="1960605" y="1317050"/>
            <a:ext cx="447672" cy="10470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32"/>
          <p:cNvSpPr/>
          <p:nvPr/>
        </p:nvSpPr>
        <p:spPr>
          <a:xfrm>
            <a:off x="1361238" y="3303015"/>
            <a:ext cx="10470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32"/>
          <p:cNvSpPr/>
          <p:nvPr/>
        </p:nvSpPr>
        <p:spPr>
          <a:xfrm>
            <a:off x="1859238" y="3954162"/>
            <a:ext cx="549000" cy="395853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4" name="Google Shape;874;p32"/>
          <p:cNvGrpSpPr/>
          <p:nvPr/>
        </p:nvGrpSpPr>
        <p:grpSpPr>
          <a:xfrm>
            <a:off x="4973838" y="1577103"/>
            <a:ext cx="2907754" cy="786947"/>
            <a:chOff x="713225" y="2100075"/>
            <a:chExt cx="2907754" cy="786947"/>
          </a:xfrm>
        </p:grpSpPr>
        <p:sp>
          <p:nvSpPr>
            <p:cNvPr id="875" name="Google Shape;875;p32"/>
            <p:cNvSpPr txBox="1"/>
            <p:nvPr/>
          </p:nvSpPr>
          <p:spPr>
            <a:xfrm>
              <a:off x="713225" y="2100075"/>
              <a:ext cx="7686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60%</a:t>
              </a:r>
              <a:endParaRPr sz="24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grpSp>
          <p:nvGrpSpPr>
            <p:cNvPr id="876" name="Google Shape;876;p32"/>
            <p:cNvGrpSpPr/>
            <p:nvPr/>
          </p:nvGrpSpPr>
          <p:grpSpPr>
            <a:xfrm>
              <a:off x="1481813" y="2273379"/>
              <a:ext cx="2139166" cy="613643"/>
              <a:chOff x="713188" y="2576754"/>
              <a:chExt cx="2139166" cy="613643"/>
            </a:xfrm>
          </p:grpSpPr>
          <p:sp>
            <p:nvSpPr>
              <p:cNvPr id="877" name="Google Shape;877;p32"/>
              <p:cNvSpPr txBox="1"/>
              <p:nvPr/>
            </p:nvSpPr>
            <p:spPr>
              <a:xfrm>
                <a:off x="812054" y="2576754"/>
                <a:ext cx="20403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dk1"/>
                    </a:solidFill>
                    <a:latin typeface="Share Tech"/>
                    <a:ea typeface="Share Tech"/>
                    <a:cs typeface="Share Tech"/>
                    <a:sym typeface="Share Tech"/>
                  </a:rPr>
                  <a:t>DATA CLEANING &amp; TUNING</a:t>
                </a:r>
                <a:endParaRPr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878" name="Google Shape;878;p32"/>
              <p:cNvSpPr txBox="1"/>
              <p:nvPr/>
            </p:nvSpPr>
            <p:spPr>
              <a:xfrm>
                <a:off x="713188" y="2705897"/>
                <a:ext cx="20403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</p:grpSp>
      <p:grpSp>
        <p:nvGrpSpPr>
          <p:cNvPr id="879" name="Google Shape;879;p32"/>
          <p:cNvGrpSpPr/>
          <p:nvPr/>
        </p:nvGrpSpPr>
        <p:grpSpPr>
          <a:xfrm>
            <a:off x="4973838" y="2570085"/>
            <a:ext cx="2808900" cy="457200"/>
            <a:chOff x="713225" y="2967900"/>
            <a:chExt cx="2808900" cy="457200"/>
          </a:xfrm>
        </p:grpSpPr>
        <p:sp>
          <p:nvSpPr>
            <p:cNvPr id="880" name="Google Shape;880;p32"/>
            <p:cNvSpPr txBox="1"/>
            <p:nvPr/>
          </p:nvSpPr>
          <p:spPr>
            <a:xfrm>
              <a:off x="713225" y="2967900"/>
              <a:ext cx="7686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25%</a:t>
              </a:r>
              <a:endParaRPr sz="24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82" name="Google Shape;882;p32"/>
            <p:cNvSpPr txBox="1"/>
            <p:nvPr/>
          </p:nvSpPr>
          <p:spPr>
            <a:xfrm>
              <a:off x="1481825" y="2967900"/>
              <a:ext cx="204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VISUALISATION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884" name="Google Shape;884;p32"/>
          <p:cNvGrpSpPr/>
          <p:nvPr/>
        </p:nvGrpSpPr>
        <p:grpSpPr>
          <a:xfrm>
            <a:off x="4973838" y="3563066"/>
            <a:ext cx="2808900" cy="457200"/>
            <a:chOff x="713225" y="3821625"/>
            <a:chExt cx="2808900" cy="457200"/>
          </a:xfrm>
        </p:grpSpPr>
        <p:sp>
          <p:nvSpPr>
            <p:cNvPr id="885" name="Google Shape;885;p32"/>
            <p:cNvSpPr txBox="1"/>
            <p:nvPr/>
          </p:nvSpPr>
          <p:spPr>
            <a:xfrm>
              <a:off x="713225" y="3821625"/>
              <a:ext cx="7686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15%</a:t>
              </a:r>
              <a:endParaRPr sz="24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87" name="Google Shape;887;p32"/>
            <p:cNvSpPr txBox="1"/>
            <p:nvPr/>
          </p:nvSpPr>
          <p:spPr>
            <a:xfrm>
              <a:off x="1481825" y="3821625"/>
              <a:ext cx="204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MODELLING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cxnSp>
        <p:nvCxnSpPr>
          <p:cNvPr id="889" name="Google Shape;889;p32"/>
          <p:cNvCxnSpPr>
            <a:cxnSpLocks/>
            <a:stCxn id="871" idx="3"/>
            <a:endCxn id="875" idx="1"/>
          </p:cNvCxnSpPr>
          <p:nvPr/>
        </p:nvCxnSpPr>
        <p:spPr>
          <a:xfrm flipV="1">
            <a:off x="2408277" y="1805703"/>
            <a:ext cx="2565561" cy="34847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oval" w="med" len="med"/>
            <a:tailEnd type="none" w="med" len="med"/>
          </a:ln>
        </p:spPr>
      </p:cxnSp>
      <p:cxnSp>
        <p:nvCxnSpPr>
          <p:cNvPr id="890" name="Google Shape;890;p32"/>
          <p:cNvCxnSpPr>
            <a:cxnSpLocks/>
            <a:stCxn id="870" idx="3"/>
            <a:endCxn id="880" idx="1"/>
          </p:cNvCxnSpPr>
          <p:nvPr/>
        </p:nvCxnSpPr>
        <p:spPr>
          <a:xfrm>
            <a:off x="3926993" y="2671114"/>
            <a:ext cx="1046845" cy="12757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oval" w="med" len="med"/>
            <a:tailEnd type="none" w="med" len="med"/>
          </a:ln>
        </p:spPr>
      </p:cxnSp>
      <p:cxnSp>
        <p:nvCxnSpPr>
          <p:cNvPr id="891" name="Google Shape;891;p32"/>
          <p:cNvCxnSpPr>
            <a:cxnSpLocks/>
            <a:stCxn id="873" idx="3"/>
            <a:endCxn id="885" idx="1"/>
          </p:cNvCxnSpPr>
          <p:nvPr/>
        </p:nvCxnSpPr>
        <p:spPr>
          <a:xfrm flipV="1">
            <a:off x="2408238" y="3791666"/>
            <a:ext cx="2565600" cy="36042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oval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7"/>
          <p:cNvSpPr txBox="1">
            <a:spLocks noGrp="1"/>
          </p:cNvSpPr>
          <p:nvPr>
            <p:ph type="title"/>
          </p:nvPr>
        </p:nvSpPr>
        <p:spPr>
          <a:xfrm>
            <a:off x="1958219" y="17493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dirty="0"/>
              <a:t>VISUALISATION OF IVR JOURNEY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1" name="Google Shape;661;p27"/>
          <p:cNvSpPr/>
          <p:nvPr/>
        </p:nvSpPr>
        <p:spPr>
          <a:xfrm>
            <a:off x="173290" y="1267140"/>
            <a:ext cx="833100" cy="83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7"/>
          <p:cNvSpPr/>
          <p:nvPr/>
        </p:nvSpPr>
        <p:spPr>
          <a:xfrm>
            <a:off x="2255083" y="1586456"/>
            <a:ext cx="930412" cy="78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7"/>
          <p:cNvSpPr/>
          <p:nvPr/>
        </p:nvSpPr>
        <p:spPr>
          <a:xfrm>
            <a:off x="1011605" y="2824928"/>
            <a:ext cx="833100" cy="833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7"/>
          <p:cNvSpPr txBox="1"/>
          <p:nvPr/>
        </p:nvSpPr>
        <p:spPr>
          <a:xfrm>
            <a:off x="-430311" y="691490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CALL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668" name="Google Shape;668;p27"/>
          <p:cNvSpPr txBox="1"/>
          <p:nvPr/>
        </p:nvSpPr>
        <p:spPr>
          <a:xfrm>
            <a:off x="1700139" y="911532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IVR JOURNEY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671" name="Google Shape;671;p27"/>
          <p:cNvSpPr txBox="1"/>
          <p:nvPr/>
        </p:nvSpPr>
        <p:spPr>
          <a:xfrm>
            <a:off x="408005" y="3594222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DROP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cxnSp>
        <p:nvCxnSpPr>
          <p:cNvPr id="673" name="Google Shape;673;p27"/>
          <p:cNvCxnSpPr>
            <a:cxnSpLocks/>
            <a:stCxn id="661" idx="3"/>
            <a:endCxn id="662" idx="1"/>
          </p:cNvCxnSpPr>
          <p:nvPr/>
        </p:nvCxnSpPr>
        <p:spPr>
          <a:xfrm>
            <a:off x="1006390" y="1683690"/>
            <a:ext cx="1248693" cy="29526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74" name="Google Shape;674;p27"/>
          <p:cNvCxnSpPr>
            <a:cxnSpLocks/>
            <a:stCxn id="662" idx="2"/>
            <a:endCxn id="663" idx="0"/>
          </p:cNvCxnSpPr>
          <p:nvPr/>
        </p:nvCxnSpPr>
        <p:spPr>
          <a:xfrm rot="5400000">
            <a:off x="1847486" y="1952125"/>
            <a:ext cx="453472" cy="129213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75" name="Google Shape;675;p27"/>
          <p:cNvCxnSpPr>
            <a:cxnSpLocks/>
            <a:stCxn id="661" idx="0"/>
          </p:cNvCxnSpPr>
          <p:nvPr/>
        </p:nvCxnSpPr>
        <p:spPr>
          <a:xfrm flipV="1">
            <a:off x="589840" y="1063555"/>
            <a:ext cx="0" cy="20358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76" name="Google Shape;676;p27"/>
          <p:cNvCxnSpPr>
            <a:cxnSpLocks/>
            <a:stCxn id="662" idx="0"/>
            <a:endCxn id="668" idx="2"/>
          </p:cNvCxnSpPr>
          <p:nvPr/>
        </p:nvCxnSpPr>
        <p:spPr>
          <a:xfrm flipV="1">
            <a:off x="2720289" y="1368732"/>
            <a:ext cx="0" cy="217724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15" name="Google Shape;663;p27">
            <a:extLst>
              <a:ext uri="{FF2B5EF4-FFF2-40B4-BE49-F238E27FC236}">
                <a16:creationId xmlns:a16="http://schemas.microsoft.com/office/drawing/2014/main" id="{B80EEC0D-A7BD-D87A-DC47-0E4C2C887BDF}"/>
              </a:ext>
            </a:extLst>
          </p:cNvPr>
          <p:cNvSpPr/>
          <p:nvPr/>
        </p:nvSpPr>
        <p:spPr>
          <a:xfrm>
            <a:off x="2472176" y="2831975"/>
            <a:ext cx="833100" cy="833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6" name="Google Shape;674;p27">
            <a:extLst>
              <a:ext uri="{FF2B5EF4-FFF2-40B4-BE49-F238E27FC236}">
                <a16:creationId xmlns:a16="http://schemas.microsoft.com/office/drawing/2014/main" id="{B3A9B6C6-7BD0-AD0E-A7B7-2186B15BC24E}"/>
              </a:ext>
            </a:extLst>
          </p:cNvPr>
          <p:cNvCxnSpPr>
            <a:cxnSpLocks/>
            <a:stCxn id="662" idx="2"/>
            <a:endCxn id="715" idx="0"/>
          </p:cNvCxnSpPr>
          <p:nvPr/>
        </p:nvCxnSpPr>
        <p:spPr>
          <a:xfrm rot="16200000" flipH="1">
            <a:off x="2574248" y="2517496"/>
            <a:ext cx="460519" cy="168437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761" name="Picture 760">
            <a:extLst>
              <a:ext uri="{FF2B5EF4-FFF2-40B4-BE49-F238E27FC236}">
                <a16:creationId xmlns:a16="http://schemas.microsoft.com/office/drawing/2014/main" id="{2F34DD4B-8234-D28D-B2C2-8D2CD3A11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604" y="1676135"/>
            <a:ext cx="1065990" cy="623230"/>
          </a:xfrm>
          <a:prstGeom prst="rect">
            <a:avLst/>
          </a:prstGeom>
        </p:spPr>
      </p:pic>
      <p:pic>
        <p:nvPicPr>
          <p:cNvPr id="763" name="Picture 762">
            <a:extLst>
              <a:ext uri="{FF2B5EF4-FFF2-40B4-BE49-F238E27FC236}">
                <a16:creationId xmlns:a16="http://schemas.microsoft.com/office/drawing/2014/main" id="{8674B782-A198-011A-A3A2-640194167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38" y="1375788"/>
            <a:ext cx="615803" cy="615803"/>
          </a:xfrm>
          <a:prstGeom prst="rect">
            <a:avLst/>
          </a:prstGeom>
        </p:spPr>
      </p:pic>
      <p:pic>
        <p:nvPicPr>
          <p:cNvPr id="765" name="Picture 764">
            <a:extLst>
              <a:ext uri="{FF2B5EF4-FFF2-40B4-BE49-F238E27FC236}">
                <a16:creationId xmlns:a16="http://schemas.microsoft.com/office/drawing/2014/main" id="{76683CE3-E3AC-76AF-D05C-A817FBA28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0544" y="1657123"/>
            <a:ext cx="676931" cy="676931"/>
          </a:xfrm>
          <a:prstGeom prst="rect">
            <a:avLst/>
          </a:prstGeom>
        </p:spPr>
      </p:pic>
      <p:pic>
        <p:nvPicPr>
          <p:cNvPr id="767" name="Picture 766">
            <a:extLst>
              <a:ext uri="{FF2B5EF4-FFF2-40B4-BE49-F238E27FC236}">
                <a16:creationId xmlns:a16="http://schemas.microsoft.com/office/drawing/2014/main" id="{165C2A8A-0CE0-2047-BACB-EA39BE43E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10" y="2884542"/>
            <a:ext cx="791015" cy="791015"/>
          </a:xfrm>
          <a:prstGeom prst="rect">
            <a:avLst/>
          </a:prstGeom>
        </p:spPr>
      </p:pic>
      <p:pic>
        <p:nvPicPr>
          <p:cNvPr id="769" name="Picture 768">
            <a:extLst>
              <a:ext uri="{FF2B5EF4-FFF2-40B4-BE49-F238E27FC236}">
                <a16:creationId xmlns:a16="http://schemas.microsoft.com/office/drawing/2014/main" id="{18A5832D-5869-8A5D-A19A-2D659FD85C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4757" y="2935555"/>
            <a:ext cx="587938" cy="587938"/>
          </a:xfrm>
          <a:prstGeom prst="rect">
            <a:avLst/>
          </a:prstGeom>
        </p:spPr>
      </p:pic>
      <p:cxnSp>
        <p:nvCxnSpPr>
          <p:cNvPr id="771" name="Google Shape;674;p27">
            <a:extLst>
              <a:ext uri="{FF2B5EF4-FFF2-40B4-BE49-F238E27FC236}">
                <a16:creationId xmlns:a16="http://schemas.microsoft.com/office/drawing/2014/main" id="{A1750634-BB40-12B9-5012-C02290534D0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15607" y="3848676"/>
            <a:ext cx="346238" cy="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73" name="Google Shape;663;p27">
            <a:extLst>
              <a:ext uri="{FF2B5EF4-FFF2-40B4-BE49-F238E27FC236}">
                <a16:creationId xmlns:a16="http://schemas.microsoft.com/office/drawing/2014/main" id="{73F5169C-2C06-2F54-8B4C-584096E44CF7}"/>
              </a:ext>
            </a:extLst>
          </p:cNvPr>
          <p:cNvSpPr/>
          <p:nvPr/>
        </p:nvSpPr>
        <p:spPr>
          <a:xfrm>
            <a:off x="2472176" y="4040940"/>
            <a:ext cx="833100" cy="8331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5" name="Picture 774">
            <a:extLst>
              <a:ext uri="{FF2B5EF4-FFF2-40B4-BE49-F238E27FC236}">
                <a16:creationId xmlns:a16="http://schemas.microsoft.com/office/drawing/2014/main" id="{97BA0AA3-410F-A5B3-626C-D7FDB7F40A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3418" y="4204772"/>
            <a:ext cx="510614" cy="510614"/>
          </a:xfrm>
          <a:prstGeom prst="rect">
            <a:avLst/>
          </a:prstGeom>
        </p:spPr>
      </p:pic>
      <p:sp>
        <p:nvSpPr>
          <p:cNvPr id="785" name="Google Shape;671;p27">
            <a:extLst>
              <a:ext uri="{FF2B5EF4-FFF2-40B4-BE49-F238E27FC236}">
                <a16:creationId xmlns:a16="http://schemas.microsoft.com/office/drawing/2014/main" id="{3047E6C4-2C19-6DB6-4A18-FBEE40EE0371}"/>
              </a:ext>
            </a:extLst>
          </p:cNvPr>
          <p:cNvSpPr txBox="1"/>
          <p:nvPr/>
        </p:nvSpPr>
        <p:spPr>
          <a:xfrm>
            <a:off x="2704602" y="3003087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AGENT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786" name="Google Shape;671;p27">
            <a:extLst>
              <a:ext uri="{FF2B5EF4-FFF2-40B4-BE49-F238E27FC236}">
                <a16:creationId xmlns:a16="http://schemas.microsoft.com/office/drawing/2014/main" id="{6F44EE13-3876-F2B8-5570-6B620F1B92ED}"/>
              </a:ext>
            </a:extLst>
          </p:cNvPr>
          <p:cNvSpPr txBox="1"/>
          <p:nvPr/>
        </p:nvSpPr>
        <p:spPr>
          <a:xfrm>
            <a:off x="2827183" y="4245728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TRANSFER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93840-FA1C-E2A9-FC4A-C37ECE6CE6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188" y="809896"/>
            <a:ext cx="4569661" cy="40641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43600" y="219468"/>
            <a:ext cx="94676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Tools for Visualisation</a:t>
            </a:r>
            <a:endParaRPr sz="2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22833-4056-10D7-FAB4-5D1A5E600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296" y="788393"/>
            <a:ext cx="805644" cy="6242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D40B77A-9FCE-7458-202A-804672E95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20625"/>
            <a:ext cx="338161" cy="3381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11FA82-00A4-61E7-633D-62609F2BA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551" y="3441366"/>
            <a:ext cx="338161" cy="3381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E8BD16-852F-F06F-E474-F6B41BF2E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316" y="2111038"/>
            <a:ext cx="1031224" cy="10312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4050A6-A371-17DA-9C9A-24CC574B72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0597" y="3826689"/>
            <a:ext cx="1616445" cy="8480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2325AD-3B45-9FDE-43B2-6EF998FE7D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9260" y="2479718"/>
            <a:ext cx="577178" cy="307545"/>
          </a:xfrm>
          <a:prstGeom prst="rect">
            <a:avLst/>
          </a:prstGeom>
        </p:spPr>
      </p:pic>
      <p:graphicFrame>
        <p:nvGraphicFramePr>
          <p:cNvPr id="2" name="Google Shape;1360;p45">
            <a:extLst>
              <a:ext uri="{FF2B5EF4-FFF2-40B4-BE49-F238E27FC236}">
                <a16:creationId xmlns:a16="http://schemas.microsoft.com/office/drawing/2014/main" id="{1FF6EE42-D479-C83C-B375-2103E60F65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3683672"/>
              </p:ext>
            </p:extLst>
          </p:nvPr>
        </p:nvGraphicFramePr>
        <p:xfrm>
          <a:off x="444501" y="877895"/>
          <a:ext cx="2885002" cy="3817006"/>
        </p:xfrm>
        <a:graphic>
          <a:graphicData uri="http://schemas.openxmlformats.org/drawingml/2006/table">
            <a:tbl>
              <a:tblPr>
                <a:noFill/>
                <a:tableStyleId>{6CAA7EAD-770A-4BA6-A570-980CF8E8E115}</a:tableStyleId>
              </a:tblPr>
              <a:tblGrid>
                <a:gridCol w="2885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70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Initializing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Call Key: W12x683827ytVPGer7w0r@192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Offering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ANI:  +37360056a9gqsDCv9x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DNIS:  00mxv4XnVFC9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Llamayqa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kutichisqa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Number_Dialed_1234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Default Parameters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00:23:27: 00.01 Set Entry Lorem ipsum dolor sit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amet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00:23:27: 00.02 Set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consectetur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adipiscing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elit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V89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00:23:27: Routine Ut cursus mi cursus,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mollis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est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nec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00:23:27: _12_B2C_1.1 [Check id vestibulum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quam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00:23:27: DEBUG: Subroutine = _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IVR_Sed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sit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amet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dapibus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turpis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00:23:28: Async [Vestibulum sed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bibendum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risus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00:23:28: DEBUG: Subroutine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fithos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lusec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wecos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vinosec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00:23:28: Async [Run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Etiam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pulvinar diam_v1.getCustomer_CRM_Info]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00:23:28: DEBUG: Subroutine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PIP|Nunc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pellentesque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fringilla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maximus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00:23:28: Async [Run Vestibulum dictum lorem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mauris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nec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accumsan_Info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00:23:28: DEBUG: Subroutine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XML_donec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ac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nunc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at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est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dictum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ultrices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00:23:37: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Activation_Routine_MAIN_MENU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Aenean maximus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tincidunt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justo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00:23:37: INPUT_READ: Press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XML_donec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ac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nunc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at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est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dictum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ultrices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00:23:38: _12_B2C_1.2 [Aenean in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tincidunt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tortor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00:23:53: _12_B2C_1.3 [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Suspendisse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vehicula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neque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00:23:53: _12_B2C_1.4 [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Nec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pulvinar eros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scelerisque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00:23:53: _12_B2C_1.5 [Aenean sed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tincidunt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mauris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00:23:53: _12_B2C_1.6 [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Curabitur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magna eros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commodo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non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quam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00:24:00: INPUT_READ: Press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Etiam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malesuada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cursus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pellentesque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= 2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00:24:00: _12_B2C_1.7  [MS_TECH_SUPPORT]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00:24:14: 1_Aenean id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orci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sed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quam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fermentum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00:24:14: 2_Pellentesque habitant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morbi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tristique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senectus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00:24:18: 3_Aliquam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finibus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felis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vitae nisi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venenatis_Orange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00:25:27: DEBUG: Subroutine = _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IVR_Nulla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ut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rhoncus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purus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, et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molestie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00:25:28: Async [Vestibulum sed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bibendum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risus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00:25:28: DEBUG: Subroutine = MS_INET_QUERIES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00:25:28: Async [Run Duis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volutpat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nunc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quis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.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getCustomer_CRM_Info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00:25:29: DEBUG: Subroutine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PIP|Maecenas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quis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velit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in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enim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pretium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00:25:28: Async [Run Sed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posuere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ligula vitae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arcu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imperdiet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ultricies_Info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00:25:40: DEBUG: Subroutine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XML_Morbi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a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aliquam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nunc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. Sed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euismod</a:t>
                      </a:r>
                      <a:endParaRPr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Google Shape;332;p19">
            <a:extLst>
              <a:ext uri="{FF2B5EF4-FFF2-40B4-BE49-F238E27FC236}">
                <a16:creationId xmlns:a16="http://schemas.microsoft.com/office/drawing/2014/main" id="{4985242E-F71C-20FE-2D64-41A85D0BBAE0}"/>
              </a:ext>
            </a:extLst>
          </p:cNvPr>
          <p:cNvGrpSpPr/>
          <p:nvPr/>
        </p:nvGrpSpPr>
        <p:grpSpPr>
          <a:xfrm>
            <a:off x="6654688" y="1207762"/>
            <a:ext cx="2347387" cy="731520"/>
            <a:chOff x="1970448" y="1516925"/>
            <a:chExt cx="2718230" cy="698100"/>
          </a:xfrm>
        </p:grpSpPr>
        <p:sp>
          <p:nvSpPr>
            <p:cNvPr id="6" name="Google Shape;333;p19">
              <a:extLst>
                <a:ext uri="{FF2B5EF4-FFF2-40B4-BE49-F238E27FC236}">
                  <a16:creationId xmlns:a16="http://schemas.microsoft.com/office/drawing/2014/main" id="{C9DAE16A-557D-33F2-26D1-12A7ED7A454C}"/>
                </a:ext>
              </a:extLst>
            </p:cNvPr>
            <p:cNvSpPr/>
            <p:nvPr/>
          </p:nvSpPr>
          <p:spPr>
            <a:xfrm>
              <a:off x="1970448" y="1516925"/>
              <a:ext cx="698100" cy="69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7" name="Google Shape;334;p19">
              <a:extLst>
                <a:ext uri="{FF2B5EF4-FFF2-40B4-BE49-F238E27FC236}">
                  <a16:creationId xmlns:a16="http://schemas.microsoft.com/office/drawing/2014/main" id="{723303EA-CE0B-9089-C9AD-CFA9E4944881}"/>
                </a:ext>
              </a:extLst>
            </p:cNvPr>
            <p:cNvSpPr txBox="1"/>
            <p:nvPr/>
          </p:nvSpPr>
          <p:spPr>
            <a:xfrm>
              <a:off x="2856878" y="1622506"/>
              <a:ext cx="1831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MD" sz="15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BLACK BOX</a:t>
              </a:r>
              <a:endParaRPr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10" name="Google Shape;336;p19">
            <a:extLst>
              <a:ext uri="{FF2B5EF4-FFF2-40B4-BE49-F238E27FC236}">
                <a16:creationId xmlns:a16="http://schemas.microsoft.com/office/drawing/2014/main" id="{92BC6F5A-E87E-C063-676F-11F47E7D1E9E}"/>
              </a:ext>
            </a:extLst>
          </p:cNvPr>
          <p:cNvGrpSpPr/>
          <p:nvPr/>
        </p:nvGrpSpPr>
        <p:grpSpPr>
          <a:xfrm>
            <a:off x="6641722" y="2392101"/>
            <a:ext cx="2417923" cy="731520"/>
            <a:chOff x="1970462" y="2314790"/>
            <a:chExt cx="2827144" cy="698100"/>
          </a:xfrm>
        </p:grpSpPr>
        <p:sp>
          <p:nvSpPr>
            <p:cNvPr id="11" name="Google Shape;337;p19">
              <a:extLst>
                <a:ext uri="{FF2B5EF4-FFF2-40B4-BE49-F238E27FC236}">
                  <a16:creationId xmlns:a16="http://schemas.microsoft.com/office/drawing/2014/main" id="{4E7A9BCD-C08E-6068-ABD8-E0CF0C7D4B6B}"/>
                </a:ext>
              </a:extLst>
            </p:cNvPr>
            <p:cNvSpPr/>
            <p:nvPr/>
          </p:nvSpPr>
          <p:spPr>
            <a:xfrm>
              <a:off x="1970462" y="2314790"/>
              <a:ext cx="698100" cy="69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12" name="Google Shape;338;p19">
              <a:extLst>
                <a:ext uri="{FF2B5EF4-FFF2-40B4-BE49-F238E27FC236}">
                  <a16:creationId xmlns:a16="http://schemas.microsoft.com/office/drawing/2014/main" id="{32BD6B99-2B1D-4ECF-642B-FDAEFDB98F06}"/>
                </a:ext>
              </a:extLst>
            </p:cNvPr>
            <p:cNvSpPr txBox="1"/>
            <p:nvPr/>
          </p:nvSpPr>
          <p:spPr>
            <a:xfrm>
              <a:off x="2965806" y="2421590"/>
              <a:ext cx="1831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MD" sz="15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BREAK POINS</a:t>
              </a:r>
              <a:endParaRPr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14" name="Google Shape;340;p19">
            <a:extLst>
              <a:ext uri="{FF2B5EF4-FFF2-40B4-BE49-F238E27FC236}">
                <a16:creationId xmlns:a16="http://schemas.microsoft.com/office/drawing/2014/main" id="{176CB616-1A10-89F6-3C63-BFDDCB7E0FEA}"/>
              </a:ext>
            </a:extLst>
          </p:cNvPr>
          <p:cNvGrpSpPr/>
          <p:nvPr/>
        </p:nvGrpSpPr>
        <p:grpSpPr>
          <a:xfrm>
            <a:off x="6654688" y="3558769"/>
            <a:ext cx="2412599" cy="735210"/>
            <a:chOff x="1970455" y="3112654"/>
            <a:chExt cx="2793661" cy="698100"/>
          </a:xfrm>
        </p:grpSpPr>
        <p:sp>
          <p:nvSpPr>
            <p:cNvPr id="17" name="Google Shape;341;p19">
              <a:extLst>
                <a:ext uri="{FF2B5EF4-FFF2-40B4-BE49-F238E27FC236}">
                  <a16:creationId xmlns:a16="http://schemas.microsoft.com/office/drawing/2014/main" id="{E6FF0F6E-707B-F020-9636-DA0E669EE688}"/>
                </a:ext>
              </a:extLst>
            </p:cNvPr>
            <p:cNvSpPr/>
            <p:nvPr/>
          </p:nvSpPr>
          <p:spPr>
            <a:xfrm>
              <a:off x="1970455" y="3112654"/>
              <a:ext cx="698100" cy="69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18" name="Google Shape;342;p19">
              <a:extLst>
                <a:ext uri="{FF2B5EF4-FFF2-40B4-BE49-F238E27FC236}">
                  <a16:creationId xmlns:a16="http://schemas.microsoft.com/office/drawing/2014/main" id="{1AE53619-910D-8A38-E943-24AF8C8AFD32}"/>
                </a:ext>
              </a:extLst>
            </p:cNvPr>
            <p:cNvSpPr txBox="1"/>
            <p:nvPr/>
          </p:nvSpPr>
          <p:spPr>
            <a:xfrm>
              <a:off x="2932317" y="3195158"/>
              <a:ext cx="1831799" cy="484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MD" sz="15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STORYTELLING</a:t>
              </a:r>
              <a:endParaRPr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cxnSp>
        <p:nvCxnSpPr>
          <p:cNvPr id="25" name="Google Shape;348;p19">
            <a:extLst>
              <a:ext uri="{FF2B5EF4-FFF2-40B4-BE49-F238E27FC236}">
                <a16:creationId xmlns:a16="http://schemas.microsoft.com/office/drawing/2014/main" id="{30209B7C-E5DC-1B0F-0575-90CDB3C12DA1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257548" y="1573522"/>
            <a:ext cx="422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4" name="Picture 193">
            <a:extLst>
              <a:ext uri="{FF2B5EF4-FFF2-40B4-BE49-F238E27FC236}">
                <a16:creationId xmlns:a16="http://schemas.microsoft.com/office/drawing/2014/main" id="{39078939-44BB-EF80-B297-0A4DFFB5FC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3042" y="1318397"/>
            <a:ext cx="464172" cy="464172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A6ECB284-045C-B65A-BDE1-F793824C35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1713" y="2539325"/>
            <a:ext cx="437070" cy="437070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D5BF9684-2826-96CD-14F1-5E7B74C344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9941" y="3740188"/>
            <a:ext cx="372372" cy="372372"/>
          </a:xfrm>
          <a:prstGeom prst="rect">
            <a:avLst/>
          </a:prstGeom>
        </p:spPr>
      </p:pic>
      <p:cxnSp>
        <p:nvCxnSpPr>
          <p:cNvPr id="210" name="Google Shape;348;p19">
            <a:extLst>
              <a:ext uri="{FF2B5EF4-FFF2-40B4-BE49-F238E27FC236}">
                <a16:creationId xmlns:a16="http://schemas.microsoft.com/office/drawing/2014/main" id="{06C55CFB-F81D-506B-792A-CC0F4F69D3C3}"/>
              </a:ext>
            </a:extLst>
          </p:cNvPr>
          <p:cNvCxnSpPr>
            <a:cxnSpLocks/>
          </p:cNvCxnSpPr>
          <p:nvPr/>
        </p:nvCxnSpPr>
        <p:spPr>
          <a:xfrm flipH="1">
            <a:off x="7242778" y="2757860"/>
            <a:ext cx="437070" cy="1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348;p19">
            <a:extLst>
              <a:ext uri="{FF2B5EF4-FFF2-40B4-BE49-F238E27FC236}">
                <a16:creationId xmlns:a16="http://schemas.microsoft.com/office/drawing/2014/main" id="{D1896465-83D6-35CC-0BCE-5FC2E66CFA6C}"/>
              </a:ext>
            </a:extLst>
          </p:cNvPr>
          <p:cNvCxnSpPr>
            <a:cxnSpLocks/>
          </p:cNvCxnSpPr>
          <p:nvPr/>
        </p:nvCxnSpPr>
        <p:spPr>
          <a:xfrm flipH="1">
            <a:off x="7257566" y="3900786"/>
            <a:ext cx="437070" cy="1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3" name="Picture 212">
            <a:extLst>
              <a:ext uri="{FF2B5EF4-FFF2-40B4-BE49-F238E27FC236}">
                <a16:creationId xmlns:a16="http://schemas.microsoft.com/office/drawing/2014/main" id="{12D59E2A-9AB8-4858-B5CC-15EB747C91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1542" y="2472877"/>
            <a:ext cx="577178" cy="307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889D32-F37E-07CE-E3E4-0F5A4BF5A5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93344" y="707349"/>
            <a:ext cx="358764" cy="4136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BD0B80-BD29-B1F8-BB95-16B1AF08CA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67230" y="707349"/>
            <a:ext cx="358764" cy="4154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07CF30-8228-84E9-7EF2-3AF518D0EE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9110" y="1021820"/>
            <a:ext cx="359168" cy="4141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912FBC-E20A-B4F1-C246-59100DDFBE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57874" y="1011282"/>
            <a:ext cx="357684" cy="41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06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7"/>
          <p:cNvSpPr txBox="1">
            <a:spLocks noGrp="1"/>
          </p:cNvSpPr>
          <p:nvPr>
            <p:ph type="title"/>
          </p:nvPr>
        </p:nvSpPr>
        <p:spPr>
          <a:xfrm>
            <a:off x="1958219" y="17493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Transfer Rate Per IVR Journey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0000"/>
              </a:solidFill>
            </a:endParaRPr>
          </a:p>
        </p:txBody>
      </p:sp>
      <p:cxnSp>
        <p:nvCxnSpPr>
          <p:cNvPr id="4" name="Google Shape;1091;p38">
            <a:extLst>
              <a:ext uri="{FF2B5EF4-FFF2-40B4-BE49-F238E27FC236}">
                <a16:creationId xmlns:a16="http://schemas.microsoft.com/office/drawing/2014/main" id="{94C9B476-A74F-9899-5E9E-9CF8D6DBF4C0}"/>
              </a:ext>
            </a:extLst>
          </p:cNvPr>
          <p:cNvCxnSpPr>
            <a:cxnSpLocks/>
          </p:cNvCxnSpPr>
          <p:nvPr/>
        </p:nvCxnSpPr>
        <p:spPr>
          <a:xfrm>
            <a:off x="6355700" y="1122119"/>
            <a:ext cx="0" cy="3251668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104;p38">
            <a:extLst>
              <a:ext uri="{FF2B5EF4-FFF2-40B4-BE49-F238E27FC236}">
                <a16:creationId xmlns:a16="http://schemas.microsoft.com/office/drawing/2014/main" id="{CE7F1613-AB4D-5AB7-11F6-8EF102AF20A0}"/>
              </a:ext>
            </a:extLst>
          </p:cNvPr>
          <p:cNvSpPr txBox="1">
            <a:spLocks/>
          </p:cNvSpPr>
          <p:nvPr/>
        </p:nvSpPr>
        <p:spPr>
          <a:xfrm>
            <a:off x="6541584" y="1466038"/>
            <a:ext cx="18813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-US" sz="1800" dirty="0"/>
              <a:t>Transfer Rate over Baseline</a:t>
            </a:r>
          </a:p>
        </p:txBody>
      </p:sp>
      <p:sp>
        <p:nvSpPr>
          <p:cNvPr id="13" name="Google Shape;1104;p38">
            <a:extLst>
              <a:ext uri="{FF2B5EF4-FFF2-40B4-BE49-F238E27FC236}">
                <a16:creationId xmlns:a16="http://schemas.microsoft.com/office/drawing/2014/main" id="{D610693E-9748-7D6B-93E8-76098567BBF9}"/>
              </a:ext>
            </a:extLst>
          </p:cNvPr>
          <p:cNvSpPr txBox="1">
            <a:spLocks/>
          </p:cNvSpPr>
          <p:nvPr/>
        </p:nvSpPr>
        <p:spPr>
          <a:xfrm>
            <a:off x="6451076" y="3384568"/>
            <a:ext cx="2265866" cy="67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-US" sz="1800" dirty="0"/>
              <a:t>We require at least 30% more Agents </a:t>
            </a:r>
          </a:p>
        </p:txBody>
      </p:sp>
      <p:grpSp>
        <p:nvGrpSpPr>
          <p:cNvPr id="14" name="Google Shape;1095;p38">
            <a:extLst>
              <a:ext uri="{FF2B5EF4-FFF2-40B4-BE49-F238E27FC236}">
                <a16:creationId xmlns:a16="http://schemas.microsoft.com/office/drawing/2014/main" id="{88A850B7-1860-7C68-0BA7-0C3B8299CB8E}"/>
              </a:ext>
            </a:extLst>
          </p:cNvPr>
          <p:cNvGrpSpPr/>
          <p:nvPr/>
        </p:nvGrpSpPr>
        <p:grpSpPr>
          <a:xfrm>
            <a:off x="6168084" y="1692600"/>
            <a:ext cx="373500" cy="373500"/>
            <a:chOff x="3212675" y="1912500"/>
            <a:chExt cx="373500" cy="373500"/>
          </a:xfrm>
        </p:grpSpPr>
        <p:sp>
          <p:nvSpPr>
            <p:cNvPr id="15" name="Google Shape;1096;p38">
              <a:extLst>
                <a:ext uri="{FF2B5EF4-FFF2-40B4-BE49-F238E27FC236}">
                  <a16:creationId xmlns:a16="http://schemas.microsoft.com/office/drawing/2014/main" id="{36CC3025-3925-46F6-5B88-DFB268CD27C7}"/>
                </a:ext>
              </a:extLst>
            </p:cNvPr>
            <p:cNvSpPr/>
            <p:nvPr/>
          </p:nvSpPr>
          <p:spPr>
            <a:xfrm>
              <a:off x="3304013" y="2003850"/>
              <a:ext cx="190800" cy="190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97;p38">
              <a:extLst>
                <a:ext uri="{FF2B5EF4-FFF2-40B4-BE49-F238E27FC236}">
                  <a16:creationId xmlns:a16="http://schemas.microsoft.com/office/drawing/2014/main" id="{C98B440B-C8A5-AB72-BB73-59A5A9BD7A61}"/>
                </a:ext>
              </a:extLst>
            </p:cNvPr>
            <p:cNvSpPr/>
            <p:nvPr/>
          </p:nvSpPr>
          <p:spPr>
            <a:xfrm>
              <a:off x="3212675" y="1912500"/>
              <a:ext cx="373500" cy="373500"/>
            </a:xfrm>
            <a:prstGeom prst="donut">
              <a:avLst>
                <a:gd name="adj" fmla="val 1019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101;p38">
            <a:extLst>
              <a:ext uri="{FF2B5EF4-FFF2-40B4-BE49-F238E27FC236}">
                <a16:creationId xmlns:a16="http://schemas.microsoft.com/office/drawing/2014/main" id="{5E2EE3A6-634B-8DA7-787F-DC6FC10CA8DC}"/>
              </a:ext>
            </a:extLst>
          </p:cNvPr>
          <p:cNvGrpSpPr/>
          <p:nvPr/>
        </p:nvGrpSpPr>
        <p:grpSpPr>
          <a:xfrm>
            <a:off x="6168071" y="3556830"/>
            <a:ext cx="373498" cy="373500"/>
            <a:chOff x="7457825" y="1912500"/>
            <a:chExt cx="373500" cy="373500"/>
          </a:xfrm>
        </p:grpSpPr>
        <p:sp>
          <p:nvSpPr>
            <p:cNvPr id="18" name="Google Shape;1102;p38">
              <a:extLst>
                <a:ext uri="{FF2B5EF4-FFF2-40B4-BE49-F238E27FC236}">
                  <a16:creationId xmlns:a16="http://schemas.microsoft.com/office/drawing/2014/main" id="{5916DE83-20CD-EAE9-A8A6-EDBA9D77629A}"/>
                </a:ext>
              </a:extLst>
            </p:cNvPr>
            <p:cNvSpPr/>
            <p:nvPr/>
          </p:nvSpPr>
          <p:spPr>
            <a:xfrm>
              <a:off x="7549163" y="2003850"/>
              <a:ext cx="190800" cy="190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03;p38">
              <a:extLst>
                <a:ext uri="{FF2B5EF4-FFF2-40B4-BE49-F238E27FC236}">
                  <a16:creationId xmlns:a16="http://schemas.microsoft.com/office/drawing/2014/main" id="{E538C7F2-C9FA-4F74-9F89-3A77E9237C6E}"/>
                </a:ext>
              </a:extLst>
            </p:cNvPr>
            <p:cNvSpPr/>
            <p:nvPr/>
          </p:nvSpPr>
          <p:spPr>
            <a:xfrm>
              <a:off x="7457825" y="1912500"/>
              <a:ext cx="373500" cy="373500"/>
            </a:xfrm>
            <a:prstGeom prst="donut">
              <a:avLst>
                <a:gd name="adj" fmla="val 1019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C41B991B-6237-7F83-9B52-387133C3F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8" y="747632"/>
            <a:ext cx="5937250" cy="429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123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7"/>
          <p:cNvSpPr txBox="1">
            <a:spLocks noGrp="1"/>
          </p:cNvSpPr>
          <p:nvPr>
            <p:ph type="title"/>
          </p:nvPr>
        </p:nvSpPr>
        <p:spPr>
          <a:xfrm>
            <a:off x="1958219" y="17493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dirty="0"/>
              <a:t>From </a:t>
            </a:r>
            <a:r>
              <a:rPr lang="en-US" dirty="0"/>
              <a:t>Transfer Rate </a:t>
            </a:r>
            <a:r>
              <a:rPr lang="ro-MD" dirty="0"/>
              <a:t>To Transfer Volume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F5CE5-ED88-9D0E-A4EE-403C3FAB0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" y="770056"/>
            <a:ext cx="7911885" cy="2419672"/>
          </a:xfrm>
          <a:prstGeom prst="rect">
            <a:avLst/>
          </a:prstGeom>
        </p:spPr>
      </p:pic>
      <p:sp>
        <p:nvSpPr>
          <p:cNvPr id="817" name="Google Shape;468;p23">
            <a:extLst>
              <a:ext uri="{FF2B5EF4-FFF2-40B4-BE49-F238E27FC236}">
                <a16:creationId xmlns:a16="http://schemas.microsoft.com/office/drawing/2014/main" id="{2FE06C99-1F6C-99A4-AA66-A6820175CA90}"/>
              </a:ext>
            </a:extLst>
          </p:cNvPr>
          <p:cNvSpPr/>
          <p:nvPr/>
        </p:nvSpPr>
        <p:spPr>
          <a:xfrm>
            <a:off x="1714938" y="3787624"/>
            <a:ext cx="640080" cy="6400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470;p23">
            <a:extLst>
              <a:ext uri="{FF2B5EF4-FFF2-40B4-BE49-F238E27FC236}">
                <a16:creationId xmlns:a16="http://schemas.microsoft.com/office/drawing/2014/main" id="{5AE300A5-B1C0-8AA5-7A0B-884EEE97EE42}"/>
              </a:ext>
            </a:extLst>
          </p:cNvPr>
          <p:cNvSpPr/>
          <p:nvPr/>
        </p:nvSpPr>
        <p:spPr>
          <a:xfrm>
            <a:off x="4251960" y="3782513"/>
            <a:ext cx="640080" cy="6400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9" name="Google Shape;472;p23">
            <a:extLst>
              <a:ext uri="{FF2B5EF4-FFF2-40B4-BE49-F238E27FC236}">
                <a16:creationId xmlns:a16="http://schemas.microsoft.com/office/drawing/2014/main" id="{993903F1-A5D8-9FF1-DD69-2F1CE6592C5A}"/>
              </a:ext>
            </a:extLst>
          </p:cNvPr>
          <p:cNvSpPr/>
          <p:nvPr/>
        </p:nvSpPr>
        <p:spPr>
          <a:xfrm>
            <a:off x="6520546" y="3793225"/>
            <a:ext cx="64008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492;p23">
            <a:extLst>
              <a:ext uri="{FF2B5EF4-FFF2-40B4-BE49-F238E27FC236}">
                <a16:creationId xmlns:a16="http://schemas.microsoft.com/office/drawing/2014/main" id="{38DBAFD5-707B-B967-AEE8-247454C1125E}"/>
              </a:ext>
            </a:extLst>
          </p:cNvPr>
          <p:cNvGrpSpPr/>
          <p:nvPr/>
        </p:nvGrpSpPr>
        <p:grpSpPr>
          <a:xfrm>
            <a:off x="1301601" y="3210149"/>
            <a:ext cx="1466753" cy="1933351"/>
            <a:chOff x="1559153" y="1458000"/>
            <a:chExt cx="1466753" cy="1933351"/>
          </a:xfrm>
        </p:grpSpPr>
        <p:sp>
          <p:nvSpPr>
            <p:cNvPr id="840" name="Google Shape;494;p23">
              <a:extLst>
                <a:ext uri="{FF2B5EF4-FFF2-40B4-BE49-F238E27FC236}">
                  <a16:creationId xmlns:a16="http://schemas.microsoft.com/office/drawing/2014/main" id="{E80EA501-608B-7AE1-B95B-4681300E99BC}"/>
                </a:ext>
              </a:extLst>
            </p:cNvPr>
            <p:cNvSpPr txBox="1"/>
            <p:nvPr/>
          </p:nvSpPr>
          <p:spPr>
            <a:xfrm>
              <a:off x="1559153" y="2934151"/>
              <a:ext cx="1466753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MD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Identify Defect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41" name="Google Shape;496;p23">
              <a:extLst>
                <a:ext uri="{FF2B5EF4-FFF2-40B4-BE49-F238E27FC236}">
                  <a16:creationId xmlns:a16="http://schemas.microsoft.com/office/drawing/2014/main" id="{C4CE2968-4D72-E540-AF11-255FDD251729}"/>
                </a:ext>
              </a:extLst>
            </p:cNvPr>
            <p:cNvSpPr txBox="1"/>
            <p:nvPr/>
          </p:nvSpPr>
          <p:spPr>
            <a:xfrm>
              <a:off x="1918625" y="14580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3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01</a:t>
              </a:r>
              <a:endParaRPr sz="240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842" name="Google Shape;497;p23">
            <a:extLst>
              <a:ext uri="{FF2B5EF4-FFF2-40B4-BE49-F238E27FC236}">
                <a16:creationId xmlns:a16="http://schemas.microsoft.com/office/drawing/2014/main" id="{9C617353-F17A-2313-AD1F-90DFB8EE9B88}"/>
              </a:ext>
            </a:extLst>
          </p:cNvPr>
          <p:cNvGrpSpPr/>
          <p:nvPr/>
        </p:nvGrpSpPr>
        <p:grpSpPr>
          <a:xfrm>
            <a:off x="3821012" y="3210149"/>
            <a:ext cx="1466700" cy="1933351"/>
            <a:chOff x="3820523" y="1458000"/>
            <a:chExt cx="1466700" cy="1933351"/>
          </a:xfrm>
        </p:grpSpPr>
        <p:sp>
          <p:nvSpPr>
            <p:cNvPr id="843" name="Google Shape;499;p23">
              <a:extLst>
                <a:ext uri="{FF2B5EF4-FFF2-40B4-BE49-F238E27FC236}">
                  <a16:creationId xmlns:a16="http://schemas.microsoft.com/office/drawing/2014/main" id="{9B978078-D99C-437D-7E4E-468A50E15788}"/>
                </a:ext>
              </a:extLst>
            </p:cNvPr>
            <p:cNvSpPr txBox="1"/>
            <p:nvPr/>
          </p:nvSpPr>
          <p:spPr>
            <a:xfrm>
              <a:off x="3820523" y="2934151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Quantify Impact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44" name="Google Shape;501;p23">
              <a:extLst>
                <a:ext uri="{FF2B5EF4-FFF2-40B4-BE49-F238E27FC236}">
                  <a16:creationId xmlns:a16="http://schemas.microsoft.com/office/drawing/2014/main" id="{F89E0086-1924-58D4-9823-FBE0BA5F8BA8}"/>
                </a:ext>
              </a:extLst>
            </p:cNvPr>
            <p:cNvSpPr txBox="1"/>
            <p:nvPr/>
          </p:nvSpPr>
          <p:spPr>
            <a:xfrm>
              <a:off x="4187717" y="14580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5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02</a:t>
              </a:r>
              <a:endParaRPr sz="2400" dirty="0">
                <a:solidFill>
                  <a:schemeClr val="accent5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845" name="Google Shape;502;p23">
            <a:extLst>
              <a:ext uri="{FF2B5EF4-FFF2-40B4-BE49-F238E27FC236}">
                <a16:creationId xmlns:a16="http://schemas.microsoft.com/office/drawing/2014/main" id="{2F5E8E05-7335-0FCA-AEB0-DAEAA553681F}"/>
              </a:ext>
            </a:extLst>
          </p:cNvPr>
          <p:cNvGrpSpPr/>
          <p:nvPr/>
        </p:nvGrpSpPr>
        <p:grpSpPr>
          <a:xfrm>
            <a:off x="6113545" y="3210149"/>
            <a:ext cx="1466700" cy="1933351"/>
            <a:chOff x="6113056" y="1458000"/>
            <a:chExt cx="1466700" cy="1933351"/>
          </a:xfrm>
        </p:grpSpPr>
        <p:sp>
          <p:nvSpPr>
            <p:cNvPr id="846" name="Google Shape;504;p23">
              <a:extLst>
                <a:ext uri="{FF2B5EF4-FFF2-40B4-BE49-F238E27FC236}">
                  <a16:creationId xmlns:a16="http://schemas.microsoft.com/office/drawing/2014/main" id="{A4EE5525-441D-D7EC-26E1-2222F11DED7C}"/>
                </a:ext>
              </a:extLst>
            </p:cNvPr>
            <p:cNvSpPr txBox="1"/>
            <p:nvPr/>
          </p:nvSpPr>
          <p:spPr>
            <a:xfrm>
              <a:off x="6113056" y="2934151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Design Solution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47" name="Google Shape;506;p23">
              <a:extLst>
                <a:ext uri="{FF2B5EF4-FFF2-40B4-BE49-F238E27FC236}">
                  <a16:creationId xmlns:a16="http://schemas.microsoft.com/office/drawing/2014/main" id="{C7CFA69B-1DA6-0CF2-124D-74A66CE08C46}"/>
                </a:ext>
              </a:extLst>
            </p:cNvPr>
            <p:cNvSpPr txBox="1"/>
            <p:nvPr/>
          </p:nvSpPr>
          <p:spPr>
            <a:xfrm>
              <a:off x="6456774" y="14580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03</a:t>
              </a:r>
              <a:endParaRPr sz="2400">
                <a:solidFill>
                  <a:schemeClr val="accen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cxnSp>
        <p:nvCxnSpPr>
          <p:cNvPr id="848" name="Google Shape;507;p23">
            <a:extLst>
              <a:ext uri="{FF2B5EF4-FFF2-40B4-BE49-F238E27FC236}">
                <a16:creationId xmlns:a16="http://schemas.microsoft.com/office/drawing/2014/main" id="{1DCB3400-F0BE-1C0D-F08C-3C8E1556E20F}"/>
              </a:ext>
            </a:extLst>
          </p:cNvPr>
          <p:cNvCxnSpPr>
            <a:stCxn id="841" idx="3"/>
            <a:endCxn id="844" idx="1"/>
          </p:cNvCxnSpPr>
          <p:nvPr/>
        </p:nvCxnSpPr>
        <p:spPr>
          <a:xfrm>
            <a:off x="2429673" y="3438749"/>
            <a:ext cx="1758533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9" name="Google Shape;508;p23">
            <a:extLst>
              <a:ext uri="{FF2B5EF4-FFF2-40B4-BE49-F238E27FC236}">
                <a16:creationId xmlns:a16="http://schemas.microsoft.com/office/drawing/2014/main" id="{A8DA8895-2B18-7189-C48D-38E44524AD6F}"/>
              </a:ext>
            </a:extLst>
          </p:cNvPr>
          <p:cNvCxnSpPr>
            <a:stCxn id="844" idx="3"/>
            <a:endCxn id="847" idx="1"/>
          </p:cNvCxnSpPr>
          <p:nvPr/>
        </p:nvCxnSpPr>
        <p:spPr>
          <a:xfrm>
            <a:off x="4956806" y="3438749"/>
            <a:ext cx="1500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0" name="Google Shape;509;p23">
            <a:extLst>
              <a:ext uri="{FF2B5EF4-FFF2-40B4-BE49-F238E27FC236}">
                <a16:creationId xmlns:a16="http://schemas.microsoft.com/office/drawing/2014/main" id="{380EA926-58ED-6344-4A8A-1847635E75B8}"/>
              </a:ext>
            </a:extLst>
          </p:cNvPr>
          <p:cNvCxnSpPr>
            <a:stCxn id="841" idx="2"/>
            <a:endCxn id="817" idx="0"/>
          </p:cNvCxnSpPr>
          <p:nvPr/>
        </p:nvCxnSpPr>
        <p:spPr>
          <a:xfrm flipH="1">
            <a:off x="2034978" y="3667349"/>
            <a:ext cx="10395" cy="12027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51" name="Google Shape;510;p23">
            <a:extLst>
              <a:ext uri="{FF2B5EF4-FFF2-40B4-BE49-F238E27FC236}">
                <a16:creationId xmlns:a16="http://schemas.microsoft.com/office/drawing/2014/main" id="{A748ECA4-7DF3-DAD6-7925-A1C744E00C3B}"/>
              </a:ext>
            </a:extLst>
          </p:cNvPr>
          <p:cNvCxnSpPr>
            <a:cxnSpLocks/>
            <a:stCxn id="844" idx="2"/>
            <a:endCxn id="818" idx="0"/>
          </p:cNvCxnSpPr>
          <p:nvPr/>
        </p:nvCxnSpPr>
        <p:spPr>
          <a:xfrm flipH="1">
            <a:off x="4572000" y="3667349"/>
            <a:ext cx="506" cy="115164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52" name="Google Shape;511;p23">
            <a:extLst>
              <a:ext uri="{FF2B5EF4-FFF2-40B4-BE49-F238E27FC236}">
                <a16:creationId xmlns:a16="http://schemas.microsoft.com/office/drawing/2014/main" id="{1088794F-A6A7-7E54-6739-5AD34C8D356E}"/>
              </a:ext>
            </a:extLst>
          </p:cNvPr>
          <p:cNvCxnSpPr>
            <a:stCxn id="847" idx="2"/>
            <a:endCxn id="819" idx="0"/>
          </p:cNvCxnSpPr>
          <p:nvPr/>
        </p:nvCxnSpPr>
        <p:spPr>
          <a:xfrm flipH="1">
            <a:off x="6840586" y="3667349"/>
            <a:ext cx="977" cy="125876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698" name="Google Shape;9849;p58">
            <a:extLst>
              <a:ext uri="{FF2B5EF4-FFF2-40B4-BE49-F238E27FC236}">
                <a16:creationId xmlns:a16="http://schemas.microsoft.com/office/drawing/2014/main" id="{45EEB2F8-4227-6415-3E1A-4882D18C971A}"/>
              </a:ext>
            </a:extLst>
          </p:cNvPr>
          <p:cNvSpPr/>
          <p:nvPr/>
        </p:nvSpPr>
        <p:spPr>
          <a:xfrm>
            <a:off x="1782580" y="3873630"/>
            <a:ext cx="521687" cy="434792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11339;p60">
            <a:extLst>
              <a:ext uri="{FF2B5EF4-FFF2-40B4-BE49-F238E27FC236}">
                <a16:creationId xmlns:a16="http://schemas.microsoft.com/office/drawing/2014/main" id="{887EBA47-76A0-5BBA-3863-05B7E66BDC73}"/>
              </a:ext>
            </a:extLst>
          </p:cNvPr>
          <p:cNvGrpSpPr/>
          <p:nvPr/>
        </p:nvGrpSpPr>
        <p:grpSpPr>
          <a:xfrm>
            <a:off x="6579879" y="3899086"/>
            <a:ext cx="521414" cy="414555"/>
            <a:chOff x="8006505" y="3390044"/>
            <a:chExt cx="323654" cy="303189"/>
          </a:xfrm>
        </p:grpSpPr>
        <p:sp>
          <p:nvSpPr>
            <p:cNvPr id="4" name="Google Shape;11340;p60">
              <a:extLst>
                <a:ext uri="{FF2B5EF4-FFF2-40B4-BE49-F238E27FC236}">
                  <a16:creationId xmlns:a16="http://schemas.microsoft.com/office/drawing/2014/main" id="{06792AA5-D12B-2683-6B24-6346AE8EFDB4}"/>
                </a:ext>
              </a:extLst>
            </p:cNvPr>
            <p:cNvSpPr/>
            <p:nvPr/>
          </p:nvSpPr>
          <p:spPr>
            <a:xfrm>
              <a:off x="8006505" y="3390044"/>
              <a:ext cx="323654" cy="303189"/>
            </a:xfrm>
            <a:custGeom>
              <a:avLst/>
              <a:gdLst/>
              <a:ahLst/>
              <a:cxnLst/>
              <a:rect l="l" t="t" r="r" b="b"/>
              <a:pathLst>
                <a:path w="10169" h="9526" extrusionOk="0">
                  <a:moveTo>
                    <a:pt x="5358" y="322"/>
                  </a:moveTo>
                  <a:cubicBezTo>
                    <a:pt x="5704" y="322"/>
                    <a:pt x="5965" y="608"/>
                    <a:pt x="5965" y="930"/>
                  </a:cubicBezTo>
                  <a:lnTo>
                    <a:pt x="5965" y="1311"/>
                  </a:lnTo>
                  <a:cubicBezTo>
                    <a:pt x="5965" y="1584"/>
                    <a:pt x="6192" y="1811"/>
                    <a:pt x="6477" y="1811"/>
                  </a:cubicBezTo>
                  <a:lnTo>
                    <a:pt x="6620" y="1811"/>
                  </a:lnTo>
                  <a:cubicBezTo>
                    <a:pt x="6727" y="1811"/>
                    <a:pt x="6811" y="1906"/>
                    <a:pt x="6811" y="2001"/>
                  </a:cubicBezTo>
                  <a:lnTo>
                    <a:pt x="6811" y="3013"/>
                  </a:lnTo>
                  <a:cubicBezTo>
                    <a:pt x="6811" y="3120"/>
                    <a:pt x="6727" y="3204"/>
                    <a:pt x="6620" y="3204"/>
                  </a:cubicBezTo>
                  <a:lnTo>
                    <a:pt x="3465" y="3204"/>
                  </a:lnTo>
                  <a:cubicBezTo>
                    <a:pt x="3358" y="3204"/>
                    <a:pt x="3275" y="3120"/>
                    <a:pt x="3275" y="3013"/>
                  </a:cubicBezTo>
                  <a:lnTo>
                    <a:pt x="3322" y="2001"/>
                  </a:lnTo>
                  <a:cubicBezTo>
                    <a:pt x="3322" y="1894"/>
                    <a:pt x="3406" y="1811"/>
                    <a:pt x="3513" y="1811"/>
                  </a:cubicBezTo>
                  <a:lnTo>
                    <a:pt x="3656" y="1811"/>
                  </a:lnTo>
                  <a:cubicBezTo>
                    <a:pt x="3941" y="1811"/>
                    <a:pt x="4168" y="1584"/>
                    <a:pt x="4168" y="1311"/>
                  </a:cubicBezTo>
                  <a:lnTo>
                    <a:pt x="4168" y="930"/>
                  </a:lnTo>
                  <a:cubicBezTo>
                    <a:pt x="4168" y="596"/>
                    <a:pt x="4453" y="322"/>
                    <a:pt x="4775" y="322"/>
                  </a:cubicBezTo>
                  <a:close/>
                  <a:moveTo>
                    <a:pt x="9275" y="2239"/>
                  </a:moveTo>
                  <a:cubicBezTo>
                    <a:pt x="9585" y="2239"/>
                    <a:pt x="9847" y="2501"/>
                    <a:pt x="9847" y="2823"/>
                  </a:cubicBezTo>
                  <a:lnTo>
                    <a:pt x="9835" y="8633"/>
                  </a:lnTo>
                  <a:cubicBezTo>
                    <a:pt x="9835" y="8943"/>
                    <a:pt x="9585" y="9204"/>
                    <a:pt x="9252" y="9204"/>
                  </a:cubicBezTo>
                  <a:lnTo>
                    <a:pt x="881" y="9204"/>
                  </a:lnTo>
                  <a:cubicBezTo>
                    <a:pt x="560" y="9204"/>
                    <a:pt x="298" y="8954"/>
                    <a:pt x="298" y="8633"/>
                  </a:cubicBezTo>
                  <a:lnTo>
                    <a:pt x="298" y="2823"/>
                  </a:lnTo>
                  <a:cubicBezTo>
                    <a:pt x="298" y="2513"/>
                    <a:pt x="548" y="2239"/>
                    <a:pt x="881" y="2239"/>
                  </a:cubicBezTo>
                  <a:lnTo>
                    <a:pt x="2977" y="2239"/>
                  </a:lnTo>
                  <a:lnTo>
                    <a:pt x="2977" y="2775"/>
                  </a:lnTo>
                  <a:lnTo>
                    <a:pt x="1001" y="2775"/>
                  </a:lnTo>
                  <a:cubicBezTo>
                    <a:pt x="905" y="2775"/>
                    <a:pt x="834" y="2858"/>
                    <a:pt x="834" y="2942"/>
                  </a:cubicBezTo>
                  <a:lnTo>
                    <a:pt x="834" y="8514"/>
                  </a:lnTo>
                  <a:cubicBezTo>
                    <a:pt x="834" y="8597"/>
                    <a:pt x="905" y="8669"/>
                    <a:pt x="1001" y="8669"/>
                  </a:cubicBezTo>
                  <a:lnTo>
                    <a:pt x="6418" y="8669"/>
                  </a:lnTo>
                  <a:cubicBezTo>
                    <a:pt x="6501" y="8669"/>
                    <a:pt x="6573" y="8597"/>
                    <a:pt x="6573" y="8514"/>
                  </a:cubicBezTo>
                  <a:cubicBezTo>
                    <a:pt x="6573" y="8419"/>
                    <a:pt x="6501" y="8347"/>
                    <a:pt x="6418" y="8347"/>
                  </a:cubicBezTo>
                  <a:lnTo>
                    <a:pt x="1155" y="8347"/>
                  </a:lnTo>
                  <a:lnTo>
                    <a:pt x="1155" y="3108"/>
                  </a:lnTo>
                  <a:lnTo>
                    <a:pt x="2989" y="3108"/>
                  </a:lnTo>
                  <a:cubicBezTo>
                    <a:pt x="3037" y="3347"/>
                    <a:pt x="3239" y="3537"/>
                    <a:pt x="3501" y="3537"/>
                  </a:cubicBezTo>
                  <a:lnTo>
                    <a:pt x="6656" y="3537"/>
                  </a:lnTo>
                  <a:cubicBezTo>
                    <a:pt x="6906" y="3537"/>
                    <a:pt x="7108" y="3359"/>
                    <a:pt x="7156" y="3108"/>
                  </a:cubicBezTo>
                  <a:lnTo>
                    <a:pt x="8990" y="3108"/>
                  </a:lnTo>
                  <a:lnTo>
                    <a:pt x="8990" y="8347"/>
                  </a:lnTo>
                  <a:lnTo>
                    <a:pt x="7216" y="8347"/>
                  </a:lnTo>
                  <a:cubicBezTo>
                    <a:pt x="7132" y="8347"/>
                    <a:pt x="7049" y="8419"/>
                    <a:pt x="7049" y="8514"/>
                  </a:cubicBezTo>
                  <a:cubicBezTo>
                    <a:pt x="7049" y="8597"/>
                    <a:pt x="7132" y="8669"/>
                    <a:pt x="7216" y="8669"/>
                  </a:cubicBezTo>
                  <a:lnTo>
                    <a:pt x="9156" y="8669"/>
                  </a:lnTo>
                  <a:cubicBezTo>
                    <a:pt x="9240" y="8669"/>
                    <a:pt x="9311" y="8597"/>
                    <a:pt x="9311" y="8514"/>
                  </a:cubicBezTo>
                  <a:lnTo>
                    <a:pt x="9311" y="2942"/>
                  </a:lnTo>
                  <a:cubicBezTo>
                    <a:pt x="9311" y="2858"/>
                    <a:pt x="9240" y="2775"/>
                    <a:pt x="9156" y="2775"/>
                  </a:cubicBezTo>
                  <a:lnTo>
                    <a:pt x="7168" y="2775"/>
                  </a:lnTo>
                  <a:lnTo>
                    <a:pt x="7168" y="2239"/>
                  </a:lnTo>
                  <a:close/>
                  <a:moveTo>
                    <a:pt x="4787" y="1"/>
                  </a:moveTo>
                  <a:cubicBezTo>
                    <a:pt x="4275" y="1"/>
                    <a:pt x="3858" y="418"/>
                    <a:pt x="3858" y="930"/>
                  </a:cubicBezTo>
                  <a:lnTo>
                    <a:pt x="3858" y="1311"/>
                  </a:lnTo>
                  <a:cubicBezTo>
                    <a:pt x="3858" y="1406"/>
                    <a:pt x="3763" y="1501"/>
                    <a:pt x="3656" y="1501"/>
                  </a:cubicBezTo>
                  <a:lnTo>
                    <a:pt x="3513" y="1501"/>
                  </a:lnTo>
                  <a:cubicBezTo>
                    <a:pt x="3263" y="1501"/>
                    <a:pt x="3048" y="1680"/>
                    <a:pt x="3001" y="1930"/>
                  </a:cubicBezTo>
                  <a:lnTo>
                    <a:pt x="893" y="1930"/>
                  </a:lnTo>
                  <a:cubicBezTo>
                    <a:pt x="405" y="1930"/>
                    <a:pt x="0" y="2335"/>
                    <a:pt x="0" y="2823"/>
                  </a:cubicBezTo>
                  <a:lnTo>
                    <a:pt x="0" y="8633"/>
                  </a:lnTo>
                  <a:cubicBezTo>
                    <a:pt x="0" y="9121"/>
                    <a:pt x="405" y="9526"/>
                    <a:pt x="893" y="9526"/>
                  </a:cubicBezTo>
                  <a:lnTo>
                    <a:pt x="9263" y="9526"/>
                  </a:lnTo>
                  <a:cubicBezTo>
                    <a:pt x="9764" y="9526"/>
                    <a:pt x="10156" y="9121"/>
                    <a:pt x="10156" y="8633"/>
                  </a:cubicBezTo>
                  <a:lnTo>
                    <a:pt x="10156" y="2823"/>
                  </a:lnTo>
                  <a:cubicBezTo>
                    <a:pt x="10168" y="2335"/>
                    <a:pt x="9764" y="1930"/>
                    <a:pt x="9275" y="1930"/>
                  </a:cubicBezTo>
                  <a:lnTo>
                    <a:pt x="7156" y="1930"/>
                  </a:lnTo>
                  <a:cubicBezTo>
                    <a:pt x="7108" y="1692"/>
                    <a:pt x="6906" y="1501"/>
                    <a:pt x="6656" y="1501"/>
                  </a:cubicBezTo>
                  <a:lnTo>
                    <a:pt x="6501" y="1501"/>
                  </a:lnTo>
                  <a:cubicBezTo>
                    <a:pt x="6394" y="1501"/>
                    <a:pt x="6311" y="1406"/>
                    <a:pt x="6311" y="1311"/>
                  </a:cubicBezTo>
                  <a:lnTo>
                    <a:pt x="6311" y="930"/>
                  </a:lnTo>
                  <a:cubicBezTo>
                    <a:pt x="6311" y="418"/>
                    <a:pt x="5894" y="1"/>
                    <a:pt x="53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1341;p60">
              <a:extLst>
                <a:ext uri="{FF2B5EF4-FFF2-40B4-BE49-F238E27FC236}">
                  <a16:creationId xmlns:a16="http://schemas.microsoft.com/office/drawing/2014/main" id="{25B5613B-5590-5D1D-6AD2-6A84CAF12ACB}"/>
                </a:ext>
              </a:extLst>
            </p:cNvPr>
            <p:cNvSpPr/>
            <p:nvPr/>
          </p:nvSpPr>
          <p:spPr>
            <a:xfrm>
              <a:off x="8148997" y="3444247"/>
              <a:ext cx="37907" cy="37938"/>
            </a:xfrm>
            <a:custGeom>
              <a:avLst/>
              <a:gdLst/>
              <a:ahLst/>
              <a:cxnLst/>
              <a:rect l="l" t="t" r="r" b="b"/>
              <a:pathLst>
                <a:path w="1191" h="1192" extrusionOk="0">
                  <a:moveTo>
                    <a:pt x="595" y="334"/>
                  </a:moveTo>
                  <a:cubicBezTo>
                    <a:pt x="750" y="334"/>
                    <a:pt x="869" y="453"/>
                    <a:pt x="869" y="596"/>
                  </a:cubicBezTo>
                  <a:cubicBezTo>
                    <a:pt x="869" y="751"/>
                    <a:pt x="750" y="870"/>
                    <a:pt x="595" y="870"/>
                  </a:cubicBezTo>
                  <a:cubicBezTo>
                    <a:pt x="453" y="870"/>
                    <a:pt x="334" y="751"/>
                    <a:pt x="334" y="596"/>
                  </a:cubicBezTo>
                  <a:cubicBezTo>
                    <a:pt x="334" y="453"/>
                    <a:pt x="453" y="334"/>
                    <a:pt x="595" y="334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342;p60">
              <a:extLst>
                <a:ext uri="{FF2B5EF4-FFF2-40B4-BE49-F238E27FC236}">
                  <a16:creationId xmlns:a16="http://schemas.microsoft.com/office/drawing/2014/main" id="{4A7386D7-BE5F-3D30-BF6C-FD6B99B152DA}"/>
                </a:ext>
              </a:extLst>
            </p:cNvPr>
            <p:cNvSpPr/>
            <p:nvPr/>
          </p:nvSpPr>
          <p:spPr>
            <a:xfrm>
              <a:off x="8089861" y="3526871"/>
              <a:ext cx="165630" cy="104617"/>
            </a:xfrm>
            <a:custGeom>
              <a:avLst/>
              <a:gdLst/>
              <a:ahLst/>
              <a:cxnLst/>
              <a:rect l="l" t="t" r="r" b="b"/>
              <a:pathLst>
                <a:path w="5204" h="3287" extrusionOk="0">
                  <a:moveTo>
                    <a:pt x="739" y="2024"/>
                  </a:moveTo>
                  <a:cubicBezTo>
                    <a:pt x="1001" y="2024"/>
                    <a:pt x="1215" y="2250"/>
                    <a:pt x="1215" y="2500"/>
                  </a:cubicBezTo>
                  <a:cubicBezTo>
                    <a:pt x="1239" y="2762"/>
                    <a:pt x="1013" y="2977"/>
                    <a:pt x="739" y="2977"/>
                  </a:cubicBezTo>
                  <a:cubicBezTo>
                    <a:pt x="477" y="2977"/>
                    <a:pt x="263" y="2750"/>
                    <a:pt x="263" y="2500"/>
                  </a:cubicBezTo>
                  <a:cubicBezTo>
                    <a:pt x="263" y="2227"/>
                    <a:pt x="489" y="2024"/>
                    <a:pt x="739" y="2024"/>
                  </a:cubicBezTo>
                  <a:close/>
                  <a:moveTo>
                    <a:pt x="4823" y="0"/>
                  </a:moveTo>
                  <a:cubicBezTo>
                    <a:pt x="4823" y="0"/>
                    <a:pt x="4811" y="0"/>
                    <a:pt x="4811" y="12"/>
                  </a:cubicBezTo>
                  <a:lnTo>
                    <a:pt x="4370" y="226"/>
                  </a:lnTo>
                  <a:cubicBezTo>
                    <a:pt x="4299" y="262"/>
                    <a:pt x="4275" y="357"/>
                    <a:pt x="4299" y="429"/>
                  </a:cubicBezTo>
                  <a:cubicBezTo>
                    <a:pt x="4334" y="481"/>
                    <a:pt x="4388" y="514"/>
                    <a:pt x="4447" y="514"/>
                  </a:cubicBezTo>
                  <a:cubicBezTo>
                    <a:pt x="4469" y="514"/>
                    <a:pt x="4491" y="510"/>
                    <a:pt x="4513" y="500"/>
                  </a:cubicBezTo>
                  <a:lnTo>
                    <a:pt x="4632" y="441"/>
                  </a:lnTo>
                  <a:lnTo>
                    <a:pt x="4632" y="441"/>
                  </a:lnTo>
                  <a:cubicBezTo>
                    <a:pt x="4418" y="1143"/>
                    <a:pt x="4049" y="1667"/>
                    <a:pt x="3537" y="1988"/>
                  </a:cubicBezTo>
                  <a:cubicBezTo>
                    <a:pt x="3037" y="2306"/>
                    <a:pt x="2479" y="2385"/>
                    <a:pt x="2070" y="2385"/>
                  </a:cubicBezTo>
                  <a:cubicBezTo>
                    <a:pt x="1866" y="2385"/>
                    <a:pt x="1699" y="2365"/>
                    <a:pt x="1596" y="2346"/>
                  </a:cubicBezTo>
                  <a:cubicBezTo>
                    <a:pt x="1537" y="1977"/>
                    <a:pt x="1191" y="1679"/>
                    <a:pt x="799" y="1679"/>
                  </a:cubicBezTo>
                  <a:cubicBezTo>
                    <a:pt x="358" y="1679"/>
                    <a:pt x="1" y="2036"/>
                    <a:pt x="1" y="2477"/>
                  </a:cubicBezTo>
                  <a:cubicBezTo>
                    <a:pt x="1" y="2929"/>
                    <a:pt x="358" y="3286"/>
                    <a:pt x="799" y="3286"/>
                  </a:cubicBezTo>
                  <a:cubicBezTo>
                    <a:pt x="1180" y="3286"/>
                    <a:pt x="1501" y="3012"/>
                    <a:pt x="1572" y="2679"/>
                  </a:cubicBezTo>
                  <a:cubicBezTo>
                    <a:pt x="1691" y="2691"/>
                    <a:pt x="1858" y="2703"/>
                    <a:pt x="2049" y="2703"/>
                  </a:cubicBezTo>
                  <a:cubicBezTo>
                    <a:pt x="2501" y="2703"/>
                    <a:pt x="3120" y="2619"/>
                    <a:pt x="3692" y="2262"/>
                  </a:cubicBezTo>
                  <a:cubicBezTo>
                    <a:pt x="4251" y="1905"/>
                    <a:pt x="4656" y="1334"/>
                    <a:pt x="4894" y="595"/>
                  </a:cubicBezTo>
                  <a:lnTo>
                    <a:pt x="4930" y="631"/>
                  </a:lnTo>
                  <a:cubicBezTo>
                    <a:pt x="4954" y="691"/>
                    <a:pt x="5013" y="726"/>
                    <a:pt x="5073" y="726"/>
                  </a:cubicBezTo>
                  <a:cubicBezTo>
                    <a:pt x="5109" y="726"/>
                    <a:pt x="5120" y="726"/>
                    <a:pt x="5144" y="714"/>
                  </a:cubicBezTo>
                  <a:cubicBezTo>
                    <a:pt x="5180" y="679"/>
                    <a:pt x="5204" y="584"/>
                    <a:pt x="5180" y="500"/>
                  </a:cubicBezTo>
                  <a:lnTo>
                    <a:pt x="4966" y="72"/>
                  </a:lnTo>
                  <a:cubicBezTo>
                    <a:pt x="4966" y="72"/>
                    <a:pt x="4966" y="60"/>
                    <a:pt x="4954" y="60"/>
                  </a:cubicBezTo>
                  <a:lnTo>
                    <a:pt x="4930" y="24"/>
                  </a:lnTo>
                  <a:lnTo>
                    <a:pt x="4906" y="12"/>
                  </a:lnTo>
                  <a:cubicBezTo>
                    <a:pt x="4906" y="12"/>
                    <a:pt x="4894" y="12"/>
                    <a:pt x="489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343;p60">
              <a:extLst>
                <a:ext uri="{FF2B5EF4-FFF2-40B4-BE49-F238E27FC236}">
                  <a16:creationId xmlns:a16="http://schemas.microsoft.com/office/drawing/2014/main" id="{E55DF5A3-998A-644E-FE5A-941D2EC4BA34}"/>
                </a:ext>
              </a:extLst>
            </p:cNvPr>
            <p:cNvSpPr/>
            <p:nvPr/>
          </p:nvSpPr>
          <p:spPr>
            <a:xfrm>
              <a:off x="8067519" y="3519742"/>
              <a:ext cx="32241" cy="30268"/>
            </a:xfrm>
            <a:custGeom>
              <a:avLst/>
              <a:gdLst/>
              <a:ahLst/>
              <a:cxnLst/>
              <a:rect l="l" t="t" r="r" b="b"/>
              <a:pathLst>
                <a:path w="1013" h="951" extrusionOk="0">
                  <a:moveTo>
                    <a:pt x="173" y="1"/>
                  </a:moveTo>
                  <a:cubicBezTo>
                    <a:pt x="131" y="1"/>
                    <a:pt x="90" y="16"/>
                    <a:pt x="60" y="46"/>
                  </a:cubicBezTo>
                  <a:cubicBezTo>
                    <a:pt x="0" y="105"/>
                    <a:pt x="0" y="212"/>
                    <a:pt x="60" y="272"/>
                  </a:cubicBezTo>
                  <a:lnTo>
                    <a:pt x="274" y="474"/>
                  </a:lnTo>
                  <a:lnTo>
                    <a:pt x="60" y="688"/>
                  </a:lnTo>
                  <a:cubicBezTo>
                    <a:pt x="0" y="748"/>
                    <a:pt x="0" y="843"/>
                    <a:pt x="60" y="903"/>
                  </a:cubicBezTo>
                  <a:cubicBezTo>
                    <a:pt x="96" y="938"/>
                    <a:pt x="131" y="950"/>
                    <a:pt x="179" y="950"/>
                  </a:cubicBezTo>
                  <a:cubicBezTo>
                    <a:pt x="227" y="950"/>
                    <a:pt x="274" y="938"/>
                    <a:pt x="298" y="903"/>
                  </a:cubicBezTo>
                  <a:lnTo>
                    <a:pt x="512" y="700"/>
                  </a:lnTo>
                  <a:lnTo>
                    <a:pt x="715" y="903"/>
                  </a:lnTo>
                  <a:cubicBezTo>
                    <a:pt x="750" y="938"/>
                    <a:pt x="786" y="950"/>
                    <a:pt x="834" y="950"/>
                  </a:cubicBezTo>
                  <a:cubicBezTo>
                    <a:pt x="881" y="950"/>
                    <a:pt x="929" y="938"/>
                    <a:pt x="953" y="903"/>
                  </a:cubicBezTo>
                  <a:cubicBezTo>
                    <a:pt x="1012" y="843"/>
                    <a:pt x="1012" y="748"/>
                    <a:pt x="953" y="688"/>
                  </a:cubicBezTo>
                  <a:lnTo>
                    <a:pt x="715" y="474"/>
                  </a:lnTo>
                  <a:lnTo>
                    <a:pt x="929" y="272"/>
                  </a:lnTo>
                  <a:cubicBezTo>
                    <a:pt x="989" y="212"/>
                    <a:pt x="989" y="105"/>
                    <a:pt x="929" y="46"/>
                  </a:cubicBezTo>
                  <a:cubicBezTo>
                    <a:pt x="899" y="16"/>
                    <a:pt x="858" y="1"/>
                    <a:pt x="816" y="1"/>
                  </a:cubicBezTo>
                  <a:cubicBezTo>
                    <a:pt x="774" y="1"/>
                    <a:pt x="733" y="16"/>
                    <a:pt x="703" y="46"/>
                  </a:cubicBezTo>
                  <a:lnTo>
                    <a:pt x="488" y="248"/>
                  </a:lnTo>
                  <a:lnTo>
                    <a:pt x="286" y="46"/>
                  </a:lnTo>
                  <a:cubicBezTo>
                    <a:pt x="256" y="16"/>
                    <a:pt x="215" y="1"/>
                    <a:pt x="17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344;p60">
              <a:extLst>
                <a:ext uri="{FF2B5EF4-FFF2-40B4-BE49-F238E27FC236}">
                  <a16:creationId xmlns:a16="http://schemas.microsoft.com/office/drawing/2014/main" id="{EDF02522-92EE-C7B9-1923-42B8B22FA363}"/>
                </a:ext>
              </a:extLst>
            </p:cNvPr>
            <p:cNvSpPr/>
            <p:nvPr/>
          </p:nvSpPr>
          <p:spPr>
            <a:xfrm>
              <a:off x="8244479" y="3601602"/>
              <a:ext cx="32623" cy="30268"/>
            </a:xfrm>
            <a:custGeom>
              <a:avLst/>
              <a:gdLst/>
              <a:ahLst/>
              <a:cxnLst/>
              <a:rect l="l" t="t" r="r" b="b"/>
              <a:pathLst>
                <a:path w="1025" h="951" extrusionOk="0">
                  <a:moveTo>
                    <a:pt x="179" y="1"/>
                  </a:moveTo>
                  <a:cubicBezTo>
                    <a:pt x="140" y="1"/>
                    <a:pt x="102" y="15"/>
                    <a:pt x="72" y="45"/>
                  </a:cubicBezTo>
                  <a:cubicBezTo>
                    <a:pt x="1" y="105"/>
                    <a:pt x="1" y="212"/>
                    <a:pt x="72" y="271"/>
                  </a:cubicBezTo>
                  <a:lnTo>
                    <a:pt x="274" y="474"/>
                  </a:lnTo>
                  <a:lnTo>
                    <a:pt x="72" y="688"/>
                  </a:lnTo>
                  <a:cubicBezTo>
                    <a:pt x="1" y="748"/>
                    <a:pt x="1" y="855"/>
                    <a:pt x="72" y="914"/>
                  </a:cubicBezTo>
                  <a:cubicBezTo>
                    <a:pt x="96" y="938"/>
                    <a:pt x="143" y="950"/>
                    <a:pt x="179" y="950"/>
                  </a:cubicBezTo>
                  <a:cubicBezTo>
                    <a:pt x="227" y="950"/>
                    <a:pt x="274" y="938"/>
                    <a:pt x="298" y="914"/>
                  </a:cubicBezTo>
                  <a:lnTo>
                    <a:pt x="513" y="700"/>
                  </a:lnTo>
                  <a:lnTo>
                    <a:pt x="727" y="914"/>
                  </a:lnTo>
                  <a:cubicBezTo>
                    <a:pt x="751" y="938"/>
                    <a:pt x="798" y="950"/>
                    <a:pt x="846" y="950"/>
                  </a:cubicBezTo>
                  <a:cubicBezTo>
                    <a:pt x="882" y="950"/>
                    <a:pt x="929" y="938"/>
                    <a:pt x="965" y="914"/>
                  </a:cubicBezTo>
                  <a:cubicBezTo>
                    <a:pt x="1024" y="855"/>
                    <a:pt x="1024" y="748"/>
                    <a:pt x="965" y="688"/>
                  </a:cubicBezTo>
                  <a:lnTo>
                    <a:pt x="727" y="474"/>
                  </a:lnTo>
                  <a:lnTo>
                    <a:pt x="929" y="271"/>
                  </a:lnTo>
                  <a:cubicBezTo>
                    <a:pt x="989" y="212"/>
                    <a:pt x="989" y="105"/>
                    <a:pt x="929" y="45"/>
                  </a:cubicBezTo>
                  <a:cubicBezTo>
                    <a:pt x="899" y="15"/>
                    <a:pt x="858" y="1"/>
                    <a:pt x="816" y="1"/>
                  </a:cubicBezTo>
                  <a:cubicBezTo>
                    <a:pt x="774" y="1"/>
                    <a:pt x="733" y="15"/>
                    <a:pt x="703" y="45"/>
                  </a:cubicBezTo>
                  <a:lnTo>
                    <a:pt x="501" y="260"/>
                  </a:lnTo>
                  <a:lnTo>
                    <a:pt x="286" y="45"/>
                  </a:lnTo>
                  <a:cubicBezTo>
                    <a:pt x="257" y="15"/>
                    <a:pt x="218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345;p60">
              <a:extLst>
                <a:ext uri="{FF2B5EF4-FFF2-40B4-BE49-F238E27FC236}">
                  <a16:creationId xmlns:a16="http://schemas.microsoft.com/office/drawing/2014/main" id="{005C15E8-D35B-2F07-4485-7E195994AE8B}"/>
                </a:ext>
              </a:extLst>
            </p:cNvPr>
            <p:cNvSpPr/>
            <p:nvPr/>
          </p:nvSpPr>
          <p:spPr>
            <a:xfrm>
              <a:off x="8156190" y="3533396"/>
              <a:ext cx="32241" cy="30236"/>
            </a:xfrm>
            <a:custGeom>
              <a:avLst/>
              <a:gdLst/>
              <a:ahLst/>
              <a:cxnLst/>
              <a:rect l="l" t="t" r="r" b="b"/>
              <a:pathLst>
                <a:path w="1013" h="950" extrusionOk="0">
                  <a:moveTo>
                    <a:pt x="167" y="0"/>
                  </a:moveTo>
                  <a:cubicBezTo>
                    <a:pt x="128" y="0"/>
                    <a:pt x="90" y="15"/>
                    <a:pt x="60" y="45"/>
                  </a:cubicBezTo>
                  <a:cubicBezTo>
                    <a:pt x="0" y="105"/>
                    <a:pt x="0" y="212"/>
                    <a:pt x="60" y="271"/>
                  </a:cubicBezTo>
                  <a:lnTo>
                    <a:pt x="262" y="474"/>
                  </a:lnTo>
                  <a:lnTo>
                    <a:pt x="60" y="688"/>
                  </a:lnTo>
                  <a:cubicBezTo>
                    <a:pt x="0" y="748"/>
                    <a:pt x="0" y="855"/>
                    <a:pt x="60" y="914"/>
                  </a:cubicBezTo>
                  <a:cubicBezTo>
                    <a:pt x="84" y="938"/>
                    <a:pt x="131" y="950"/>
                    <a:pt x="179" y="950"/>
                  </a:cubicBezTo>
                  <a:cubicBezTo>
                    <a:pt x="215" y="950"/>
                    <a:pt x="262" y="938"/>
                    <a:pt x="298" y="914"/>
                  </a:cubicBezTo>
                  <a:lnTo>
                    <a:pt x="500" y="700"/>
                  </a:lnTo>
                  <a:lnTo>
                    <a:pt x="715" y="914"/>
                  </a:lnTo>
                  <a:cubicBezTo>
                    <a:pt x="739" y="938"/>
                    <a:pt x="786" y="950"/>
                    <a:pt x="834" y="950"/>
                  </a:cubicBezTo>
                  <a:cubicBezTo>
                    <a:pt x="870" y="950"/>
                    <a:pt x="917" y="938"/>
                    <a:pt x="953" y="914"/>
                  </a:cubicBezTo>
                  <a:cubicBezTo>
                    <a:pt x="1012" y="855"/>
                    <a:pt x="1012" y="748"/>
                    <a:pt x="953" y="688"/>
                  </a:cubicBezTo>
                  <a:lnTo>
                    <a:pt x="715" y="474"/>
                  </a:lnTo>
                  <a:lnTo>
                    <a:pt x="917" y="271"/>
                  </a:lnTo>
                  <a:cubicBezTo>
                    <a:pt x="977" y="212"/>
                    <a:pt x="977" y="105"/>
                    <a:pt x="917" y="45"/>
                  </a:cubicBezTo>
                  <a:cubicBezTo>
                    <a:pt x="887" y="15"/>
                    <a:pt x="849" y="0"/>
                    <a:pt x="810" y="0"/>
                  </a:cubicBezTo>
                  <a:cubicBezTo>
                    <a:pt x="771" y="0"/>
                    <a:pt x="733" y="15"/>
                    <a:pt x="703" y="45"/>
                  </a:cubicBezTo>
                  <a:lnTo>
                    <a:pt x="489" y="259"/>
                  </a:lnTo>
                  <a:lnTo>
                    <a:pt x="274" y="45"/>
                  </a:lnTo>
                  <a:cubicBezTo>
                    <a:pt x="244" y="15"/>
                    <a:pt x="206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10110;p58">
            <a:extLst>
              <a:ext uri="{FF2B5EF4-FFF2-40B4-BE49-F238E27FC236}">
                <a16:creationId xmlns:a16="http://schemas.microsoft.com/office/drawing/2014/main" id="{4E8A3C3A-A09D-A039-7592-2C564E1BB242}"/>
              </a:ext>
            </a:extLst>
          </p:cNvPr>
          <p:cNvGrpSpPr/>
          <p:nvPr/>
        </p:nvGrpSpPr>
        <p:grpSpPr>
          <a:xfrm>
            <a:off x="4319052" y="3896685"/>
            <a:ext cx="505679" cy="411736"/>
            <a:chOff x="7390435" y="3680868"/>
            <a:chExt cx="372073" cy="355243"/>
          </a:xfrm>
        </p:grpSpPr>
        <p:sp>
          <p:nvSpPr>
            <p:cNvPr id="12" name="Google Shape;10111;p58">
              <a:extLst>
                <a:ext uri="{FF2B5EF4-FFF2-40B4-BE49-F238E27FC236}">
                  <a16:creationId xmlns:a16="http://schemas.microsoft.com/office/drawing/2014/main" id="{520FC749-D407-4F49-FAF5-7C2161D70AC6}"/>
                </a:ext>
              </a:extLst>
            </p:cNvPr>
            <p:cNvSpPr/>
            <p:nvPr/>
          </p:nvSpPr>
          <p:spPr>
            <a:xfrm>
              <a:off x="7390435" y="3744950"/>
              <a:ext cx="294178" cy="291162"/>
            </a:xfrm>
            <a:custGeom>
              <a:avLst/>
              <a:gdLst/>
              <a:ahLst/>
              <a:cxnLst/>
              <a:rect l="l" t="t" r="r" b="b"/>
              <a:pathLst>
                <a:path w="9264" h="9169" extrusionOk="0">
                  <a:moveTo>
                    <a:pt x="4668" y="0"/>
                  </a:moveTo>
                  <a:cubicBezTo>
                    <a:pt x="3441" y="0"/>
                    <a:pt x="2287" y="477"/>
                    <a:pt x="1417" y="1334"/>
                  </a:cubicBezTo>
                  <a:cubicBezTo>
                    <a:pt x="1358" y="1393"/>
                    <a:pt x="1358" y="1501"/>
                    <a:pt x="1417" y="1572"/>
                  </a:cubicBezTo>
                  <a:cubicBezTo>
                    <a:pt x="1447" y="1602"/>
                    <a:pt x="1489" y="1617"/>
                    <a:pt x="1532" y="1617"/>
                  </a:cubicBezTo>
                  <a:cubicBezTo>
                    <a:pt x="1575" y="1617"/>
                    <a:pt x="1620" y="1602"/>
                    <a:pt x="1655" y="1572"/>
                  </a:cubicBezTo>
                  <a:cubicBezTo>
                    <a:pt x="2465" y="774"/>
                    <a:pt x="3537" y="322"/>
                    <a:pt x="4668" y="322"/>
                  </a:cubicBezTo>
                  <a:cubicBezTo>
                    <a:pt x="5799" y="322"/>
                    <a:pt x="6870" y="774"/>
                    <a:pt x="7668" y="1572"/>
                  </a:cubicBezTo>
                  <a:cubicBezTo>
                    <a:pt x="8478" y="2382"/>
                    <a:pt x="8918" y="3453"/>
                    <a:pt x="8918" y="4584"/>
                  </a:cubicBezTo>
                  <a:cubicBezTo>
                    <a:pt x="8918" y="5715"/>
                    <a:pt x="8478" y="6787"/>
                    <a:pt x="7668" y="7585"/>
                  </a:cubicBezTo>
                  <a:cubicBezTo>
                    <a:pt x="6841" y="8412"/>
                    <a:pt x="5751" y="8826"/>
                    <a:pt x="4662" y="8826"/>
                  </a:cubicBezTo>
                  <a:cubicBezTo>
                    <a:pt x="3572" y="8826"/>
                    <a:pt x="2483" y="8412"/>
                    <a:pt x="1655" y="7585"/>
                  </a:cubicBezTo>
                  <a:cubicBezTo>
                    <a:pt x="953" y="6882"/>
                    <a:pt x="524" y="5965"/>
                    <a:pt x="441" y="4977"/>
                  </a:cubicBezTo>
                  <a:cubicBezTo>
                    <a:pt x="346" y="4013"/>
                    <a:pt x="596" y="3037"/>
                    <a:pt x="1132" y="2227"/>
                  </a:cubicBezTo>
                  <a:cubicBezTo>
                    <a:pt x="1179" y="2155"/>
                    <a:pt x="1167" y="2048"/>
                    <a:pt x="1096" y="1989"/>
                  </a:cubicBezTo>
                  <a:cubicBezTo>
                    <a:pt x="1066" y="1972"/>
                    <a:pt x="1035" y="1964"/>
                    <a:pt x="1005" y="1964"/>
                  </a:cubicBezTo>
                  <a:cubicBezTo>
                    <a:pt x="950" y="1964"/>
                    <a:pt x="896" y="1990"/>
                    <a:pt x="858" y="2036"/>
                  </a:cubicBezTo>
                  <a:cubicBezTo>
                    <a:pt x="274" y="2894"/>
                    <a:pt x="1" y="3953"/>
                    <a:pt x="108" y="5013"/>
                  </a:cubicBezTo>
                  <a:cubicBezTo>
                    <a:pt x="215" y="6073"/>
                    <a:pt x="679" y="7085"/>
                    <a:pt x="1429" y="7823"/>
                  </a:cubicBezTo>
                  <a:cubicBezTo>
                    <a:pt x="2322" y="8716"/>
                    <a:pt x="3501" y="9168"/>
                    <a:pt x="4680" y="9168"/>
                  </a:cubicBezTo>
                  <a:cubicBezTo>
                    <a:pt x="5858" y="9168"/>
                    <a:pt x="7025" y="8716"/>
                    <a:pt x="7918" y="7823"/>
                  </a:cubicBezTo>
                  <a:cubicBezTo>
                    <a:pt x="8787" y="6966"/>
                    <a:pt x="9264" y="5799"/>
                    <a:pt x="9264" y="4584"/>
                  </a:cubicBezTo>
                  <a:cubicBezTo>
                    <a:pt x="9264" y="3358"/>
                    <a:pt x="8787" y="2203"/>
                    <a:pt x="7906" y="1334"/>
                  </a:cubicBezTo>
                  <a:cubicBezTo>
                    <a:pt x="7049" y="477"/>
                    <a:pt x="5882" y="0"/>
                    <a:pt x="46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112;p58">
              <a:extLst>
                <a:ext uri="{FF2B5EF4-FFF2-40B4-BE49-F238E27FC236}">
                  <a16:creationId xmlns:a16="http://schemas.microsoft.com/office/drawing/2014/main" id="{E0E91F71-88F6-475E-DC8B-509414213CE2}"/>
                </a:ext>
              </a:extLst>
            </p:cNvPr>
            <p:cNvSpPr/>
            <p:nvPr/>
          </p:nvSpPr>
          <p:spPr>
            <a:xfrm>
              <a:off x="7408948" y="3772259"/>
              <a:ext cx="259407" cy="236257"/>
            </a:xfrm>
            <a:custGeom>
              <a:avLst/>
              <a:gdLst/>
              <a:ahLst/>
              <a:cxnLst/>
              <a:rect l="l" t="t" r="r" b="b"/>
              <a:pathLst>
                <a:path w="8169" h="7440" extrusionOk="0">
                  <a:moveTo>
                    <a:pt x="4085" y="319"/>
                  </a:moveTo>
                  <a:cubicBezTo>
                    <a:pt x="4942" y="319"/>
                    <a:pt x="5823" y="653"/>
                    <a:pt x="6478" y="1319"/>
                  </a:cubicBezTo>
                  <a:cubicBezTo>
                    <a:pt x="7800" y="2653"/>
                    <a:pt x="7800" y="4796"/>
                    <a:pt x="6478" y="6117"/>
                  </a:cubicBezTo>
                  <a:cubicBezTo>
                    <a:pt x="5817" y="6778"/>
                    <a:pt x="4951" y="7109"/>
                    <a:pt x="4083" y="7109"/>
                  </a:cubicBezTo>
                  <a:cubicBezTo>
                    <a:pt x="3216" y="7109"/>
                    <a:pt x="2346" y="6778"/>
                    <a:pt x="1680" y="6117"/>
                  </a:cubicBezTo>
                  <a:cubicBezTo>
                    <a:pt x="358" y="4796"/>
                    <a:pt x="358" y="2653"/>
                    <a:pt x="1680" y="1319"/>
                  </a:cubicBezTo>
                  <a:cubicBezTo>
                    <a:pt x="2335" y="664"/>
                    <a:pt x="3216" y="319"/>
                    <a:pt x="4085" y="319"/>
                  </a:cubicBezTo>
                  <a:close/>
                  <a:moveTo>
                    <a:pt x="4088" y="1"/>
                  </a:moveTo>
                  <a:cubicBezTo>
                    <a:pt x="3132" y="1"/>
                    <a:pt x="2174" y="361"/>
                    <a:pt x="1442" y="1081"/>
                  </a:cubicBezTo>
                  <a:cubicBezTo>
                    <a:pt x="1" y="2534"/>
                    <a:pt x="1" y="4891"/>
                    <a:pt x="1442" y="6356"/>
                  </a:cubicBezTo>
                  <a:cubicBezTo>
                    <a:pt x="2180" y="7082"/>
                    <a:pt x="3120" y="7439"/>
                    <a:pt x="4085" y="7439"/>
                  </a:cubicBezTo>
                  <a:cubicBezTo>
                    <a:pt x="5037" y="7439"/>
                    <a:pt x="5978" y="7082"/>
                    <a:pt x="6716" y="6356"/>
                  </a:cubicBezTo>
                  <a:cubicBezTo>
                    <a:pt x="8169" y="4891"/>
                    <a:pt x="8169" y="2546"/>
                    <a:pt x="6716" y="1081"/>
                  </a:cubicBezTo>
                  <a:cubicBezTo>
                    <a:pt x="5996" y="361"/>
                    <a:pt x="5043" y="1"/>
                    <a:pt x="408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113;p58">
              <a:extLst>
                <a:ext uri="{FF2B5EF4-FFF2-40B4-BE49-F238E27FC236}">
                  <a16:creationId xmlns:a16="http://schemas.microsoft.com/office/drawing/2014/main" id="{98A05C4E-5C27-FF12-7C7C-019F06C15A41}"/>
                </a:ext>
              </a:extLst>
            </p:cNvPr>
            <p:cNvSpPr/>
            <p:nvPr/>
          </p:nvSpPr>
          <p:spPr>
            <a:xfrm>
              <a:off x="7487986" y="3680868"/>
              <a:ext cx="274522" cy="259565"/>
            </a:xfrm>
            <a:custGeom>
              <a:avLst/>
              <a:gdLst/>
              <a:ahLst/>
              <a:cxnLst/>
              <a:rect l="l" t="t" r="r" b="b"/>
              <a:pathLst>
                <a:path w="8645" h="8174" extrusionOk="0">
                  <a:moveTo>
                    <a:pt x="3614" y="0"/>
                  </a:moveTo>
                  <a:cubicBezTo>
                    <a:pt x="2438" y="0"/>
                    <a:pt x="1262" y="447"/>
                    <a:pt x="369" y="1340"/>
                  </a:cubicBezTo>
                  <a:cubicBezTo>
                    <a:pt x="262" y="1447"/>
                    <a:pt x="167" y="1566"/>
                    <a:pt x="60" y="1685"/>
                  </a:cubicBezTo>
                  <a:cubicBezTo>
                    <a:pt x="0" y="1756"/>
                    <a:pt x="12" y="1864"/>
                    <a:pt x="84" y="1923"/>
                  </a:cubicBezTo>
                  <a:cubicBezTo>
                    <a:pt x="118" y="1948"/>
                    <a:pt x="155" y="1960"/>
                    <a:pt x="191" y="1960"/>
                  </a:cubicBezTo>
                  <a:cubicBezTo>
                    <a:pt x="240" y="1960"/>
                    <a:pt x="287" y="1936"/>
                    <a:pt x="322" y="1887"/>
                  </a:cubicBezTo>
                  <a:cubicBezTo>
                    <a:pt x="417" y="1792"/>
                    <a:pt x="500" y="1685"/>
                    <a:pt x="608" y="1578"/>
                  </a:cubicBezTo>
                  <a:cubicBezTo>
                    <a:pt x="1435" y="750"/>
                    <a:pt x="2524" y="337"/>
                    <a:pt x="3614" y="337"/>
                  </a:cubicBezTo>
                  <a:cubicBezTo>
                    <a:pt x="4703" y="337"/>
                    <a:pt x="5793" y="750"/>
                    <a:pt x="6620" y="1578"/>
                  </a:cubicBezTo>
                  <a:cubicBezTo>
                    <a:pt x="8275" y="3233"/>
                    <a:pt x="8275" y="5936"/>
                    <a:pt x="6620" y="7591"/>
                  </a:cubicBezTo>
                  <a:cubicBezTo>
                    <a:pt x="6513" y="7698"/>
                    <a:pt x="6418" y="7781"/>
                    <a:pt x="6311" y="7876"/>
                  </a:cubicBezTo>
                  <a:cubicBezTo>
                    <a:pt x="6239" y="7936"/>
                    <a:pt x="6215" y="8043"/>
                    <a:pt x="6275" y="8114"/>
                  </a:cubicBezTo>
                  <a:cubicBezTo>
                    <a:pt x="6311" y="8162"/>
                    <a:pt x="6358" y="8174"/>
                    <a:pt x="6418" y="8174"/>
                  </a:cubicBezTo>
                  <a:cubicBezTo>
                    <a:pt x="6454" y="8174"/>
                    <a:pt x="6489" y="8162"/>
                    <a:pt x="6513" y="8126"/>
                  </a:cubicBezTo>
                  <a:cubicBezTo>
                    <a:pt x="6632" y="8043"/>
                    <a:pt x="6751" y="7936"/>
                    <a:pt x="6858" y="7817"/>
                  </a:cubicBezTo>
                  <a:cubicBezTo>
                    <a:pt x="8644" y="6031"/>
                    <a:pt x="8644" y="3126"/>
                    <a:pt x="6858" y="1340"/>
                  </a:cubicBezTo>
                  <a:cubicBezTo>
                    <a:pt x="5965" y="447"/>
                    <a:pt x="4790" y="0"/>
                    <a:pt x="36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114;p58">
              <a:extLst>
                <a:ext uri="{FF2B5EF4-FFF2-40B4-BE49-F238E27FC236}">
                  <a16:creationId xmlns:a16="http://schemas.microsoft.com/office/drawing/2014/main" id="{73E78249-7B11-2736-FFA2-724BD405D024}"/>
                </a:ext>
              </a:extLst>
            </p:cNvPr>
            <p:cNvSpPr/>
            <p:nvPr/>
          </p:nvSpPr>
          <p:spPr>
            <a:xfrm>
              <a:off x="7691758" y="3789502"/>
              <a:ext cx="34073" cy="102918"/>
            </a:xfrm>
            <a:custGeom>
              <a:avLst/>
              <a:gdLst/>
              <a:ahLst/>
              <a:cxnLst/>
              <a:rect l="l" t="t" r="r" b="b"/>
              <a:pathLst>
                <a:path w="1073" h="3241" extrusionOk="0">
                  <a:moveTo>
                    <a:pt x="589" y="1"/>
                  </a:moveTo>
                  <a:cubicBezTo>
                    <a:pt x="580" y="1"/>
                    <a:pt x="570" y="1"/>
                    <a:pt x="560" y="2"/>
                  </a:cubicBezTo>
                  <a:cubicBezTo>
                    <a:pt x="477" y="38"/>
                    <a:pt x="429" y="121"/>
                    <a:pt x="441" y="217"/>
                  </a:cubicBezTo>
                  <a:cubicBezTo>
                    <a:pt x="715" y="1157"/>
                    <a:pt x="560" y="2145"/>
                    <a:pt x="37" y="2967"/>
                  </a:cubicBezTo>
                  <a:cubicBezTo>
                    <a:pt x="1" y="3038"/>
                    <a:pt x="13" y="3146"/>
                    <a:pt x="84" y="3205"/>
                  </a:cubicBezTo>
                  <a:cubicBezTo>
                    <a:pt x="120" y="3217"/>
                    <a:pt x="144" y="3241"/>
                    <a:pt x="167" y="3241"/>
                  </a:cubicBezTo>
                  <a:cubicBezTo>
                    <a:pt x="239" y="3241"/>
                    <a:pt x="275" y="3205"/>
                    <a:pt x="310" y="3158"/>
                  </a:cubicBezTo>
                  <a:cubicBezTo>
                    <a:pt x="906" y="2265"/>
                    <a:pt x="1072" y="1169"/>
                    <a:pt x="775" y="121"/>
                  </a:cubicBezTo>
                  <a:cubicBezTo>
                    <a:pt x="743" y="47"/>
                    <a:pt x="672" y="1"/>
                    <a:pt x="5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115;p58">
              <a:extLst>
                <a:ext uri="{FF2B5EF4-FFF2-40B4-BE49-F238E27FC236}">
                  <a16:creationId xmlns:a16="http://schemas.microsoft.com/office/drawing/2014/main" id="{E574D37D-3FA0-F6CF-0ECA-DB29EB6635BC}"/>
                </a:ext>
              </a:extLst>
            </p:cNvPr>
            <p:cNvSpPr/>
            <p:nvPr/>
          </p:nvSpPr>
          <p:spPr>
            <a:xfrm>
              <a:off x="7536000" y="3708082"/>
              <a:ext cx="173192" cy="72052"/>
            </a:xfrm>
            <a:custGeom>
              <a:avLst/>
              <a:gdLst/>
              <a:ahLst/>
              <a:cxnLst/>
              <a:rect l="l" t="t" r="r" b="b"/>
              <a:pathLst>
                <a:path w="5454" h="2269" extrusionOk="0">
                  <a:moveTo>
                    <a:pt x="2121" y="0"/>
                  </a:moveTo>
                  <a:cubicBezTo>
                    <a:pt x="1410" y="0"/>
                    <a:pt x="707" y="204"/>
                    <a:pt x="108" y="590"/>
                  </a:cubicBezTo>
                  <a:cubicBezTo>
                    <a:pt x="36" y="638"/>
                    <a:pt x="0" y="733"/>
                    <a:pt x="60" y="828"/>
                  </a:cubicBezTo>
                  <a:cubicBezTo>
                    <a:pt x="91" y="874"/>
                    <a:pt x="147" y="906"/>
                    <a:pt x="205" y="906"/>
                  </a:cubicBezTo>
                  <a:cubicBezTo>
                    <a:pt x="237" y="906"/>
                    <a:pt x="269" y="897"/>
                    <a:pt x="298" y="876"/>
                  </a:cubicBezTo>
                  <a:cubicBezTo>
                    <a:pt x="841" y="534"/>
                    <a:pt x="1478" y="344"/>
                    <a:pt x="2123" y="344"/>
                  </a:cubicBezTo>
                  <a:cubicBezTo>
                    <a:pt x="2241" y="344"/>
                    <a:pt x="2359" y="351"/>
                    <a:pt x="2477" y="364"/>
                  </a:cubicBezTo>
                  <a:cubicBezTo>
                    <a:pt x="3251" y="435"/>
                    <a:pt x="3977" y="792"/>
                    <a:pt x="4513" y="1328"/>
                  </a:cubicBezTo>
                  <a:cubicBezTo>
                    <a:pt x="4763" y="1590"/>
                    <a:pt x="4977" y="1864"/>
                    <a:pt x="5120" y="2185"/>
                  </a:cubicBezTo>
                  <a:cubicBezTo>
                    <a:pt x="5156" y="2245"/>
                    <a:pt x="5215" y="2269"/>
                    <a:pt x="5275" y="2269"/>
                  </a:cubicBezTo>
                  <a:cubicBezTo>
                    <a:pt x="5299" y="2269"/>
                    <a:pt x="5323" y="2269"/>
                    <a:pt x="5346" y="2257"/>
                  </a:cubicBezTo>
                  <a:cubicBezTo>
                    <a:pt x="5418" y="2197"/>
                    <a:pt x="5453" y="2102"/>
                    <a:pt x="5406" y="2019"/>
                  </a:cubicBezTo>
                  <a:cubicBezTo>
                    <a:pt x="5227" y="1673"/>
                    <a:pt x="5001" y="1364"/>
                    <a:pt x="4739" y="1102"/>
                  </a:cubicBezTo>
                  <a:cubicBezTo>
                    <a:pt x="4144" y="507"/>
                    <a:pt x="3334" y="114"/>
                    <a:pt x="2489" y="18"/>
                  </a:cubicBezTo>
                  <a:cubicBezTo>
                    <a:pt x="2366" y="6"/>
                    <a:pt x="2243" y="0"/>
                    <a:pt x="212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116;p58">
              <a:extLst>
                <a:ext uri="{FF2B5EF4-FFF2-40B4-BE49-F238E27FC236}">
                  <a16:creationId xmlns:a16="http://schemas.microsoft.com/office/drawing/2014/main" id="{80EC53BD-3688-5E0E-FE07-63A241BFF8E0}"/>
                </a:ext>
              </a:extLst>
            </p:cNvPr>
            <p:cNvSpPr/>
            <p:nvPr/>
          </p:nvSpPr>
          <p:spPr>
            <a:xfrm>
              <a:off x="7501228" y="3819415"/>
              <a:ext cx="75640" cy="141437"/>
            </a:xfrm>
            <a:custGeom>
              <a:avLst/>
              <a:gdLst/>
              <a:ahLst/>
              <a:cxnLst/>
              <a:rect l="l" t="t" r="r" b="b"/>
              <a:pathLst>
                <a:path w="2382" h="4454" extrusionOk="0">
                  <a:moveTo>
                    <a:pt x="1012" y="692"/>
                  </a:moveTo>
                  <a:lnTo>
                    <a:pt x="1012" y="2061"/>
                  </a:lnTo>
                  <a:cubicBezTo>
                    <a:pt x="607" y="2001"/>
                    <a:pt x="310" y="1715"/>
                    <a:pt x="310" y="1370"/>
                  </a:cubicBezTo>
                  <a:cubicBezTo>
                    <a:pt x="310" y="1025"/>
                    <a:pt x="607" y="763"/>
                    <a:pt x="1012" y="692"/>
                  </a:cubicBezTo>
                  <a:close/>
                  <a:moveTo>
                    <a:pt x="1357" y="2418"/>
                  </a:moveTo>
                  <a:cubicBezTo>
                    <a:pt x="1750" y="2477"/>
                    <a:pt x="2048" y="2751"/>
                    <a:pt x="2048" y="3097"/>
                  </a:cubicBezTo>
                  <a:cubicBezTo>
                    <a:pt x="2048" y="3430"/>
                    <a:pt x="1738" y="3704"/>
                    <a:pt x="1357" y="3763"/>
                  </a:cubicBezTo>
                  <a:lnTo>
                    <a:pt x="1357" y="2418"/>
                  </a:lnTo>
                  <a:close/>
                  <a:moveTo>
                    <a:pt x="1191" y="1"/>
                  </a:moveTo>
                  <a:cubicBezTo>
                    <a:pt x="1095" y="1"/>
                    <a:pt x="1024" y="72"/>
                    <a:pt x="1024" y="168"/>
                  </a:cubicBezTo>
                  <a:lnTo>
                    <a:pt x="1024" y="358"/>
                  </a:lnTo>
                  <a:cubicBezTo>
                    <a:pt x="441" y="430"/>
                    <a:pt x="0" y="870"/>
                    <a:pt x="0" y="1370"/>
                  </a:cubicBezTo>
                  <a:cubicBezTo>
                    <a:pt x="0" y="1882"/>
                    <a:pt x="441" y="2323"/>
                    <a:pt x="1024" y="2382"/>
                  </a:cubicBezTo>
                  <a:lnTo>
                    <a:pt x="1024" y="3763"/>
                  </a:lnTo>
                  <a:cubicBezTo>
                    <a:pt x="619" y="3704"/>
                    <a:pt x="322" y="3430"/>
                    <a:pt x="322" y="3085"/>
                  </a:cubicBezTo>
                  <a:cubicBezTo>
                    <a:pt x="322" y="2989"/>
                    <a:pt x="250" y="2918"/>
                    <a:pt x="167" y="2918"/>
                  </a:cubicBezTo>
                  <a:cubicBezTo>
                    <a:pt x="71" y="2918"/>
                    <a:pt x="0" y="2989"/>
                    <a:pt x="0" y="3085"/>
                  </a:cubicBezTo>
                  <a:cubicBezTo>
                    <a:pt x="0" y="3609"/>
                    <a:pt x="441" y="4037"/>
                    <a:pt x="1024" y="4097"/>
                  </a:cubicBezTo>
                  <a:lnTo>
                    <a:pt x="1024" y="4287"/>
                  </a:lnTo>
                  <a:cubicBezTo>
                    <a:pt x="1024" y="4371"/>
                    <a:pt x="1095" y="4454"/>
                    <a:pt x="1191" y="4454"/>
                  </a:cubicBezTo>
                  <a:cubicBezTo>
                    <a:pt x="1274" y="4454"/>
                    <a:pt x="1357" y="4371"/>
                    <a:pt x="1357" y="4287"/>
                  </a:cubicBezTo>
                  <a:lnTo>
                    <a:pt x="1357" y="4097"/>
                  </a:lnTo>
                  <a:cubicBezTo>
                    <a:pt x="1929" y="4025"/>
                    <a:pt x="2381" y="3585"/>
                    <a:pt x="2381" y="3085"/>
                  </a:cubicBezTo>
                  <a:cubicBezTo>
                    <a:pt x="2381" y="2573"/>
                    <a:pt x="1929" y="2144"/>
                    <a:pt x="1357" y="2073"/>
                  </a:cubicBezTo>
                  <a:lnTo>
                    <a:pt x="1357" y="692"/>
                  </a:lnTo>
                  <a:cubicBezTo>
                    <a:pt x="1750" y="751"/>
                    <a:pt x="2048" y="1025"/>
                    <a:pt x="2048" y="1370"/>
                  </a:cubicBezTo>
                  <a:cubicBezTo>
                    <a:pt x="2048" y="1465"/>
                    <a:pt x="2131" y="1537"/>
                    <a:pt x="2215" y="1537"/>
                  </a:cubicBezTo>
                  <a:cubicBezTo>
                    <a:pt x="2298" y="1537"/>
                    <a:pt x="2381" y="1465"/>
                    <a:pt x="2381" y="1370"/>
                  </a:cubicBezTo>
                  <a:cubicBezTo>
                    <a:pt x="2381" y="846"/>
                    <a:pt x="1929" y="418"/>
                    <a:pt x="1345" y="358"/>
                  </a:cubicBezTo>
                  <a:lnTo>
                    <a:pt x="1345" y="168"/>
                  </a:lnTo>
                  <a:cubicBezTo>
                    <a:pt x="1345" y="72"/>
                    <a:pt x="1274" y="1"/>
                    <a:pt x="11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2380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8" grpId="0" animBg="1"/>
      <p:bldP spid="8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A603-9659-C26F-E5FF-055806EC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58500"/>
            <a:ext cx="7704000" cy="572700"/>
          </a:xfrm>
        </p:spPr>
        <p:txBody>
          <a:bodyPr/>
          <a:lstStyle/>
          <a:p>
            <a:pPr algn="ctr"/>
            <a:r>
              <a:rPr lang="ro-MD" dirty="0"/>
              <a:t>Solution to Decrease Transfer Rate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D4EE82-3FD0-8B91-33B0-E8B84E300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37" y="812799"/>
            <a:ext cx="5571565" cy="4229847"/>
          </a:xfrm>
          <a:prstGeom prst="rect">
            <a:avLst/>
          </a:prstGeom>
        </p:spPr>
      </p:pic>
      <p:sp>
        <p:nvSpPr>
          <p:cNvPr id="23" name="Google Shape;1177;p40">
            <a:extLst>
              <a:ext uri="{FF2B5EF4-FFF2-40B4-BE49-F238E27FC236}">
                <a16:creationId xmlns:a16="http://schemas.microsoft.com/office/drawing/2014/main" id="{59AC3F02-4C64-C16E-C48B-4DC971C5D414}"/>
              </a:ext>
            </a:extLst>
          </p:cNvPr>
          <p:cNvSpPr txBox="1"/>
          <p:nvPr/>
        </p:nvSpPr>
        <p:spPr>
          <a:xfrm>
            <a:off x="489485" y="3624248"/>
            <a:ext cx="1315359" cy="992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500*50*C</a:t>
            </a:r>
            <a:endParaRPr sz="2000" dirty="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4" name="Google Shape;1185;p40">
            <a:extLst>
              <a:ext uri="{FF2B5EF4-FFF2-40B4-BE49-F238E27FC236}">
                <a16:creationId xmlns:a16="http://schemas.microsoft.com/office/drawing/2014/main" id="{46B17C8E-35E6-6801-1122-A8EF252C7398}"/>
              </a:ext>
            </a:extLst>
          </p:cNvPr>
          <p:cNvSpPr txBox="1"/>
          <p:nvPr/>
        </p:nvSpPr>
        <p:spPr>
          <a:xfrm>
            <a:off x="1573645" y="1147794"/>
            <a:ext cx="1715390" cy="28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Weekly Decrese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5" name="Google Shape;1187;p40">
            <a:extLst>
              <a:ext uri="{FF2B5EF4-FFF2-40B4-BE49-F238E27FC236}">
                <a16:creationId xmlns:a16="http://schemas.microsoft.com/office/drawing/2014/main" id="{1C240AB9-F399-F558-BC35-5C711A9F74D4}"/>
              </a:ext>
            </a:extLst>
          </p:cNvPr>
          <p:cNvSpPr txBox="1"/>
          <p:nvPr/>
        </p:nvSpPr>
        <p:spPr>
          <a:xfrm>
            <a:off x="636276" y="2182509"/>
            <a:ext cx="1016471" cy="7673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500*50</a:t>
            </a:r>
            <a:endParaRPr sz="2000" dirty="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6" name="Google Shape;1188;p40">
            <a:extLst>
              <a:ext uri="{FF2B5EF4-FFF2-40B4-BE49-F238E27FC236}">
                <a16:creationId xmlns:a16="http://schemas.microsoft.com/office/drawing/2014/main" id="{C14F8EE8-B0F0-ABBC-A23A-9BC8DAEBC22A}"/>
              </a:ext>
            </a:extLst>
          </p:cNvPr>
          <p:cNvSpPr txBox="1"/>
          <p:nvPr/>
        </p:nvSpPr>
        <p:spPr>
          <a:xfrm>
            <a:off x="790512" y="922350"/>
            <a:ext cx="707999" cy="5345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500</a:t>
            </a:r>
            <a:endParaRPr sz="2000" dirty="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cxnSp>
        <p:nvCxnSpPr>
          <p:cNvPr id="28" name="Google Shape;1192;p40">
            <a:extLst>
              <a:ext uri="{FF2B5EF4-FFF2-40B4-BE49-F238E27FC236}">
                <a16:creationId xmlns:a16="http://schemas.microsoft.com/office/drawing/2014/main" id="{A6B2BCA7-E5BE-AA50-0FC2-520980553965}"/>
              </a:ext>
            </a:extLst>
          </p:cNvPr>
          <p:cNvCxnSpPr>
            <a:cxnSpLocks/>
            <a:stCxn id="23" idx="0"/>
            <a:endCxn id="25" idx="2"/>
          </p:cNvCxnSpPr>
          <p:nvPr/>
        </p:nvCxnSpPr>
        <p:spPr>
          <a:xfrm flipH="1" flipV="1">
            <a:off x="1144512" y="2949845"/>
            <a:ext cx="2653" cy="674403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9" name="Google Shape;1193;p40">
            <a:extLst>
              <a:ext uri="{FF2B5EF4-FFF2-40B4-BE49-F238E27FC236}">
                <a16:creationId xmlns:a16="http://schemas.microsoft.com/office/drawing/2014/main" id="{5799F8ED-5A66-356C-8D18-BEBD9D76C1A2}"/>
              </a:ext>
            </a:extLst>
          </p:cNvPr>
          <p:cNvCxnSpPr>
            <a:cxnSpLocks/>
            <a:stCxn id="25" idx="0"/>
            <a:endCxn id="26" idx="2"/>
          </p:cNvCxnSpPr>
          <p:nvPr/>
        </p:nvCxnSpPr>
        <p:spPr>
          <a:xfrm flipV="1">
            <a:off x="1144512" y="1456861"/>
            <a:ext cx="0" cy="725648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Google Shape;1185;p40">
            <a:extLst>
              <a:ext uri="{FF2B5EF4-FFF2-40B4-BE49-F238E27FC236}">
                <a16:creationId xmlns:a16="http://schemas.microsoft.com/office/drawing/2014/main" id="{6ACDE51B-9E5F-9AB4-C29F-F4648334E0EC}"/>
              </a:ext>
            </a:extLst>
          </p:cNvPr>
          <p:cNvSpPr txBox="1"/>
          <p:nvPr/>
        </p:nvSpPr>
        <p:spPr>
          <a:xfrm>
            <a:off x="1652747" y="2514508"/>
            <a:ext cx="1715390" cy="28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Yearly Decrese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32" name="Google Shape;1185;p40">
            <a:extLst>
              <a:ext uri="{FF2B5EF4-FFF2-40B4-BE49-F238E27FC236}">
                <a16:creationId xmlns:a16="http://schemas.microsoft.com/office/drawing/2014/main" id="{02BE5977-4908-2F73-B98D-DEDC4F12E58F}"/>
              </a:ext>
            </a:extLst>
          </p:cNvPr>
          <p:cNvSpPr txBox="1"/>
          <p:nvPr/>
        </p:nvSpPr>
        <p:spPr>
          <a:xfrm>
            <a:off x="1693812" y="4270922"/>
            <a:ext cx="1715390" cy="28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Yearly Costs Decrease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  <p:extLst>
      <p:ext uri="{BB962C8B-B14F-4D97-AF65-F5344CB8AC3E}">
        <p14:creationId xmlns:p14="http://schemas.microsoft.com/office/powerpoint/2010/main" val="2945841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5"/>
          <p:cNvGrpSpPr/>
          <p:nvPr/>
        </p:nvGrpSpPr>
        <p:grpSpPr>
          <a:xfrm rot="10800000">
            <a:off x="7327000" y="3631205"/>
            <a:ext cx="199001" cy="867198"/>
            <a:chOff x="4475150" y="4052605"/>
            <a:chExt cx="199001" cy="867198"/>
          </a:xfrm>
        </p:grpSpPr>
        <p:sp>
          <p:nvSpPr>
            <p:cNvPr id="193" name="Google Shape;193;p15"/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" name="Google Shape;196;p15"/>
          <p:cNvGrpSpPr/>
          <p:nvPr/>
        </p:nvGrpSpPr>
        <p:grpSpPr>
          <a:xfrm rot="10800000">
            <a:off x="3728737" y="3758282"/>
            <a:ext cx="154365" cy="672686"/>
            <a:chOff x="4475150" y="4052605"/>
            <a:chExt cx="199001" cy="867198"/>
          </a:xfrm>
        </p:grpSpPr>
        <p:sp>
          <p:nvSpPr>
            <p:cNvPr id="197" name="Google Shape;197;p15"/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" name="Google Shape;200;p15"/>
          <p:cNvSpPr/>
          <p:nvPr/>
        </p:nvSpPr>
        <p:spPr>
          <a:xfrm>
            <a:off x="2756906" y="400408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5946006" y="425103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1049456" y="425103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355;p47">
            <a:extLst>
              <a:ext uri="{FF2B5EF4-FFF2-40B4-BE49-F238E27FC236}">
                <a16:creationId xmlns:a16="http://schemas.microsoft.com/office/drawing/2014/main" id="{873F7DE2-0F6A-F721-5451-01D7252C0069}"/>
              </a:ext>
            </a:extLst>
          </p:cNvPr>
          <p:cNvSpPr txBox="1">
            <a:spLocks/>
          </p:cNvSpPr>
          <p:nvPr/>
        </p:nvSpPr>
        <p:spPr>
          <a:xfrm>
            <a:off x="1756289" y="1865312"/>
            <a:ext cx="5204501" cy="11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hare Tech"/>
              <a:buNone/>
              <a:defRPr sz="7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" name="Google Shape;1356;p47">
            <a:extLst>
              <a:ext uri="{FF2B5EF4-FFF2-40B4-BE49-F238E27FC236}">
                <a16:creationId xmlns:a16="http://schemas.microsoft.com/office/drawing/2014/main" id="{05273BF4-A369-4D47-A46B-706DFC8684DA}"/>
              </a:ext>
            </a:extLst>
          </p:cNvPr>
          <p:cNvSpPr txBox="1">
            <a:spLocks/>
          </p:cNvSpPr>
          <p:nvPr/>
        </p:nvSpPr>
        <p:spPr>
          <a:xfrm>
            <a:off x="2878340" y="378578"/>
            <a:ext cx="2960400" cy="13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ctr">
              <a:buFont typeface="Anaheim"/>
              <a:buNone/>
            </a:pPr>
            <a:r>
              <a:rPr lang="en-US" dirty="0">
                <a:solidFill>
                  <a:schemeClr val="accent2"/>
                </a:solidFill>
              </a:rPr>
              <a:t>Do you have any questions?</a:t>
            </a:r>
          </a:p>
          <a:p>
            <a:pPr marL="0" indent="0" algn="ctr">
              <a:buFont typeface="Anaheim"/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Science Consulting Infographics by Slidesgo">
  <a:themeElements>
    <a:clrScheme name="Simple Light">
      <a:dk1>
        <a:srgbClr val="FFFFFF"/>
      </a:dk1>
      <a:lt1>
        <a:srgbClr val="002845"/>
      </a:lt1>
      <a:dk2>
        <a:srgbClr val="1A5E8F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859</Words>
  <Application>Microsoft Office PowerPoint</Application>
  <PresentationFormat>On-screen Show (16:9)</PresentationFormat>
  <Paragraphs>141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Trebuchet MS</vt:lpstr>
      <vt:lpstr>Wingdings</vt:lpstr>
      <vt:lpstr>arial</vt:lpstr>
      <vt:lpstr>Share Tech</vt:lpstr>
      <vt:lpstr>Roboto Condensed Light</vt:lpstr>
      <vt:lpstr>Nunito Light</vt:lpstr>
      <vt:lpstr>Anaheim</vt:lpstr>
      <vt:lpstr>Maven Pro</vt:lpstr>
      <vt:lpstr>Google Sans</vt:lpstr>
      <vt:lpstr>Bebas Neue</vt:lpstr>
      <vt:lpstr>arial</vt:lpstr>
      <vt:lpstr>Data Science Consulting Infographics by Slidesgo</vt:lpstr>
      <vt:lpstr>DATA SCIENCE POWERED CONTACT CENTER: Insight for Decision Making</vt:lpstr>
      <vt:lpstr>Customer experience is critical for growth</vt:lpstr>
      <vt:lpstr>Small and Medium Sized Enterprises (SME)   DIGITALISATION</vt:lpstr>
      <vt:lpstr>PREREQUSITES FOR ADOPTION </vt:lpstr>
      <vt:lpstr>USING DATA SCIECNE TO SOLVE CONTACT CENTER CHALLENGES</vt:lpstr>
      <vt:lpstr>Decomposition of Time Series</vt:lpstr>
      <vt:lpstr>Test and Train Split</vt:lpstr>
      <vt:lpstr>Forecasting with Default Settings</vt:lpstr>
      <vt:lpstr>Forecast with Default Settings</vt:lpstr>
      <vt:lpstr>Forecast Horizon Vs Forecast Accuracy</vt:lpstr>
      <vt:lpstr>Importance of EDA in Modelling</vt:lpstr>
      <vt:lpstr>Accuracy Improvement after Preprocessing</vt:lpstr>
      <vt:lpstr>DATA PROCESSING PIPELINE </vt:lpstr>
      <vt:lpstr>VISUALISATION OF IVR JOURNEY </vt:lpstr>
      <vt:lpstr>Tools for Visualisation</vt:lpstr>
      <vt:lpstr>Transfer Rate Per IVR Journey </vt:lpstr>
      <vt:lpstr>From Transfer Rate To Transfer Volume </vt:lpstr>
      <vt:lpstr>Solution to Decrease Transfer Rate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POWERED CONTACT CENTER: Insight for Decision Making</dc:title>
  <dc:creator>LENOVO</dc:creator>
  <cp:lastModifiedBy>Cecetov, Alexandr</cp:lastModifiedBy>
  <cp:revision>140</cp:revision>
  <dcterms:modified xsi:type="dcterms:W3CDTF">2023-10-31T08:54:11Z</dcterms:modified>
</cp:coreProperties>
</file>